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Data centers' share of US electricity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B3C6F"/>
              </a:solidFill>
            </c:spPr>
          </c:dPt>
          <c:dPt>
            <c:idx val="1"/>
            <c:spPr>
              <a:solidFill>
                <a:srgbClr val="4F82BD"/>
              </a:solidFill>
            </c:spPr>
          </c:dPt>
          <c:dPt>
            <c:idx val="2"/>
            <c:spPr>
              <a:solidFill>
                <a:srgbClr val="4F82BD"/>
              </a:solidFill>
            </c:spPr>
          </c:dPt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2028, low</c:v>
                </c:pt>
                <c:pt idx="2">
                  <c:v>2028, high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4.4</c:v>
                </c:pt>
                <c:pt idx="1">
                  <c:v>6.7</c:v>
                </c:pt>
                <c:pt idx="2">
                  <c:v>12.0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22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8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On-site water, million gallons a year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8E8F8A"/>
              </a:solidFill>
            </c:spPr>
          </c:dPt>
          <c:dPt>
            <c:idx val="1"/>
            <c:spPr>
              <a:solidFill>
                <a:srgbClr val="4F82BD"/>
              </a:solidFill>
            </c:spPr>
          </c:dPt>
          <c:dPt>
            <c:idx val="2"/>
            <c:spPr>
              <a:solidFill>
                <a:srgbClr val="0B3C6F"/>
              </a:solidFill>
            </c:spPr>
          </c:dPt>
          <c:cat>
            <c:strRef>
              <c:f>Sheet1!$A$2:$A$4</c:f>
              <c:strCache>
                <c:ptCount val="3"/>
                <c:pt idx="0">
                  <c:v>Loudoun VA, evaporative</c:v>
                </c:pt>
                <c:pt idx="1">
                  <c:v>Grant, evaporative</c:v>
                </c:pt>
                <c:pt idx="2">
                  <c:v>Grant, dry (+2% energy)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322.8</c:v>
                </c:pt>
                <c:pt idx="1">
                  <c:v>210.2</c:v>
                </c:pt>
                <c:pt idx="2">
                  <c:v>27.8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5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CO2, thousand metric tons a year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8E8F8A"/>
              </a:solidFill>
            </c:spPr>
          </c:dPt>
          <c:dPt>
            <c:idx val="1"/>
            <c:spPr>
              <a:solidFill>
                <a:srgbClr val="4F82BD"/>
              </a:solidFill>
            </c:spPr>
          </c:dPt>
          <c:dPt>
            <c:idx val="2"/>
            <c:spPr>
              <a:solidFill>
                <a:srgbClr val="0B3C6F"/>
              </a:solidFill>
            </c:spPr>
          </c:dPt>
          <c:cat>
            <c:strRef>
              <c:f>Sheet1!$A$2:$A$4</c:f>
              <c:strCache>
                <c:ptCount val="3"/>
                <c:pt idx="0">
                  <c:v>Loudoun VA</c:v>
                </c:pt>
                <c:pt idx="1">
                  <c:v>Grant, Northwest average</c:v>
                </c:pt>
                <c:pt idx="2">
                  <c:v>Grant, BPA's mix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675.455</c:v>
                </c:pt>
                <c:pt idx="1">
                  <c:v>700.39</c:v>
                </c:pt>
                <c:pt idx="2">
                  <c:v>235.547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5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Berkshire, MA</c:v>
                </c:pt>
              </c:strCache>
            </c:strRef>
          </c:tx>
          <c:spPr>
            <a:ln w="50800">
              <a:solidFill>
                <a:srgbClr val="D9532B"/>
              </a:solidFill>
            </a:ln>
          </c:spPr>
          <c:marker>
            <c:symbol val="circle"/>
            <c:size val="13"/>
            <c:spPr>
              <a:solidFill>
                <a:srgbClr val="D9532B"/>
              </a:solidFill>
              <a:ln>
                <a:solidFill>
                  <a:srgbClr val="D9532B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D9532B"/>
                        </a:solidFill>
                        <a:latin typeface="Arial"/>
                      </a:rPr>
                      <a:t>Berkshire #1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D9532B"/>
                        </a:solidFill>
                        <a:latin typeface="Arial"/>
                      </a:rPr>
                      <a:t>#5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D9532B"/>
                        </a:solidFill>
                        <a:latin typeface="Arial"/>
                      </a:rPr>
                      <a:t>#1,047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Seven pillars</c:v>
                </c:pt>
                <c:pt idx="1">
                  <c:v>MA exemption closed</c:v>
                </c:pt>
                <c:pt idx="2">
                  <c:v>Cost as a pillar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5</c:v>
                </c:pt>
                <c:pt idx="2">
                  <c:v>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Grant, WA</c:v>
                </c:pt>
              </c:strCache>
            </c:strRef>
          </c:tx>
          <c:spPr>
            <a:ln w="50800">
              <a:solidFill>
                <a:srgbClr val="0B3C6F"/>
              </a:solidFill>
            </a:ln>
          </c:spPr>
          <c:marker>
            <c:symbol val="circle"/>
            <c:size val="13"/>
            <c:spPr>
              <a:solidFill>
                <a:srgbClr val="0B3C6F"/>
              </a:solidFill>
              <a:ln>
                <a:solidFill>
                  <a:srgbClr val="0B3C6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0B3C6F"/>
                        </a:solidFill>
                        <a:latin typeface="Arial"/>
                      </a:rPr>
                      <a:t>Grant #7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0B3C6F"/>
                        </a:solidFill>
                        <a:latin typeface="Arial"/>
                      </a:rPr>
                      <a:t>#9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700" b="1" i="0">
                        <a:solidFill>
                          <a:srgbClr val="0B3C6F"/>
                        </a:solidFill>
                        <a:latin typeface="Arial"/>
                      </a:rPr>
                      <a:t>Grant #1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Seven pillars</c:v>
                </c:pt>
                <c:pt idx="1">
                  <c:v>MA exemption closed</c:v>
                </c:pt>
                <c:pt idx="2">
                  <c:v>Cost as a pillar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</c:v>
                </c:pt>
                <c:pt idx="1">
                  <c:v>9</c:v>
                </c:pt>
                <c:pt idx="2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500">
                <a:solidFill>
                  <a:srgbClr val="111518"/>
                </a:solidFill>
              </a:defRPr>
            </a:pPr>
          </a:p>
        </c:txPr>
        <c:crossAx val="2140495176"/>
        <c:crosses val="max"/>
        <c:auto val="1"/>
        <c:lblAlgn val="ctr"/>
        <c:lblOffset val="100"/>
        <c:noMultiLvlLbl val="0"/>
      </c:catAx>
      <c:valAx>
        <c:axId val="2140495176"/>
        <c:scaling>
          <c:orientation val="maxMin"/>
          <c:max val="26.0"/>
          <c:min val="-2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6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Top 10 in this share of random weightings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B3C6F"/>
              </a:solidFill>
            </c:spPr>
          </c:dPt>
          <c:dPt>
            <c:idx val="1"/>
            <c:spPr>
              <a:solidFill>
                <a:srgbClr val="4F82BD"/>
              </a:solidFill>
            </c:spPr>
          </c:dPt>
          <c:dPt>
            <c:idx val="2"/>
            <c:spPr>
              <a:solidFill>
                <a:srgbClr val="4F82BD"/>
              </a:solidFill>
            </c:spPr>
          </c:dPt>
          <c:dPt>
            <c:idx val="3"/>
            <c:spPr>
              <a:solidFill>
                <a:srgbClr val="4F82BD"/>
              </a:solidFill>
            </c:spPr>
          </c:dPt>
          <c:dPt>
            <c:idx val="4"/>
            <c:spPr>
              <a:solidFill>
                <a:srgbClr val="4F82BD"/>
              </a:solidFill>
            </c:spPr>
          </c:dPt>
          <c:dPt>
            <c:idx val="5"/>
            <c:spPr>
              <a:solidFill>
                <a:srgbClr val="4F82BD"/>
              </a:solidFill>
            </c:spPr>
          </c:dPt>
          <c:cat>
            <c:strRef>
              <c:f>Sheet1!$A$2:$A$7</c:f>
              <c:strCache>
                <c:ptCount val="6"/>
                <c:pt idx="0">
                  <c:v>Grant, WA</c:v>
                </c:pt>
                <c:pt idx="1">
                  <c:v>Whitman, WA</c:v>
                </c:pt>
                <c:pt idx="2">
                  <c:v>Wayne, TN</c:v>
                </c:pt>
                <c:pt idx="3">
                  <c:v>Luzerne, PA</c:v>
                </c:pt>
                <c:pt idx="4">
                  <c:v>Clark, WA</c:v>
                </c:pt>
                <c:pt idx="5">
                  <c:v>Trumbull, OH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50.54</c:v>
                </c:pt>
                <c:pt idx="1">
                  <c:v>45.839999999999996</c:v>
                </c:pt>
                <c:pt idx="2">
                  <c:v>42.42</c:v>
                </c:pt>
                <c:pt idx="3">
                  <c:v>36.36</c:v>
                </c:pt>
                <c:pt idx="4">
                  <c:v>30.620000000000005</c:v>
                </c:pt>
                <c:pt idx="5">
                  <c:v>27.439999999999998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6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Grant PUD, average megawatts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4F82BD"/>
              </a:solidFill>
            </c:spPr>
          </c:dPt>
          <c:dPt>
            <c:idx val="1"/>
            <c:spPr>
              <a:solidFill>
                <a:srgbClr val="8E8F8A"/>
              </a:solidFill>
            </c:spPr>
          </c:dPt>
          <c:dPt>
            <c:idx val="2"/>
            <c:spPr>
              <a:solidFill>
                <a:srgbClr val="D9532B"/>
              </a:solidFill>
            </c:spPr>
          </c:dPt>
          <c:cat>
            <c:strRef>
              <c:f>Sheet1!$A$2:$A$4</c:f>
              <c:strCache>
                <c:ptCount val="3"/>
                <c:pt idx="0">
                  <c:v>Utility's share of its dams</c:v>
                </c:pt>
                <c:pt idx="1">
                  <c:v>Utility load, 2025</c:v>
                </c:pt>
                <c:pt idx="2">
                  <c:v>Load plus our campus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633</c:v>
                </c:pt>
                <c:pt idx="1">
                  <c:v>757</c:v>
                </c:pt>
                <c:pt idx="2">
                  <c:v>1036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7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5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Counties that pass the gates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B3C6F"/>
              </a:solidFill>
            </c:spPr>
          </c:dPt>
          <c:dPt>
            <c:idx val="1"/>
            <c:spPr>
              <a:solidFill>
                <a:srgbClr val="4F82BD"/>
              </a:solidFill>
            </c:spPr>
          </c:dPt>
          <c:cat>
            <c:strRef>
              <c:f>Sheet1!$A$2:$A$3</c:f>
              <c:strCache>
                <c:ptCount val="2"/>
                <c:pt idx="0">
                  <c:v>Dry cooling</c:v>
                </c:pt>
                <c:pt idx="1">
                  <c:v>Evaporative cooling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1565</c:v>
                </c:pt>
                <c:pt idx="1">
                  <c:v>826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7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7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Energy and carbon pillar score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4F82BD"/>
              </a:solidFill>
            </c:spPr>
          </c:dPt>
          <c:dPt>
            <c:idx val="1"/>
            <c:spPr>
              <a:solidFill>
                <a:srgbClr val="0B3C6F"/>
              </a:solidFill>
            </c:spPr>
          </c:dPt>
          <c:cat>
            <c:strRef>
              <c:f>Sheet1!$A$2:$A$3</c:f>
              <c:strCache>
                <c:ptCount val="2"/>
                <c:pt idx="0">
                  <c:v>Franklin, NY</c:v>
                </c:pt>
                <c:pt idx="1">
                  <c:v>Grant, WA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80.4</c:v>
                </c:pt>
                <c:pt idx="1">
                  <c:v>70.4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7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7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CO2, thousand metric tons a year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4F82BD"/>
              </a:solidFill>
            </c:spPr>
          </c:dPt>
          <c:dPt>
            <c:idx val="1"/>
            <c:spPr>
              <a:solidFill>
                <a:srgbClr val="0B3C6F"/>
              </a:solidFill>
            </c:spPr>
          </c:dPt>
          <c:cat>
            <c:strRef>
              <c:f>Sheet1!$A$2:$A$3</c:f>
              <c:strCache>
                <c:ptCount val="2"/>
                <c:pt idx="0">
                  <c:v>Franklin, NY</c:v>
                </c:pt>
                <c:pt idx="1">
                  <c:v>Grant, WA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262.168</c:v>
                </c:pt>
                <c:pt idx="1">
                  <c:v>700.39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7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7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</c:v>
                </c:pt>
              </c:strCache>
            </c:strRef>
          </c:tx>
          <c:spPr>
            <a:solidFill>
              <a:srgbClr val="46505A"/>
            </a:solidFill>
          </c:spPr>
          <c:cat>
            <c:strRef>
              <c:f>Sheet1!$A$2:$A$9</c:f>
              <c:strCache>
                <c:ptCount val="8"/>
                <c:pt idx="0">
                  <c:v>Energy &amp; carbon</c:v>
                </c:pt>
                <c:pt idx="1">
                  <c:v>Water</c:v>
                </c:pt>
                <c:pt idx="2">
                  <c:v>Climate</c:v>
                </c:pt>
                <c:pt idx="3">
                  <c:v>Grid</c:v>
                </c:pt>
                <c:pt idx="4">
                  <c:v>Land</c:v>
                </c:pt>
                <c:pt idx="5">
                  <c:v>Community</c:v>
                </c:pt>
                <c:pt idx="6">
                  <c:v>Permitting</c:v>
                </c:pt>
                <c:pt idx="7">
                  <c:v>Cost of power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15.299999999999999</c:v>
                </c:pt>
                <c:pt idx="1">
                  <c:v>11.899999999999999</c:v>
                </c:pt>
                <c:pt idx="2">
                  <c:v>11.899999999999999</c:v>
                </c:pt>
                <c:pt idx="3">
                  <c:v>15.299999999999999</c:v>
                </c:pt>
                <c:pt idx="4">
                  <c:v>6.800000000000001</c:v>
                </c:pt>
                <c:pt idx="5">
                  <c:v>8.5</c:v>
                </c:pt>
                <c:pt idx="6">
                  <c:v>15.299999999999999</c:v>
                </c:pt>
                <c:pt idx="7">
                  <c:v>15.0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Monetized $190/t</c:v>
                </c:pt>
              </c:strCache>
            </c:strRef>
          </c:tx>
          <c:spPr>
            <a:solidFill>
              <a:srgbClr val="0B3C6F"/>
            </a:solidFill>
          </c:spPr>
          <c:cat>
            <c:strRef>
              <c:f>Sheet1!$A$2:$A$9</c:f>
              <c:strCache>
                <c:ptCount val="8"/>
                <c:pt idx="0">
                  <c:v>Energy &amp; carbon</c:v>
                </c:pt>
                <c:pt idx="1">
                  <c:v>Water</c:v>
                </c:pt>
                <c:pt idx="2">
                  <c:v>Climate</c:v>
                </c:pt>
                <c:pt idx="3">
                  <c:v>Grid</c:v>
                </c:pt>
                <c:pt idx="4">
                  <c:v>Land</c:v>
                </c:pt>
                <c:pt idx="5">
                  <c:v>Community</c:v>
                </c:pt>
                <c:pt idx="6">
                  <c:v>Permitting</c:v>
                </c:pt>
                <c:pt idx="7">
                  <c:v>Cost of power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22.8</c:v>
                </c:pt>
                <c:pt idx="1">
                  <c:v>0</c:v>
                </c:pt>
                <c:pt idx="2">
                  <c:v>1.0</c:v>
                </c:pt>
                <c:pt idx="3">
                  <c:v>6.6000000000000005</c:v>
                </c:pt>
                <c:pt idx="4">
                  <c:v>0</c:v>
                </c:pt>
                <c:pt idx="5">
                  <c:v>0</c:v>
                </c:pt>
                <c:pt idx="6">
                  <c:v>15.5</c:v>
                </c:pt>
                <c:pt idx="7">
                  <c:v>54.1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CRITIC</c:v>
                </c:pt>
              </c:strCache>
            </c:strRef>
          </c:tx>
          <c:spPr>
            <a:solidFill>
              <a:srgbClr val="23804F"/>
            </a:solidFill>
          </c:spPr>
          <c:cat>
            <c:strRef>
              <c:f>Sheet1!$A$2:$A$9</c:f>
              <c:strCache>
                <c:ptCount val="8"/>
                <c:pt idx="0">
                  <c:v>Energy &amp; carbon</c:v>
                </c:pt>
                <c:pt idx="1">
                  <c:v>Water</c:v>
                </c:pt>
                <c:pt idx="2">
                  <c:v>Climate</c:v>
                </c:pt>
                <c:pt idx="3">
                  <c:v>Grid</c:v>
                </c:pt>
                <c:pt idx="4">
                  <c:v>Land</c:v>
                </c:pt>
                <c:pt idx="5">
                  <c:v>Community</c:v>
                </c:pt>
                <c:pt idx="6">
                  <c:v>Permitting</c:v>
                </c:pt>
                <c:pt idx="7">
                  <c:v>Cost of power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18.5</c:v>
                </c:pt>
                <c:pt idx="1">
                  <c:v>12.0</c:v>
                </c:pt>
                <c:pt idx="2">
                  <c:v>25.2</c:v>
                </c:pt>
                <c:pt idx="3">
                  <c:v>15.0</c:v>
                </c:pt>
                <c:pt idx="4">
                  <c:v>4.3999999999999995</c:v>
                </c:pt>
                <c:pt idx="5">
                  <c:v>13.600000000000001</c:v>
                </c:pt>
                <c:pt idx="6">
                  <c:v>9.6</c:v>
                </c:pt>
                <c:pt idx="7">
                  <c:v>1.7999999999999998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Entropy</c:v>
                </c:pt>
              </c:strCache>
            </c:strRef>
          </c:tx>
          <c:spPr>
            <a:solidFill>
              <a:srgbClr val="8E8F8A"/>
            </a:solidFill>
          </c:spPr>
          <c:cat>
            <c:strRef>
              <c:f>Sheet1!$A$2:$A$9</c:f>
              <c:strCache>
                <c:ptCount val="8"/>
                <c:pt idx="0">
                  <c:v>Energy &amp; carbon</c:v>
                </c:pt>
                <c:pt idx="1">
                  <c:v>Water</c:v>
                </c:pt>
                <c:pt idx="2">
                  <c:v>Climate</c:v>
                </c:pt>
                <c:pt idx="3">
                  <c:v>Grid</c:v>
                </c:pt>
                <c:pt idx="4">
                  <c:v>Land</c:v>
                </c:pt>
                <c:pt idx="5">
                  <c:v>Community</c:v>
                </c:pt>
                <c:pt idx="6">
                  <c:v>Permitting</c:v>
                </c:pt>
                <c:pt idx="7">
                  <c:v>Cost of power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24.9</c:v>
                </c:pt>
                <c:pt idx="1">
                  <c:v>3.8</c:v>
                </c:pt>
                <c:pt idx="2">
                  <c:v>9.4</c:v>
                </c:pt>
                <c:pt idx="3">
                  <c:v>44.1</c:v>
                </c:pt>
                <c:pt idx="4">
                  <c:v>0.8</c:v>
                </c:pt>
                <c:pt idx="5">
                  <c:v>14.399999999999999</c:v>
                </c:pt>
                <c:pt idx="6">
                  <c:v>2.4</c:v>
                </c:pt>
                <c:pt idx="7">
                  <c:v>0.2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Revealed pref.</c:v>
                </c:pt>
              </c:strCache>
            </c:strRef>
          </c:tx>
          <c:spPr>
            <a:solidFill>
              <a:srgbClr val="D9532B"/>
            </a:solidFill>
          </c:spPr>
          <c:cat>
            <c:strRef>
              <c:f>Sheet1!$A$2:$A$9</c:f>
              <c:strCache>
                <c:ptCount val="8"/>
                <c:pt idx="0">
                  <c:v>Energy &amp; carbon</c:v>
                </c:pt>
                <c:pt idx="1">
                  <c:v>Water</c:v>
                </c:pt>
                <c:pt idx="2">
                  <c:v>Climate</c:v>
                </c:pt>
                <c:pt idx="3">
                  <c:v>Grid</c:v>
                </c:pt>
                <c:pt idx="4">
                  <c:v>Land</c:v>
                </c:pt>
                <c:pt idx="5">
                  <c:v>Community</c:v>
                </c:pt>
                <c:pt idx="6">
                  <c:v>Permitting</c:v>
                </c:pt>
                <c:pt idx="7">
                  <c:v>Cost of power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17.1</c:v>
                </c:pt>
                <c:pt idx="1">
                  <c:v>12.3</c:v>
                </c:pt>
                <c:pt idx="2">
                  <c:v>22.400000000000002</c:v>
                </c:pt>
                <c:pt idx="3">
                  <c:v>8.6</c:v>
                </c:pt>
                <c:pt idx="4">
                  <c:v>15.6</c:v>
                </c:pt>
                <c:pt idx="5">
                  <c:v>12.9</c:v>
                </c:pt>
                <c:pt idx="6">
                  <c:v>5.3</c:v>
                </c:pt>
                <c:pt idx="7">
                  <c:v>5.800000000000001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5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3D8D6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500"/>
          </a:pPr>
        </a:p>
      </c:txPr>
    </c:legend>
    <c:dispBlanksAs val="gap"/>
  </c:chart>
  <c:txPr>
    <a:bodyPr/>
    <a:lstStyle/>
    <a:p>
      <a:pPr>
        <a:defRPr sz="1500"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Boone County, IL: manufacturing jobs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8E8F8A"/>
              </a:solidFill>
            </c:spPr>
          </c:dPt>
          <c:dPt>
            <c:idx val="1"/>
            <c:spPr>
              <a:solidFill>
                <a:srgbClr val="D9532B"/>
              </a:solidFill>
            </c:spPr>
          </c:dPt>
          <c:cat>
            <c:strRef>
              <c:f>Sheet1!$A$2:$A$3</c:f>
              <c:strCache>
                <c:ptCount val="2"/>
                <c:pt idx="0">
                  <c:v>2015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7761</c:v>
                </c:pt>
                <c:pt idx="1">
                  <c:v>2070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800" b="1">
                  <a:solidFill>
                    <a:srgbClr val="1115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3D8D6"/>
            </a:solidFill>
          </a:ln>
        </c:spPr>
        <c:txPr>
          <a:bodyPr/>
          <a:lstStyle/>
          <a:p>
            <a:pPr>
              <a:defRPr sz="1700">
                <a:solidFill>
                  <a:srgbClr val="1115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700">
          <a:solidFill>
            <a:srgbClr val="4650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AI is driving a data center boom. Berkeley Lab found data centers used 4.4 percent of</a:t>
            </a:r>
          </a:p>
          <a:p>
            <a:r>
              <a:t>US electricity in 2023 and projects 6.7 to 12 percent by 2028. Communities are pushing</a:t>
            </a:r>
          </a:p>
          <a:p>
            <a:r>
              <a:t>back on where they go: New York paused state permits for large data centers this summer,</a:t>
            </a:r>
          </a:p>
          <a:p>
            <a:r>
              <a:t>citing energy and water. A campus built now runs 20 to 30 years, so the county you pick</a:t>
            </a:r>
          </a:p>
          <a:p>
            <a:r>
              <a:t>sets its carbon, its water, and its power bill for decades. Grid carbon alone varies</a:t>
            </a:r>
          </a:p>
          <a:p>
            <a:r>
              <a:t>about four times across the counties we scored.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US data center share of electricity, 2023: 4.4% (176 TWh) (published source, stable). Source: LBNL 2024 report, Executive Summary p. 5 (sources.md)</a:t>
            </a:r>
          </a:p>
          <a:p>
            <a:r>
              <a:t>- Projected share, 2028: 6.7% to 12.0% (published source, stable). Source: LBNL 2024 report, Executive Summary p. 6 (sources.md)</a:t>
            </a:r>
          </a:p>
          <a:p>
            <a:r>
              <a:t>- Grid carbon varies about 4x across candidate counties: 4x (242 to 911 lb/MWh) [[CHECK]]. Source: research/impact.md, field What the numbers say; dry cooling table</a:t>
            </a:r>
          </a:p>
          <a:p/>
          <a:p>
            <a:r>
              <a:t>SOURCES</a:t>
            </a:r>
          </a:p>
          <a:p>
            <a:r>
              <a:t>- LBNL 2024 United States Data Center Energy Usage Report (Shehabi et al.), https://eta-publications.lbl.gov/sites/default/files/2024-12/lbnl-2024-united-states-data-center-energy-usage-report_1.pdf</a:t>
            </a:r>
          </a:p>
          <a:p>
            <a:r>
              <a:t>- New York Executive Order No. 62, https://www.governor.ny.gov/executive-order/no-62-establishing-temporary-moratorium-data-centers-new-york-while-state-develops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Our answer is Grant County, Washington, home of the Quincy data center cluster. Of</a:t>
            </a:r>
          </a:p>
          <a:p>
            <a:r>
              <a:t>3,109 counties, 1,565 pass every hard gate, and Grant leads them at</a:t>
            </a:r>
          </a:p>
          <a:p>
            <a:r>
              <a:t>today's average power prices. It makes the top 10 under half of all possible weightings,</a:t>
            </a:r>
          </a:p>
          <a:p>
            <a:r>
              <a:t>more than any other county. In 25-year dollars it ties Clark, Washington and Franklin, New</a:t>
            </a:r>
          </a:p>
          <a:p>
            <a:r>
              <a:t>York; we feature Grant because its power timeline and tax status are sourced. The condition:</a:t>
            </a:r>
          </a:p>
          <a:p>
            <a:r>
              <a:t>sited next to hydro, powered by new clean supply the project funds.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Counties scored: 3,109 [[CHECK]]. Source: docs/figures/facts.json, field balanced.counties</a:t>
            </a:r>
          </a:p>
          <a:p>
            <a:r>
              <a:t>- Counties passing the gates: 1,565 [[CHECK]]. Source: docs/figures/facts.json, field balanced.passed</a:t>
            </a:r>
          </a:p>
          <a:p>
            <a:r>
              <a:t>- Grant rank and composite: #1, 63.7 [[CHECK]]. Source: docs/figures/facts.json, field featured.rank, featured.composite</a:t>
            </a:r>
          </a:p>
          <a:p>
            <a:r>
              <a:t>- Lead over #2: 0.5 points [[CHECK]]. Source: docs/figures/facts.json, field gap_first_to_second</a:t>
            </a:r>
          </a:p>
          <a:p>
            <a:r>
              <a:t>- Grant top-10 share over 5,000 random weightings: 50.5% [[CHECK]]. Source: scratch/weighting/out/smaa_acceptability.csv, field top10_floor_on</a:t>
            </a:r>
          </a:p>
          <a:p>
            <a:r>
              <a:t>- Three-county 25-year cost spread: within 1.1% [[CHECK]]. Source: docs/weighting.md, field Recommendation</a:t>
            </a:r>
          </a:p>
          <a:p/>
          <a:p>
            <a:r>
              <a:t>SOURCES</a:t>
            </a:r>
          </a:p>
          <a:p>
            <a:r>
              <a:t>- Grant PUD data center FAQ, 2026-08-28, https://www.grantpud.org/blog/data-center-faqs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Here's how the engine decides. Hard gates come first: flood, wildfire, fiber, queue age,</a:t>
            </a:r>
          </a:p>
          <a:p>
            <a:r>
              <a:t>moratoria, and enough generation nearby. 1,565 counties pass. Eight pillars then</a:t>
            </a:r>
          </a:p>
          <a:p>
            <a:r>
              <a:t>score each county against the nation, with stated weights. A county weak on any pillar ranks</a:t>
            </a:r>
          </a:p>
          <a:p>
            <a:r>
              <a:t>below every county that isn't; 912 clear that floor. The ranking isn't machine</a:t>
            </a:r>
          </a:p>
          <a:p>
            <a:r>
              <a:t>learning. For the leaders, a 25-year dollar model prices energy, carbon, water, hazard,</a:t>
            </a:r>
          </a:p>
          <a:p>
            <a:r>
              <a:t>delay, and tax, and tells us what must be true for each one to win.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Counties: 3,109 [[CHECK]]. Source: docs/figures/facts.json, field balanced.counties</a:t>
            </a:r>
          </a:p>
          <a:p>
            <a:r>
              <a:t>- Pass the gates: 1,565 [[CHECK]]. Source: docs/figures/facts.json, field balanced.passed</a:t>
            </a:r>
          </a:p>
          <a:p>
            <a:r>
              <a:t>- Clear the pillar floor: 912 [[CHECK]]. Source: docs/figures/facts.json, field balanced.floor_ok</a:t>
            </a:r>
          </a:p>
          <a:p>
            <a:r>
              <a:t>- Pillar weights: energy_carbon 0.153, water 0.119, climate_resilience 0.119, grid_infrastructure 0.153, land 0.068, community 0.085, permitting 0.153, cost 0.150 [[CHECK]]. Source: docs/figures/facts.json, field weights.balanced (from engine/conditions/balanced.yaml)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Here's the sustainability case. Water first: an evaporative campus in Grant would use about</a:t>
            </a:r>
          </a:p>
          <a:p>
            <a:r>
              <a:t>210 million gallons a year. Our plan uses dry cooling, about</a:t>
            </a:r>
          </a:p>
          <a:p>
            <a:r>
              <a:t>28 million, an 87 percent cut, for about 2 percent more</a:t>
            </a:r>
          </a:p>
          <a:p>
            <a:r>
              <a:t>energy. Washington's own data center workgroup flags water as a real concern. Carbon depends</a:t>
            </a:r>
          </a:p>
          <a:p>
            <a:r>
              <a:t>on which power serves us. Before our funded supply arrives, it's 236 to</a:t>
            </a:r>
          </a:p>
          <a:p>
            <a:r>
              <a:t>700 thousand tons a year, against Loudoun's 675</a:t>
            </a:r>
          </a:p>
          <a:p>
            <a:r>
              <a:t>thousand. State law then requires the utility's power to be fully clean by 2045.</a:t>
            </a:r>
          </a:p>
          <a:p/>
          <a:p>
            <a:r>
              <a:t>IF ASKED:</a:t>
            </a:r>
          </a:p>
          <a:p>
            <a:r>
              <a:t>- Why not zero carbon? The utility's hydro rate of 0 lb/MWh describes its existing customers.</a:t>
            </a:r>
          </a:p>
          <a:p>
            <a:r>
              <a:t>  None of that hydro is spare for a new load, so we don't claim it.</a:t>
            </a:r>
          </a:p>
          <a:p>
            <a:r>
              <a:t>- Why compare with Loudoun? It's where the industry builds today. It fails our queue-age gate,</a:t>
            </a:r>
          </a:p>
          <a:p>
            <a:r>
              <a:t>  so it's a reference, not a candidate.</a:t>
            </a:r>
          </a:p>
          <a:p>
            <a:r>
              <a:t>- State law detail: utility sales must be greenhouse-gas neutral by 2030 (up to 20% through</a:t>
            </a:r>
          </a:p>
          <a:p>
            <a:r>
              <a:t>  alternative compliance) and 100% renewable or non-emitting by 2045 (RCW 19.405.040, .050).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Grant water, evaporative: 210.2 M gal/yr [[CHECK]]. Source: docs/figures/facts.json, field impact['Grant, WA'].water_million_gal_evap</a:t>
            </a:r>
          </a:p>
          <a:p>
            <a:r>
              <a:t>- Grant water, dry: 27.8 M gal/yr [[CHECK]]. Source: docs/figures/facts.json, field impact['Grant, WA'].water_million_gal_dry</a:t>
            </a:r>
          </a:p>
          <a:p>
            <a:r>
              <a:t>- Loudoun water, evaporative: 322.8 M gal/yr [[CHECK]]. Source: docs/figures/facts.json, field impact['Loudoun, VA'].water_million_gal_evap</a:t>
            </a:r>
          </a:p>
          <a:p>
            <a:r>
              <a:t>- Water cut, dry vs evaporative: 87% [[CHECK]]. Source: computed from the two Grant values above</a:t>
            </a:r>
          </a:p>
          <a:p>
            <a:r>
              <a:t>- Grant CO2 at BPA's mix: 235,547 t/yr [[CHECK]]. Source: docs/figures/facts.json, field grant_ranges.co2_tonnes.bpa</a:t>
            </a:r>
          </a:p>
          <a:p>
            <a:r>
              <a:t>- Grant CO2 at the Northwest average: 700,390 t/yr [[CHECK]]. Source: docs/figures/facts.json, field grant_ranges.co2_tonnes.nwpp_table</a:t>
            </a:r>
          </a:p>
          <a:p>
            <a:r>
              <a:t>- Loudoun CO2, dry: 675,455 t/yr [[CHECK]]. Source: docs/figures/facts.json, field impact['Loudoun, VA'].co2_tonnes_dry</a:t>
            </a:r>
          </a:p>
          <a:p>
            <a:r>
              <a:t>- Dry cooling energy penalty: about 2% [[CHECK]]. Source: research/risk.md, field Water stress row</a:t>
            </a:r>
          </a:p>
          <a:p>
            <a:r>
              <a:t>- CETA dates: 2030 neutral, 2045 100% clean (published source, stable). Source: research/implementation.md, field Carbon over 30 years</a:t>
            </a:r>
          </a:p>
          <a:p/>
          <a:p>
            <a:r>
              <a:t>SOURCES</a:t>
            </a:r>
          </a:p>
          <a:p>
            <a:r>
              <a:t>- Washington Clean Energy Transformation Act, RCW 19.405.040 and 19.405.050, https://app.leg.wa.gov/RCW/default.aspx?cite=19.405</a:t>
            </a:r>
          </a:p>
          <a:p>
            <a:r>
              <a:t>- Washington Data Center Workgroup, Preliminary Report, Finding 19, p. 13, https://dor.wa.gov/sites/default/files/2025-12/2025DataCntrWrkgrpPrelimReport.pdf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We didn't start at Grant. With seven pillars, Berkshire County, Massachusetts ranked first</a:t>
            </a:r>
          </a:p>
          <a:p>
            <a:r>
              <a:t>and Grant seventh. Massachusetts closed the tax exemption Berkshire relied on, and it fell</a:t>
            </a:r>
          </a:p>
          <a:p>
            <a:r>
              <a:t>to fifth. Then we made power cost its own pillar. Grant</a:t>
            </a:r>
          </a:p>
          <a:p>
            <a:r>
              <a:t>rose to first, and Berkshire fell to 1,047th. The last correction cut</a:t>
            </a:r>
          </a:p>
          <a:p>
            <a:r>
              <a:t>against us. A new 300 megawatt load doesn't get today's average price, so Grant's bill is 196</a:t>
            </a:r>
          </a:p>
          <a:p>
            <a:r>
              <a:t>to 323 million dollars a year, not 162. And we dropped a permitting model that failed out of sample.</a:t>
            </a:r>
          </a:p>
          <a:p/>
          <a:p>
            <a:r>
              <a:t>IF ASKED: why doesn't Grant get cheap hydro? BPA's rule for a new large single load: "…the customer must serve that load, and any increases to it, with either power from Bonneville at the NR rate or a dedicated nonfederal resource."</a:t>
            </a:r>
          </a:p>
          <a:p>
            <a:r>
              <a:t>(Bonneville Power Administration, Fact Sheet: New large single load, Oct. 2020). Whether the rule binds a Grant PUD load depends on the utility's BPA contract; not checked.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Berkshire ranks by stage: 1 / 5 / 1047 [[CHECK]]. Source: docs/figures/facts.json, field pick_story.ranks['Berkshire, MA']</a:t>
            </a:r>
          </a:p>
          <a:p>
            <a:r>
              <a:t>- Grant ranks by stage: 7 / 9 / 1 [[CHECK]]. Source: docs/figures/facts.json, field pick_story.ranks['Grant, WA']</a:t>
            </a:r>
          </a:p>
          <a:p>
            <a:r>
              <a:t>- Grant energy cost at state average: $162M/yr [[CHECK]]. Source: docs/figures/facts.json, field grant_ranges.energy_cost_musd.state_average</a:t>
            </a:r>
          </a:p>
          <a:p>
            <a:r>
              <a:t>- Grant energy cost at BPA new-load rate: $196M to $323M/yr [[CHECK]]. Source: docs/figures/facts.json, field grant_ranges.energy_cost_musd.new_load_low/high</a:t>
            </a:r>
          </a:p>
          <a:p>
            <a:r>
              <a:t>- Permitting model AUC without facility counts: 0.48 to 0.585 (bar 0.60) [[CHECK]]. Source: research/permitting_model.md; data/processed/permitting_validation.json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The obvious question: did we pick weights that make Grant win? So we stopped choosing. We</a:t>
            </a:r>
          </a:p>
          <a:p>
            <a:r>
              <a:t>drew 5,000 random weightings of the eight pillars and counted how often each county makes</a:t>
            </a:r>
          </a:p>
          <a:p>
            <a:r>
              <a:t>the top 10. Grant does in 50.5% of them, more than any</a:t>
            </a:r>
          </a:p>
          <a:p>
            <a:r>
              <a:t>other county. No county wins most weightings; the top three each come first in 11 to 13</a:t>
            </a:r>
          </a:p>
          <a:p>
            <a:r>
              <a:t>percent. Near our own weights, Grant stays in the top 10 in 99.9%.</a:t>
            </a:r>
          </a:p>
          <a:p>
            <a:r>
              <a:t>We didn't tune the weights to get our answer. We tested whether our answer depends on them.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SMAA top-10 share, Grant, WA: 50.5% [[CHECK]]. Source: scratch/weighting/out/smaa_acceptability.csv, field top10_floor_on</a:t>
            </a:r>
          </a:p>
          <a:p>
            <a:r>
              <a:t>- SMAA top-10 share, Whitman, WA: 45.8% [[CHECK]]. Source: scratch/weighting/out/smaa_acceptability.csv, field top10_floor_on</a:t>
            </a:r>
          </a:p>
          <a:p>
            <a:r>
              <a:t>- SMAA top-10 share, Wayne, TN: 42.4% [[CHECK]]. Source: scratch/weighting/out/smaa_acceptability.csv, field top10_floor_on</a:t>
            </a:r>
          </a:p>
          <a:p>
            <a:r>
              <a:t>- SMAA top-10 share, Luzerne, PA: 36.4% [[CHECK]]. Source: scratch/weighting/out/smaa_acceptability.csv, field top10_floor_on</a:t>
            </a:r>
          </a:p>
          <a:p>
            <a:r>
              <a:t>- SMAA top-10 share, Clark, WA: 30.6% [[CHECK]]. Source: scratch/weighting/out/smaa_acceptability.csv, field top10_floor_on</a:t>
            </a:r>
          </a:p>
          <a:p>
            <a:r>
              <a:t>- SMAA top-10 share, Trumbull, OH: 27.4% [[CHECK]]. Source: scratch/weighting/out/smaa_acceptability.csv, field top10_floor_on</a:t>
            </a:r>
          </a:p>
          <a:p>
            <a:r>
              <a:t>- SMAA rank-1 share, Whitman, WA: 12.9% [[CHECK]]. Source: scratch/weighting/out/smaa_acceptability.csv, field rank1_floor_on</a:t>
            </a:r>
          </a:p>
          <a:p>
            <a:r>
              <a:t>- SMAA rank-1 share, Grant, WA: 11.5% [[CHECK]]. Source: scratch/weighting/out/smaa_acceptability.csv, field rank1_floor_on</a:t>
            </a:r>
          </a:p>
          <a:p>
            <a:r>
              <a:t>- SMAA rank-1 share, Wayne, TN: 10.8% [[CHECK]]. Source: scratch/weighting/out/smaa_acceptability.csv, field rank1_floor_on</a:t>
            </a:r>
          </a:p>
          <a:p>
            <a:r>
              <a:t>- Robustness near balanced weights: 99.9% [[CHECK]]. Source: docs/figures/facts.json, field featured.robustness (2,000 draws, sd about 0.03)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One risk is high: power. Grant PUD's share of its dams averages about</a:t>
            </a:r>
          </a:p>
          <a:p>
            <a:r>
              <a:t>633 average megawatts, already below its 757 load. We'd add</a:t>
            </a:r>
          </a:p>
          <a:p>
            <a:r>
              <a:t>279, and about 800 megawatts are queued ahead of us. So we</a:t>
            </a:r>
          </a:p>
          <a:p>
            <a:r>
              <a:t>fund new supply and phase in behind the 2027 and 2029 transmission lines. Timing is the win</a:t>
            </a:r>
          </a:p>
          <a:p>
            <a:r>
              <a:t>condition: in 25-year dollars Grant ties Clark and Franklin, and each month of delay costs</a:t>
            </a:r>
          </a:p>
          <a:p>
            <a:r>
              <a:t>about 25 million dollars. Heat is a medium risk. Protected land and tribal sites are low,</a:t>
            </a:r>
          </a:p>
          <a:p>
            <a:r>
              <a:t>checked by hand, with early consultation.</a:t>
            </a:r>
          </a:p>
          <a:p/>
          <a:p>
            <a:r>
              <a:t>IF ASKED (not in the 35 seconds):</a:t>
            </a:r>
          </a:p>
          <a:p>
            <a:r>
              <a:t>- Price: with Washington at BPA's new-load rate and other states at their averages, Grant</a:t>
            </a:r>
          </a:p>
          <a:p>
            <a:r>
              <a:t>  falls to 79th at $80/MWh and 1,146th at $132/MWh. No other state's</a:t>
            </a:r>
          </a:p>
          <a:p>
            <a:r>
              <a:t>  new-load rate is sourced, so that comparison is lopsided, but Grant's #1 rests on today's</a:t>
            </a:r>
          </a:p>
          <a:p>
            <a:r>
              <a:t>  average price.</a:t>
            </a:r>
          </a:p>
          <a:p>
            <a:r>
              <a:t>- Hydro and fisheries: Washington's Data Center Workgroup (Preliminary Report, Finding 19c,</a:t>
            </a:r>
          </a:p>
          <a:p>
            <a:r>
              <a:t>  p. 13) says new load on hydropower increases demand for a scarce resource tied to Tribal and</a:t>
            </a:r>
          </a:p>
          <a:p>
            <a:r>
              <a:t>  state fisheries efforts. Answer: we don't claim existing hydro; we fund new supply.</a:t>
            </a:r>
          </a:p>
          <a:p>
            <a:r>
              <a:t>- Regional context (verified quote): "Data centers are the largest source of expected load growth in the Pacific Northwest." Washington Data Center Workgroup, Preliminary Report, Dec. 2025.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Grant PUD share of its dams: about 633 aMW (published source, stable). Source: research/risk.md (Grant PUD FAQ), field Power availability row</a:t>
            </a:r>
          </a:p>
          <a:p>
            <a:r>
              <a:t>- Grant PUD 2025 load: 757 aMW (published source, stable). Source: research/risk.md (Grant PUD FAQ), field Power availability row</a:t>
            </a:r>
          </a:p>
          <a:p>
            <a:r>
              <a:t>- Campus average load: 279 aMW [[CHECK]]. Source: research/risk.md; etl/impact.py, field Power availability row</a:t>
            </a:r>
          </a:p>
          <a:p>
            <a:r>
              <a:t>- Large-load requests queued: about 800 MW (published source, stable). Source: research/risk.md (Grant PUD FAQ), field Power availability row</a:t>
            </a:r>
          </a:p>
          <a:p>
            <a:r>
              <a:t>- Delay cost: $25M per month [[CHECK]]. Source: docs/weighting.md, field Assumptions: time to power</a:t>
            </a:r>
          </a:p>
          <a:p>
            <a:r>
              <a:t>- Grant break-even vs Clark / Franklin: 10.2 / 12.1 months past a 2-year baseline [[CHECK]]. Source: docs/weighting.md, field Grant's row</a:t>
            </a:r>
          </a:p>
          <a:p>
            <a:r>
              <a:t>- Days above 95°F: 14.5 today, 35.9 by 2050 [[CHECK]]. Source: docs/figures/facts.json, field featured.horizon_2050_raw.days_above_95f_hist</a:t>
            </a:r>
          </a:p>
          <a:p>
            <a:r>
              <a:t>- Grant rank with WA at BPA's $80 and $132/MWh: 79 and 1,146 [[CHECK]]. Source: docs/deck_build_log.md, field step 1, price sensitivity (scratchpad rerun, not committed)</a:t>
            </a:r>
          </a:p>
          <a:p>
            <a:r>
              <a:t>- Protected land and tribal rows: residual Low [[CHECK]]. Source: research/risk.md on origin/fix/sensitive-land (d2ed911), field Protected and sensitive land; Tribal consultation</a:t>
            </a:r>
          </a:p>
          <a:p/>
          <a:p>
            <a:r>
              <a:t>SOURCES</a:t>
            </a:r>
          </a:p>
          <a:p>
            <a:r>
              <a:t>- Grant PUD data center FAQ, 2026-08-28, https://www.grantpud.org/blog/data-center-faqs</a:t>
            </a:r>
          </a:p>
          <a:p>
            <a:r>
              <a:t>- PAD-US 4.1 and tribal land checks: research/risk.md and research/sensitive_land.md on branch fix/sensitive-land, commit d2ed911</a:t>
            </a:r>
          </a:p>
          <a:p>
            <a:r>
              <a:t>- Washington Data Center Workgroup, Preliminary Report, Findings 6 and 19c, https://dor.wa.gov/sites/default/files/2025-12/2025DataCntrWrkgrpPrelimReport.pdf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The plan has three parts. Power: start small behind the utility's queue, energize after</a:t>
            </a:r>
          </a:p>
          <a:p>
            <a:r>
              <a:t>Quincy's 2027 upgrade, and grow toward 300 megawatts after the 2029 line, only as supply we</a:t>
            </a:r>
          </a:p>
          <a:p>
            <a:r>
              <a:t>pay for comes online. About a gigawatt of new solar matches our annual use, not every hour,</a:t>
            </a:r>
          </a:p>
          <a:p>
            <a:r>
              <a:t>so firm clean power follows in the 2030s. Cooling: closed-loop liquid cooling with dry</a:t>
            </a:r>
          </a:p>
          <a:p>
            <a:r>
              <a:t>coolers, sized for 2050's hotter days. Heat: we site next to a food processor and pipe 45 to</a:t>
            </a:r>
          </a:p>
          <a:p>
            <a:r>
              <a:t>65 degree return water into its process heat.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Transmission milestones: 2027 Quincy upgrade; 2029 Wanapum to Quincy line (published source, stable). Source: research/implementation.md, field The queue and the caps</a:t>
            </a:r>
          </a:p>
          <a:p>
            <a:r>
              <a:t>- New solar to match annual use: about 1 GW (1,030 MW at 27% capacity factor) [[CHECK]]. Source: research/implementation.md, field Where new clean supply comes from</a:t>
            </a:r>
          </a:p>
          <a:p>
            <a:r>
              <a:t>- Goldendale pumped storage: 1.2 GW, 2031 to 2032 (published source, stable). Source: research/implementation.md, field Where new clean supply comes from</a:t>
            </a:r>
          </a:p>
          <a:p>
            <a:r>
              <a:t>- Dry cooling water: 27.8 M gal/yr [[CHECK]]. Source: docs/figures/facts.json, field impact['Grant, WA'].water_million_gal_dry</a:t>
            </a:r>
          </a:p>
          <a:p>
            <a:r>
              <a:t>- Liquid-cooling return water: 45 to 65°C (published source, stable). Source: research/implementation.md, field Cooling and water; Heat reuse</a:t>
            </a:r>
          </a:p>
          <a:p/>
          <a:p>
            <a:r>
              <a:t>SOURCES</a:t>
            </a:r>
          </a:p>
          <a:p>
            <a:r>
              <a:t>- Grant PUD Data Center FAQs, Q5, https://www.grantpud.org/blog/data-center-faqs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The deliverable isn't one county. It's the engine. Conditions go in as one plain file,</a:t>
            </a:r>
          </a:p>
          <a:p>
            <a:r>
              <a:t>and a ranked, explained shortlist comes out. Watch one switch: change cooling from dry to</a:t>
            </a:r>
          </a:p>
          <a:p>
            <a:r>
              <a:t>evaporative. The engine adds a water-stress gate, and the counties that pass drop from</a:t>
            </a:r>
          </a:p>
          <a:p>
            <a:r>
              <a:t>1,565 to 826. Grant scores 3.6 of 5 for water stress, so it drops</a:t>
            </a:r>
          </a:p>
          <a:p>
            <a:r>
              <a:t>out, and the engine says exactly why. Wayne, Tennessee leads instead. Same data, new</a:t>
            </a:r>
          </a:p>
          <a:p>
            <a:r>
              <a:t>answer, with reasons. Let's show you. [Hand off to the live demo.]</a:t>
            </a:r>
          </a:p>
          <a:p/>
          <a:p>
            <a:r>
              <a:t>ALTERNATIVE CLOSE (verified quote): "Developers can avoid and minimize environmental and other community impacts through coordinated planning … when designing projects and choosing project sites." Washington Data Center Workgroup, Preliminary Report, Dec. 2025.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Counties passing, dry: 1,565 [[CHECK]]. Source: docs/figures/facts.json, field balanced.passed</a:t>
            </a:r>
          </a:p>
          <a:p>
            <a:r>
              <a:t>- Counties passing, evaporative: 826 [[CHECK]]. Source: docs/deck_build_log.md step 1; docs/demo_script.md, field 0:2:00 row</a:t>
            </a:r>
          </a:p>
          <a:p>
            <a:r>
              <a:t>- Grant water stress: 3.6 of 5 [[CHECK]]. Source: docs/figures/facts.json, field featured.horizon_2050_raw.water_stress_bws.today</a:t>
            </a:r>
          </a:p>
          <a:p>
            <a:r>
              <a:t>- New leader under evaporative cooling: Wayne, TN [[CHECK]]. Source: docs/deck_build_log.md step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If asked why we price the leaders in dollars and tonnes: at the county table's regional</a:t>
            </a:r>
          </a:p>
          <a:p>
            <a:r>
              <a:t>grid rates, Franklin, New York emits 2.7 times less CO2 than Grant, but their energy</a:t>
            </a:r>
          </a:p>
          <a:p>
            <a:r>
              <a:t>and carbon pillars score 80.4 and 70.4, the 99th and 94th national</a:t>
            </a:r>
          </a:p>
          <a:p>
            <a:r>
              <a:t>percentiles. The pillar blends grid rate with nearby clean capacity, where Grant scores near</a:t>
            </a:r>
          </a:p>
          <a:p>
            <a:r>
              <a:t>the top, and percentiles compress large physical gaps. So tonnes and dollars need their own</a:t>
            </a:r>
          </a:p>
          <a:p>
            <a:r>
              <a:t>model. One caveat: with BPA-like supply, Grant is about 236</a:t>
            </a:r>
          </a:p>
          <a:p>
            <a:r>
              <a:t>thousand tons, below Franklin.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Energy and carbon pillar, Grant: 70.4 (93.6th pctl) [[CHECK]]. Source: docs/deck_build_log.md, field step 1 (engine on main 23bb71c)</a:t>
            </a:r>
          </a:p>
          <a:p>
            <a:r>
              <a:t>- Energy and carbon pillar, Franklin: 80.4 (98.7th pctl) [[CHECK]]. Source: docs/deck_build_log.md, field step 1 (engine on main 23bb71c)</a:t>
            </a:r>
          </a:p>
          <a:p>
            <a:r>
              <a:t>- CO2, Grant at Northwest average: 700,390 t/yr [[CHECK]]. Source: docs/figures/facts.json, field grant_ranges.co2_tonnes.nwpp_table</a:t>
            </a:r>
          </a:p>
          <a:p>
            <a:r>
              <a:t>- CO2, Franklin: 262,168 t/yr [[CHECK]]. Source: research/impact.md, field Dry cooling table</a:t>
            </a:r>
          </a:p>
          <a:p>
            <a:r>
              <a:t>- Ratio: 2.67x [[CHECK]]. Source: computed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The dollar model prices energy, carbon at 190 dollars a ton, water, hazard, delay, and</a:t>
            </a:r>
          </a:p>
          <a:p>
            <a:r>
              <a:t>sales tax over 25 years. Clark, Grant, and Franklin land within 1.1 percent, so the model</a:t>
            </a:r>
          </a:p>
          <a:p>
            <a:r>
              <a:t>can't separate them. Grant wins if its power arrives within about 10 to 12 months of a</a:t>
            </a:r>
          </a:p>
          <a:p>
            <a:r>
              <a:t>two-year baseline. Clark wins if its parcel avoids the transit district's higher tax.</a:t>
            </a:r>
          </a:p>
          <a:p>
            <a:r>
              <a:t>Franklin wins if New York's data center tax exemption applies. With sales tax, full-exemption</a:t>
            </a:r>
          </a:p>
          <a:p>
            <a:r>
              <a:t>states price cheaper nationally. Those flags are unverified, so checking them comes first.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- 25-year cost, Clark, WA: $4.405B [[CHECK]]. Source: docs/weighting.md, field Recommendation table</a:t>
            </a:r>
          </a:p>
          <a:p>
            <a:r>
              <a:t>- 25-year cost, Grant, WA: $4.452B [[CHECK]]. Source: docs/weighting.md, field Recommendation table</a:t>
            </a:r>
          </a:p>
          <a:p>
            <a:r>
              <a:t>- 25-year cost, Franklin, NY: $4.454B [[CHECK]]. Source: docs/weighting.md, field Recommendation table</a:t>
            </a:r>
          </a:p>
          <a:p>
            <a:r>
              <a:t>- Grant break-even months vs Clark / Franklin: 10.2 / 12.1 [[CHECK]]. Source: docs/weighting.md, field Grant's row</a:t>
            </a:r>
          </a:p>
          <a:p>
            <a:r>
              <a:t>- Shortlist ranks with tax: Clark, Grant, Franklin: 73, 78, 80 of 162 [[CHECK]]. Source: docs/weighting.md, field The framework</a:t>
            </a:r>
          </a:p>
          <a:p>
            <a:r>
              <a:t>- Monte Carlo #1 with tax: Chesterfield SC 21.8% of draws [[CHECK]]. Source: scratch/weighting/out/montecarlo_summary.json, field p_first_top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We compared five ways to set weights. Balanced is our stated judgment. The monetized column</a:t>
            </a:r>
          </a:p>
          <a:p>
            <a:r>
              <a:t>is how much each pillar's dollars vary across counties: cost of power dominates. CRITIC and</a:t>
            </a:r>
          </a:p>
          <a:p>
            <a:r>
              <a:t>entropy derive weights from the data's spread, and entropy is an artifact here. Revealed</a:t>
            </a:r>
          </a:p>
          <a:p>
            <a:r>
              <a:t>preference fits where industry already built. They disagree a lot, and no one of them is</a:t>
            </a:r>
          </a:p>
          <a:p>
            <a:r>
              <a:t>right, which is why we report SMAA over every possible weighting instead of defending one.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Weights table: 5 methods x 8 pillars [[CHECK]]. Source: docs/weighting.md, field Weights by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All 3,109 counties are scored from about 20 public sources, joined to one county</a:t>
            </a:r>
          </a:p>
          <a:p>
            <a:r>
              <a:t>table. Four inputs are proxies, and we say so: last-mile fiber stands in for backbone, plant</a:t>
            </a:r>
          </a:p>
          <a:p>
            <a:r>
              <a:t>capacity within 100 kilometers stands in for deliverable power, a state average price stands</a:t>
            </a:r>
          </a:p>
          <a:p>
            <a:r>
              <a:t>in for what a new load pays, and a heat-sink score stands in for heat reuse. Coverage across</a:t>
            </a:r>
          </a:p>
          <a:p>
            <a:r>
              <a:t>the top 10 is 73 to 78 percent, because 10 of 45 mapped columns aren't in the table yet.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Counties: 3,109 [[CHECK]]. Source: docs/figures/facts.json, field balanced.counties</a:t>
            </a:r>
          </a:p>
          <a:p>
            <a:r>
              <a:t>- Scored columns present / mapped: 35 / 45 [[CHECK]]. Source: docs/figures/facts.json, field limitations.scored_columns_present, scored_columns_mapped</a:t>
            </a:r>
          </a:p>
          <a:p>
            <a:r>
              <a:t>- Coverage, top 10: 0.73 to 0.78 [[CHECK]]. Source: docs/figures/facts.json, field limitations.coverage_top10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Three limits matter most. First, installed isn't available: Grant has 16,193</a:t>
            </a:r>
          </a:p>
          <a:p>
            <a:r>
              <a:t>megawatts of plants within 100 kilometers, yet its utility has no spare hydro for a new load.</a:t>
            </a:r>
          </a:p>
          <a:p>
            <a:r>
              <a:t>Second, price is a state average, so the cost pillar ranks states, and a new 300 megawatt</a:t>
            </a:r>
          </a:p>
          <a:p>
            <a:r>
              <a:t>load pays more. Third, some inputs are proxies, permitting is three hand-coded state-level</a:t>
            </a:r>
          </a:p>
          <a:p>
            <a:r>
              <a:t>values, and the weights are judgments, which is why we test them. First place leads by</a:t>
            </a:r>
          </a:p>
          <a:p>
            <a:r>
              <a:t>0.5 points, so robustness carries the claim, not the rank.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Plant capacity within 100 km of Grant: 16,193 MW [[CHECK]]. Source: docs/figures/facts.json, field limitations.featured_plant_capacity_mw_100km</a:t>
            </a:r>
          </a:p>
          <a:p>
            <a:r>
              <a:t>- Lead over #2: 0.5 points [[CHECK]]. Source: docs/figures/facts.json, field gap_first_to_second</a:t>
            </a:r>
          </a:p>
          <a:p>
            <a:r>
              <a:t>- Loudoun VA: excluded: max_queue_median_age_years [[CHECK]]. Source: docs/figures/facts.json, field limitations.loudoun_va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(about 30 to 35 seconds)</a:t>
            </a:r>
          </a:p>
          <a:p>
            <a:r>
              <a:t>Two extensions. First, the same engine ranked 196 countries after about 40 lines of change:</a:t>
            </a:r>
          </a:p>
          <a:p>
            <a:r>
              <a:t>83 pass the gates, and Sweden, Switzerland, and Norway lead. That shows the engine carries to</a:t>
            </a:r>
          </a:p>
          <a:p>
            <a:r>
              <a:t>another region; it isn't a country recommendation, and there's no global power price. Second,</a:t>
            </a:r>
          </a:p>
          <a:p>
            <a:r>
              <a:t>Stage 2 adds unscored context after the ranking. Boone County, Illinois lost almost three quarters of</a:t>
            </a:r>
          </a:p>
          <a:p>
            <a:r>
              <a:t>its manufacturing jobs after the Belvidere plant went idle. Economic need is not evidence of</a:t>
            </a:r>
          </a:p>
          <a:p>
            <a:r>
              <a:t>community support; local engagement is still required.</a:t>
            </a:r>
          </a:p>
          <a:p/>
          <a:p>
            <a:r>
              <a:t>NUMBERS ON THIS SLIDE ([[CHECK]] = could change tonight; recheck before presenting)</a:t>
            </a:r>
          </a:p>
          <a:p>
            <a:r>
              <a:t>- Countries / pass / floor: 196 / 83 / 55 [[CHECK]]. Source: docs/figures/facts.json, field global</a:t>
            </a:r>
          </a:p>
          <a:p>
            <a:r>
              <a:t>- US global rank: 58 of 83 [[CHECK]]. Source: docs/figures/facts.json, field global.us</a:t>
            </a:r>
          </a:p>
          <a:p>
            <a:r>
              <a:t>- Boone IL manufacturing jobs: 7,761 (2015) to 2,070 (2024) [[CHECK]]. Source: docs/demo_script.md, field Stage 2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WHY SITING MATTERS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Where AI campuses go now locks in decades of carbon, water, and cost.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LBNL, 2024 United States Data Center Energy Usage Report (Dec. 2024), Executive Summary; New York Executive Order No. 62 (July 14, 2026), WHEREAS clause 9; research/impact.md. Links in docs/deck/sources.md.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1</a:t>
            </a:r>
          </a:p>
        </p:txBody>
      </p:sp>
      <p:sp>
        <p:nvSpPr>
          <p:cNvPr id="8" name="Quote"/>
          <p:cNvSpPr/>
          <p:nvPr/>
        </p:nvSpPr>
        <p:spPr>
          <a:xfrm>
            <a:off x="548640" y="2011680"/>
            <a:ext cx="5212080" cy="224028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Quote bar"/>
          <p:cNvSpPr/>
          <p:nvPr/>
        </p:nvSpPr>
        <p:spPr>
          <a:xfrm>
            <a:off x="548640" y="2011680"/>
            <a:ext cx="73152" cy="224028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Quote text"/>
          <p:cNvSpPr txBox="1"/>
          <p:nvPr/>
        </p:nvSpPr>
        <p:spPr>
          <a:xfrm>
            <a:off x="822960" y="2121408"/>
            <a:ext cx="4754880" cy="2057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100" b="0" i="0">
                <a:solidFill>
                  <a:srgbClr val="111518"/>
                </a:solidFill>
                <a:latin typeface="Arial"/>
              </a:rPr>
              <a:t>“New Yorkers have expressed legitimate concerns regarding the potential impacts of the siting and operation of data centers on energy use, water use, water quality…”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46505A"/>
                </a:solidFill>
                <a:latin typeface="Arial"/>
              </a:rPr>
              <a:t>New York Executive Order 62, July 2026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548640" y="4480560"/>
            <a:ext cx="5212080" cy="16459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0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100" b="0" i="0">
                <a:solidFill>
                  <a:srgbClr val="111518"/>
                </a:solidFill>
                <a:latin typeface="Arial"/>
              </a:rPr>
              <a:t>A campus built now runs 20 to 30 years.</a:t>
            </a:r>
          </a:p>
          <a:p>
            <a:pPr marL="292608" indent="-292608">
              <a:lnSpc>
                <a:spcPct val="105000"/>
              </a:lnSpc>
              <a:spcAft>
                <a:spcPts val="10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100" b="0" i="0">
                <a:solidFill>
                  <a:srgbClr val="111518"/>
                </a:solidFill>
                <a:latin typeface="Arial"/>
              </a:rPr>
              <a:t>Grid carbon varies about 4x across candidate counties.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126480" y="2011680"/>
          <a:ext cx="548640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THE ANSWER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Grant County, Washington, if the campus funds its own clean power.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team engine, balanced preset (results/balanced.csv; docs/figures/facts.json); map docs/figures/map_composite.png; 25-year cost docs/weighting.md; Grant PUD data center FAQ, 2026-08-28.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2</a:t>
            </a:r>
          </a:p>
        </p:txBody>
      </p:sp>
      <p:pic>
        <p:nvPicPr>
          <p:cNvPr id="8" name="Picture 7" descr="map_compo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416" y="1965960"/>
            <a:ext cx="5572607" cy="4389120"/>
          </a:xfrm>
          <a:prstGeom prst="rect">
            <a:avLst/>
          </a:prstGeom>
        </p:spPr>
      </p:pic>
      <p:sp>
        <p:nvSpPr>
          <p:cNvPr id="9" name="Condition"/>
          <p:cNvSpPr/>
          <p:nvPr/>
        </p:nvSpPr>
        <p:spPr>
          <a:xfrm>
            <a:off x="6720840" y="2011680"/>
            <a:ext cx="4922215" cy="141732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 wrap="square" lIns="182880" rIns="182880" tIns="36576" bIns="36576"/>
          <a:lstStyle/>
          <a:p>
            <a:pPr algn="l"/>
            <a:r>
              <a:rPr sz="1300" b="1" i="0">
                <a:solidFill>
                  <a:srgbClr val="DCE3EA"/>
                </a:solidFill>
                <a:latin typeface="Arial"/>
              </a:rPr>
              <a:t>THE CONDITION</a:t>
            </a:r>
          </a:p>
          <a:p>
            <a:pPr algn="l"/>
            <a:r>
              <a:rPr sz="2100" b="1" i="0">
                <a:solidFill>
                  <a:srgbClr val="FFFFFF"/>
                </a:solidFill>
                <a:latin typeface="Arial"/>
              </a:rPr>
              <a:t>Sited next to hydro, powered by new clean supply the project funds.</a:t>
            </a:r>
          </a:p>
        </p:txBody>
      </p:sp>
      <p:sp>
        <p:nvSpPr>
          <p:cNvPr id="10" name="Bullets"/>
          <p:cNvSpPr txBox="1"/>
          <p:nvPr/>
        </p:nvSpPr>
        <p:spPr>
          <a:xfrm>
            <a:off x="6720840" y="3703320"/>
            <a:ext cx="4922215" cy="26517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2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Leads 1,565 gate-passing counties at today's average power prices.</a:t>
            </a:r>
          </a:p>
          <a:p>
            <a:pPr marL="292608" indent="-292608">
              <a:lnSpc>
                <a:spcPct val="105000"/>
              </a:lnSpc>
              <a:spcAft>
                <a:spcPts val="12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Top 10 in 51% of all weightings, more than any county.</a:t>
            </a:r>
          </a:p>
          <a:p>
            <a:pPr marL="292608" indent="-292608">
              <a:lnSpc>
                <a:spcPct val="105000"/>
              </a:lnSpc>
              <a:spcAft>
                <a:spcPts val="12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Ties Clark WA and Franklin NY within 1.1% over 25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HOW IT DECIDES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Gates cut 3,109 counties to 1,565. Eight pillars rank the rest.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engine/conditions/balanced.yaml; engine/pillars.yaml; docs/figures/facts.json; docs/weighting.md. Data from 20 public sources, listed in appendix A4.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3</a:t>
            </a:r>
          </a:p>
        </p:txBody>
      </p:sp>
      <p:sp>
        <p:nvSpPr>
          <p:cNvPr id="8" name="Step 1"/>
          <p:cNvSpPr/>
          <p:nvPr/>
        </p:nvSpPr>
        <p:spPr>
          <a:xfrm>
            <a:off x="548640" y="2103120"/>
            <a:ext cx="1911644" cy="1600200"/>
          </a:xfrm>
          <a:prstGeom prst="roundRect">
            <a:avLst>
              <a:gd name="adj" fmla="val 12000"/>
            </a:avLst>
          </a:prstGeom>
          <a:solidFill>
            <a:srgbClr val="0B3C6F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3,109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contiguous US counties</a:t>
            </a:r>
          </a:p>
        </p:txBody>
      </p:sp>
      <p:sp>
        <p:nvSpPr>
          <p:cNvPr id="9" name="Arrow"/>
          <p:cNvSpPr/>
          <p:nvPr/>
        </p:nvSpPr>
        <p:spPr>
          <a:xfrm>
            <a:off x="2524292" y="2756916"/>
            <a:ext cx="256032" cy="292608"/>
          </a:xfrm>
          <a:prstGeom prst="rightArrow">
            <a:avLst/>
          </a:prstGeom>
          <a:solidFill>
            <a:srgbClr val="5F6A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ep 2"/>
          <p:cNvSpPr/>
          <p:nvPr/>
        </p:nvSpPr>
        <p:spPr>
          <a:xfrm>
            <a:off x="2844332" y="2103120"/>
            <a:ext cx="1911644" cy="1600200"/>
          </a:xfrm>
          <a:prstGeom prst="roundRect">
            <a:avLst>
              <a:gd name="adj" fmla="val 12000"/>
            </a:avLst>
          </a:prstGeom>
          <a:solidFill>
            <a:srgbClr val="0B3C6F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1,565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pass every hard gate</a:t>
            </a:r>
          </a:p>
        </p:txBody>
      </p:sp>
      <p:sp>
        <p:nvSpPr>
          <p:cNvPr id="11" name="Arrow"/>
          <p:cNvSpPr/>
          <p:nvPr/>
        </p:nvSpPr>
        <p:spPr>
          <a:xfrm>
            <a:off x="4819984" y="2756916"/>
            <a:ext cx="256032" cy="292608"/>
          </a:xfrm>
          <a:prstGeom prst="rightArrow">
            <a:avLst/>
          </a:prstGeom>
          <a:solidFill>
            <a:srgbClr val="5F6A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tep 3"/>
          <p:cNvSpPr/>
          <p:nvPr/>
        </p:nvSpPr>
        <p:spPr>
          <a:xfrm>
            <a:off x="5140024" y="2103120"/>
            <a:ext cx="1911644" cy="1600200"/>
          </a:xfrm>
          <a:prstGeom prst="roundRect">
            <a:avLst>
              <a:gd name="adj" fmla="val 12000"/>
            </a:avLst>
          </a:prstGeom>
          <a:solidFill>
            <a:srgbClr val="0B3C6F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912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clear the pillar floor</a:t>
            </a:r>
          </a:p>
        </p:txBody>
      </p:sp>
      <p:sp>
        <p:nvSpPr>
          <p:cNvPr id="13" name="Arrow"/>
          <p:cNvSpPr/>
          <p:nvPr/>
        </p:nvSpPr>
        <p:spPr>
          <a:xfrm>
            <a:off x="7115676" y="2756916"/>
            <a:ext cx="256032" cy="292608"/>
          </a:xfrm>
          <a:prstGeom prst="rightArrow">
            <a:avLst/>
          </a:prstGeom>
          <a:solidFill>
            <a:srgbClr val="5F6A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tep 4"/>
          <p:cNvSpPr/>
          <p:nvPr/>
        </p:nvSpPr>
        <p:spPr>
          <a:xfrm>
            <a:off x="7435716" y="2103120"/>
            <a:ext cx="1911644" cy="1600200"/>
          </a:xfrm>
          <a:prstGeom prst="roundRect">
            <a:avLst>
              <a:gd name="adj" fmla="val 12000"/>
            </a:avLst>
          </a:prstGeom>
          <a:solidFill>
            <a:srgbClr val="4F82B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$ and t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25-year cost and carbon price the leaders</a:t>
            </a:r>
          </a:p>
        </p:txBody>
      </p:sp>
      <p:sp>
        <p:nvSpPr>
          <p:cNvPr id="15" name="Arrow"/>
          <p:cNvSpPr/>
          <p:nvPr/>
        </p:nvSpPr>
        <p:spPr>
          <a:xfrm>
            <a:off x="9411368" y="2756916"/>
            <a:ext cx="256032" cy="292608"/>
          </a:xfrm>
          <a:prstGeom prst="rightArrow">
            <a:avLst/>
          </a:prstGeom>
          <a:solidFill>
            <a:srgbClr val="5F6A7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tep 5"/>
          <p:cNvSpPr/>
          <p:nvPr/>
        </p:nvSpPr>
        <p:spPr>
          <a:xfrm>
            <a:off x="9731408" y="2103120"/>
            <a:ext cx="1911644" cy="1600200"/>
          </a:xfrm>
          <a:prstGeom prst="roundRect">
            <a:avLst>
              <a:gd name="adj" fmla="val 12000"/>
            </a:avLst>
          </a:prstGeom>
          <a:solidFill>
            <a:srgbClr val="4F82B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Research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power, water, and tax 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094415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46505A"/>
                </a:solidFill>
                <a:latin typeface="Arial"/>
              </a:rPr>
              <a:t>Eight pillars, each a national percentile, weighted (balanced preset):</a:t>
            </a:r>
          </a:p>
        </p:txBody>
      </p:sp>
      <p:sp>
        <p:nvSpPr>
          <p:cNvPr id="18" name="Pillar Energy &amp; carbon"/>
          <p:cNvSpPr/>
          <p:nvPr/>
        </p:nvSpPr>
        <p:spPr>
          <a:xfrm>
            <a:off x="548640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B86200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Energy &amp; carbon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19" name="Pillar Water"/>
          <p:cNvSpPr/>
          <p:nvPr/>
        </p:nvSpPr>
        <p:spPr>
          <a:xfrm>
            <a:off x="1946871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14758F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Water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20" name="Pillar Climate"/>
          <p:cNvSpPr/>
          <p:nvPr/>
        </p:nvSpPr>
        <p:spPr>
          <a:xfrm>
            <a:off x="3345102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B0303F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Climate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21" name="Pillar Grid"/>
          <p:cNvSpPr/>
          <p:nvPr/>
        </p:nvSpPr>
        <p:spPr>
          <a:xfrm>
            <a:off x="4743333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5B4BA0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Grid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22" name="Pillar Land"/>
          <p:cNvSpPr/>
          <p:nvPr/>
        </p:nvSpPr>
        <p:spPr>
          <a:xfrm>
            <a:off x="6141564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5E6E12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Land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7%</a:t>
            </a:r>
          </a:p>
        </p:txBody>
      </p:sp>
      <p:sp>
        <p:nvSpPr>
          <p:cNvPr id="23" name="Pillar Community"/>
          <p:cNvSpPr/>
          <p:nvPr/>
        </p:nvSpPr>
        <p:spPr>
          <a:xfrm>
            <a:off x="7539795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23804F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Community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8%</a:t>
            </a:r>
          </a:p>
        </p:txBody>
      </p:sp>
      <p:sp>
        <p:nvSpPr>
          <p:cNvPr id="24" name="Pillar Permitting"/>
          <p:cNvSpPr/>
          <p:nvPr/>
        </p:nvSpPr>
        <p:spPr>
          <a:xfrm>
            <a:off x="8938026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86523A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Permitting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25" name="Pillar Cost of power"/>
          <p:cNvSpPr/>
          <p:nvPr/>
        </p:nvSpPr>
        <p:spPr>
          <a:xfrm>
            <a:off x="10336257" y="4480560"/>
            <a:ext cx="1306791" cy="868680"/>
          </a:xfrm>
          <a:prstGeom prst="roundRect">
            <a:avLst>
              <a:gd name="adj" fmla="val 12000"/>
            </a:avLst>
          </a:prstGeom>
          <a:solidFill>
            <a:srgbClr val="9A3A8C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Cost of power</a:t>
            </a:r>
          </a:p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 i="0">
                <a:solidFill>
                  <a:srgbClr val="5F6A74"/>
                </a:solidFill>
                <a:latin typeface="Arial"/>
              </a:rPr>
              <a:t>Not machine learning: stated weights, tested for robustness on slide 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SUSTAINABILITY IMPACT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Dry cooling cuts water 87%. State law forces power clean by 2045.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etl/impact.py and research/impact.md (300 MW IT, load factor 0.8; PUE and WUE from Lei and Masanet); eGRID2023; RCW 19.405; Washington Data Center Workgroup Preliminary Report (Dec. 2025), Finding 19, p. 13.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965960"/>
          <a:ext cx="5318607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324447" y="1965960"/>
          <a:ext cx="5318607" cy="2880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Quote"/>
          <p:cNvSpPr/>
          <p:nvPr/>
        </p:nvSpPr>
        <p:spPr>
          <a:xfrm>
            <a:off x="548640" y="4983480"/>
            <a:ext cx="5318607" cy="114300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Quote bar"/>
          <p:cNvSpPr/>
          <p:nvPr/>
        </p:nvSpPr>
        <p:spPr>
          <a:xfrm>
            <a:off x="548640" y="4983480"/>
            <a:ext cx="73152" cy="114300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Quote text"/>
          <p:cNvSpPr txBox="1"/>
          <p:nvPr/>
        </p:nvSpPr>
        <p:spPr>
          <a:xfrm>
            <a:off x="822960" y="5093208"/>
            <a:ext cx="4861407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0" i="0">
                <a:solidFill>
                  <a:srgbClr val="111518"/>
                </a:solidFill>
                <a:latin typeface="Arial"/>
              </a:rPr>
              <a:t>“The direct water requirements of data centers can be substantial, depending on the size and type of cooling system used.”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46505A"/>
                </a:solidFill>
                <a:latin typeface="Arial"/>
              </a:rPr>
              <a:t>Washington Data Center Workgroup, Dec. 2025</a:t>
            </a:r>
          </a:p>
        </p:txBody>
      </p:sp>
      <p:sp>
        <p:nvSpPr>
          <p:cNvPr id="13" name="Bullets"/>
          <p:cNvSpPr txBox="1"/>
          <p:nvPr/>
        </p:nvSpPr>
        <p:spPr>
          <a:xfrm>
            <a:off x="6324447" y="5074920"/>
            <a:ext cx="5318607" cy="10058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Shown before funded supply. State law: 100% clean by 2045.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HOW THE PICK CHANGED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Corrections moved our pick. The last one cut against Grant.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docs/figures/facts.json (pick_story; same data as docs/figures/pick_story.png); research/implementation.md (BPA new-load rate, BP-26 rate schedules); research/permitting_model.md; data/processed/permitting_validation.json.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2331720"/>
          <a:ext cx="630936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1920240"/>
            <a:ext cx="6309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800" b="1" i="0">
                <a:solidFill>
                  <a:srgbClr val="111518"/>
                </a:solidFill>
                <a:latin typeface="Arial"/>
              </a:rPr>
              <a:t>Balanced-preset rank at each step</a:t>
            </a:r>
          </a:p>
        </p:txBody>
      </p:sp>
      <p:sp>
        <p:nvSpPr>
          <p:cNvPr id="10" name="Bullets"/>
          <p:cNvSpPr txBox="1"/>
          <p:nvPr/>
        </p:nvSpPr>
        <p:spPr>
          <a:xfrm>
            <a:off x="7132320" y="2103120"/>
            <a:ext cx="4510735" cy="2926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Massachusetts closed a tax exemption: Berkshire fell to 5th.</a:t>
            </a:r>
          </a:p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Power cost as its own pillar: Grant 9th to 1st.</a:t>
            </a:r>
          </a:p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New-load power prices raise Grant's bill to $196–323M.</a:t>
            </a:r>
          </a:p>
        </p:txBody>
      </p:sp>
      <p:sp>
        <p:nvSpPr>
          <p:cNvPr id="11" name="Dropped"/>
          <p:cNvSpPr/>
          <p:nvPr/>
        </p:nvSpPr>
        <p:spPr>
          <a:xfrm>
            <a:off x="7132320" y="5074920"/>
            <a:ext cx="4510735" cy="118872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 wrap="square" lIns="164592" rIns="164592" tIns="36576" bIns="36576"/>
          <a:lstStyle/>
          <a:p>
            <a:pPr algn="l"/>
            <a:r>
              <a:rPr sz="1300" b="1" i="0">
                <a:solidFill>
                  <a:srgbClr val="D9532B"/>
                </a:solidFill>
                <a:latin typeface="Arial"/>
              </a:rPr>
              <a:t>TESTED AND DROPPED</a:t>
            </a:r>
          </a:p>
          <a:p>
            <a:pPr algn="l"/>
            <a:r>
              <a:rPr sz="1700" b="0" i="0">
                <a:solidFill>
                  <a:srgbClr val="111518"/>
                </a:solidFill>
                <a:latin typeface="Arial"/>
              </a:rPr>
              <a:t>Permitting ML model: out-of-sample AUC 0.48–0.59, below our 0.60 bar.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ROBUSTNESS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Grant makes the top 10 under more weightings than any county.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SMAA over the engine's eight pillars, 5,000 Dirichlet weight draws, floor on (scratch/weighting/out/smaa_acceptability.csv; docs/weighting.md); results/balanced.csv (robustness).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6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2011680"/>
          <a:ext cx="603504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Bullets"/>
          <p:cNvSpPr txBox="1"/>
          <p:nvPr/>
        </p:nvSpPr>
        <p:spPr>
          <a:xfrm>
            <a:off x="6903720" y="2103120"/>
            <a:ext cx="4739335" cy="2743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5,000 random weightings: we chose none of them.</a:t>
            </a:r>
          </a:p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No county wins most: the top three each win 11–13%.</a:t>
            </a:r>
          </a:p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Near our weights, Grant stays top 10 in 99.9%.</a:t>
            </a:r>
          </a:p>
        </p:txBody>
      </p:sp>
      <p:sp>
        <p:nvSpPr>
          <p:cNvPr id="10" name="Line"/>
          <p:cNvSpPr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900" b="1" i="0">
                <a:solidFill>
                  <a:srgbClr val="0B3C6F"/>
                </a:solidFill>
                <a:latin typeface="Arial"/>
              </a:rPr>
              <a:t>We didn't tune the weights to get our answer. We tested whether our answer depends on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RISK AND WIN CONDITION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Grant's case rests on one thing: full power by about 2029.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Grant PUD data center FAQ (2026-08-28); research/risk.md; docs/weighting.md; protected land and tribal rows from research/risk.md on branch fix/sensitive-land (d2ed911, not yet on main; PAD-US 4.1).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965960"/>
          <a:ext cx="5120640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Quote"/>
          <p:cNvSpPr/>
          <p:nvPr/>
        </p:nvSpPr>
        <p:spPr>
          <a:xfrm>
            <a:off x="548640" y="4297680"/>
            <a:ext cx="5120640" cy="91440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Quote bar"/>
          <p:cNvSpPr/>
          <p:nvPr/>
        </p:nvSpPr>
        <p:spPr>
          <a:xfrm>
            <a:off x="548640" y="4297680"/>
            <a:ext cx="73152" cy="91440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Quote text"/>
          <p:cNvSpPr txBox="1"/>
          <p:nvPr/>
        </p:nvSpPr>
        <p:spPr>
          <a:xfrm>
            <a:off x="822960" y="4407408"/>
            <a:ext cx="4663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600" b="0" i="0">
                <a:solidFill>
                  <a:srgbClr val="111518"/>
                </a:solidFill>
                <a:latin typeface="Arial"/>
              </a:rPr>
              <a:t>“…service cannot always be provided as quickly as customers or developers may prefer.”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46505A"/>
                </a:solidFill>
                <a:latin typeface="Arial"/>
              </a:rPr>
              <a:t>Grant County PUD, Aug. 2026</a:t>
            </a:r>
          </a:p>
        </p:txBody>
      </p:sp>
      <p:sp>
        <p:nvSpPr>
          <p:cNvPr id="12" name="Risk HIGH"/>
          <p:cNvSpPr/>
          <p:nvPr/>
        </p:nvSpPr>
        <p:spPr>
          <a:xfrm>
            <a:off x="5989320" y="219456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D9532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HIGH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011680"/>
            <a:ext cx="4373575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Power: no spare hydro; ~800 MW of requests queued ahead.</a:t>
            </a:r>
          </a:p>
        </p:txBody>
      </p:sp>
      <p:sp>
        <p:nvSpPr>
          <p:cNvPr id="14" name="Risk MEDIUM"/>
          <p:cNvSpPr/>
          <p:nvPr/>
        </p:nvSpPr>
        <p:spPr>
          <a:xfrm>
            <a:off x="5989320" y="3264408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B86200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081528"/>
            <a:ext cx="4373575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Heat: days above 95°F rise from 14 to 36 by 2050.</a:t>
            </a:r>
          </a:p>
        </p:txBody>
      </p:sp>
      <p:sp>
        <p:nvSpPr>
          <p:cNvPr id="16" name="Risk LOW"/>
          <p:cNvSpPr/>
          <p:nvPr/>
        </p:nvSpPr>
        <p:spPr>
          <a:xfrm>
            <a:off x="5989320" y="4334256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23804F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51376"/>
            <a:ext cx="4373575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Protected land, tribal sites: checked by hand; consult early.</a:t>
            </a:r>
          </a:p>
        </p:txBody>
      </p:sp>
      <p:sp>
        <p:nvSpPr>
          <p:cNvPr id="18" name="Win condition"/>
          <p:cNvSpPr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 wrap="square" lIns="228600" rIns="228600" tIns="36576" bIns="36576"/>
          <a:lstStyle/>
          <a:p>
            <a:pPr algn="l"/>
            <a:r>
              <a:rPr sz="1400" b="1" i="0">
                <a:solidFill>
                  <a:srgbClr val="DCE3EA"/>
                </a:solidFill>
                <a:latin typeface="Arial"/>
              </a:rPr>
              <a:t>WIN CONDITION  </a:t>
            </a:r>
            <a:r>
              <a:rPr sz="1900" b="1" i="0">
                <a:solidFill>
                  <a:srgbClr val="FFFFFF"/>
                </a:solidFill>
                <a:latin typeface="Arial"/>
              </a:rPr>
              <a:t>In 25-year dollars Grant ties Clark WA and Franklin NY. Each month of power delay costs about $25M.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THE 30-YEAR PLAN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Phase in behind new transmission, fund new clean supply, use no evaporative water.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research/implementation.md (Columbia Basin Herald 2025-03-31, Rye Development, RCW 19.405, ASHRAE liquid cooling classes, Ramboll Odense case); Grant PUD Data Center FAQs (Aug. 28, 2026), Q5.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8</a:t>
            </a:r>
          </a:p>
        </p:txBody>
      </p:sp>
      <p:sp>
        <p:nvSpPr>
          <p:cNvPr id="8" name="Timeline"/>
          <p:cNvSpPr/>
          <p:nvPr/>
        </p:nvSpPr>
        <p:spPr>
          <a:xfrm>
            <a:off x="822960" y="2586990"/>
            <a:ext cx="10545775" cy="3810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Milestone 2027"/>
          <p:cNvSpPr/>
          <p:nvPr/>
        </p:nvSpPr>
        <p:spPr>
          <a:xfrm>
            <a:off x="1530065" y="2478024"/>
            <a:ext cx="256032" cy="256032"/>
          </a:xfrm>
          <a:prstGeom prst="ellipse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218883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 i="0">
                <a:solidFill>
                  <a:srgbClr val="0B3C6F"/>
                </a:solidFill>
                <a:latin typeface="Arial"/>
              </a:rPr>
              <a:t>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807208"/>
            <a:ext cx="2072579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600" b="0" i="0">
                <a:solidFill>
                  <a:srgbClr val="111518"/>
                </a:solidFill>
                <a:latin typeface="Arial"/>
              </a:rPr>
              <a:t>Quincy transmission upgrade. Phase 1 energizes.</a:t>
            </a:r>
          </a:p>
        </p:txBody>
      </p:sp>
      <p:sp>
        <p:nvSpPr>
          <p:cNvPr id="12" name="Milestone 2029"/>
          <p:cNvSpPr/>
          <p:nvPr/>
        </p:nvSpPr>
        <p:spPr>
          <a:xfrm>
            <a:off x="3748948" y="2478024"/>
            <a:ext cx="256032" cy="256032"/>
          </a:xfrm>
          <a:prstGeom prst="ellipse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7523" y="1920240"/>
            <a:ext cx="2218883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 i="0">
                <a:solidFill>
                  <a:srgbClr val="0B3C6F"/>
                </a:solidFill>
                <a:latin typeface="Arial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0675" y="2807208"/>
            <a:ext cx="2072579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600" b="0" i="0">
                <a:solidFill>
                  <a:srgbClr val="111518"/>
                </a:solidFill>
                <a:latin typeface="Arial"/>
              </a:rPr>
              <a:t>Wanapum–Quincy line. Grow toward 300 MW.</a:t>
            </a:r>
          </a:p>
        </p:txBody>
      </p:sp>
      <p:sp>
        <p:nvSpPr>
          <p:cNvPr id="15" name="Milestone 2030"/>
          <p:cNvSpPr/>
          <p:nvPr/>
        </p:nvSpPr>
        <p:spPr>
          <a:xfrm>
            <a:off x="5967831" y="2478024"/>
            <a:ext cx="256032" cy="256032"/>
          </a:xfrm>
          <a:prstGeom prst="ellipse">
            <a:avLst/>
          </a:prstGeom>
          <a:solidFill>
            <a:srgbClr val="4F82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6406" y="1920240"/>
            <a:ext cx="2218883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 i="0">
                <a:solidFill>
                  <a:srgbClr val="0B3C6F"/>
                </a:solidFill>
                <a:latin typeface="Arial"/>
              </a:rPr>
              <a:t>2030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9558" y="2807208"/>
            <a:ext cx="2072579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600" b="0" i="0">
                <a:solidFill>
                  <a:srgbClr val="111518"/>
                </a:solidFill>
                <a:latin typeface="Arial"/>
              </a:rPr>
              <a:t>State law: utility sales GHG-neutral.</a:t>
            </a:r>
          </a:p>
        </p:txBody>
      </p:sp>
      <p:sp>
        <p:nvSpPr>
          <p:cNvPr id="18" name="Milestone 2030s"/>
          <p:cNvSpPr/>
          <p:nvPr/>
        </p:nvSpPr>
        <p:spPr>
          <a:xfrm>
            <a:off x="8186714" y="2478024"/>
            <a:ext cx="256032" cy="256032"/>
          </a:xfrm>
          <a:prstGeom prst="ellipse">
            <a:avLst/>
          </a:prstGeom>
          <a:solidFill>
            <a:srgbClr val="4F82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289" y="1920240"/>
            <a:ext cx="2218883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 i="0">
                <a:solidFill>
                  <a:srgbClr val="0B3C6F"/>
                </a:solidFill>
                <a:latin typeface="Arial"/>
              </a:rPr>
              <a:t>2030s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441" y="2807208"/>
            <a:ext cx="2072579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600" b="0" i="0">
                <a:solidFill>
                  <a:srgbClr val="111518"/>
                </a:solidFill>
                <a:latin typeface="Arial"/>
              </a:rPr>
              <a:t>Firm clean supply: pumped storage.</a:t>
            </a:r>
          </a:p>
        </p:txBody>
      </p:sp>
      <p:sp>
        <p:nvSpPr>
          <p:cNvPr id="21" name="Milestone 2045"/>
          <p:cNvSpPr/>
          <p:nvPr/>
        </p:nvSpPr>
        <p:spPr>
          <a:xfrm>
            <a:off x="10405597" y="2478024"/>
            <a:ext cx="256032" cy="256032"/>
          </a:xfrm>
          <a:prstGeom prst="ellipse">
            <a:avLst/>
          </a:prstGeom>
          <a:solidFill>
            <a:srgbClr val="4F82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4172" y="1920240"/>
            <a:ext cx="2218883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 i="0">
                <a:solidFill>
                  <a:srgbClr val="0B3C6F"/>
                </a:solidFill>
                <a:latin typeface="Arial"/>
              </a:rPr>
              <a:t>2045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97324" y="2807208"/>
            <a:ext cx="2072579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600" b="0" i="0">
                <a:solidFill>
                  <a:srgbClr val="111518"/>
                </a:solidFill>
                <a:latin typeface="Arial"/>
              </a:rPr>
              <a:t>State law: 100% clean retail power.</a:t>
            </a:r>
          </a:p>
        </p:txBody>
      </p:sp>
      <p:sp>
        <p:nvSpPr>
          <p:cNvPr id="24" name="Card POWER"/>
          <p:cNvSpPr/>
          <p:nvPr/>
        </p:nvSpPr>
        <p:spPr>
          <a:xfrm>
            <a:off x="548640" y="3703320"/>
            <a:ext cx="3515258" cy="137160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 wrap="square" lIns="201168" rIns="201168" tIns="36576" bIns="36576"/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POWER</a:t>
            </a:r>
          </a:p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About 1 GW of new solar matches annual use, not hourly.</a:t>
            </a:r>
          </a:p>
        </p:txBody>
      </p:sp>
      <p:sp>
        <p:nvSpPr>
          <p:cNvPr id="25" name="Card rule"/>
          <p:cNvSpPr/>
          <p:nvPr/>
        </p:nvSpPr>
        <p:spPr>
          <a:xfrm>
            <a:off x="548640" y="3703320"/>
            <a:ext cx="3515258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Card COOLING"/>
          <p:cNvSpPr/>
          <p:nvPr/>
        </p:nvSpPr>
        <p:spPr>
          <a:xfrm>
            <a:off x="4338218" y="3703320"/>
            <a:ext cx="3515258" cy="137160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 wrap="square" lIns="201168" rIns="201168" tIns="36576" bIns="36576"/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COOLING</a:t>
            </a:r>
          </a:p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Closed-loop liquid, dry coolers: 28M gallons a year.</a:t>
            </a:r>
          </a:p>
        </p:txBody>
      </p:sp>
      <p:sp>
        <p:nvSpPr>
          <p:cNvPr id="27" name="Card rule"/>
          <p:cNvSpPr/>
          <p:nvPr/>
        </p:nvSpPr>
        <p:spPr>
          <a:xfrm>
            <a:off x="4338218" y="3703320"/>
            <a:ext cx="3515258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Card HEAT REUSE"/>
          <p:cNvSpPr/>
          <p:nvPr/>
        </p:nvSpPr>
        <p:spPr>
          <a:xfrm>
            <a:off x="8127796" y="3703320"/>
            <a:ext cx="3515258" cy="137160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 wrap="square" lIns="201168" rIns="201168" tIns="36576" bIns="36576"/>
          <a:lstStyle/>
          <a:p>
            <a:pPr algn="l"/>
            <a:r>
              <a:rPr sz="1400" b="1" i="0">
                <a:solidFill>
                  <a:srgbClr val="0B3C6F"/>
                </a:solidFill>
                <a:latin typeface="Arial"/>
              </a:rPr>
              <a:t>HEAT REUSE</a:t>
            </a:r>
          </a:p>
          <a:p>
            <a:pPr algn="l"/>
            <a:r>
              <a:rPr sz="1900" b="0" i="0">
                <a:solidFill>
                  <a:srgbClr val="111518"/>
                </a:solidFill>
                <a:latin typeface="Arial"/>
              </a:rPr>
              <a:t>45–65°C return water feeds a neighboring food processor.</a:t>
            </a:r>
          </a:p>
        </p:txBody>
      </p:sp>
      <p:sp>
        <p:nvSpPr>
          <p:cNvPr id="29" name="Card rule"/>
          <p:cNvSpPr/>
          <p:nvPr/>
        </p:nvSpPr>
        <p:spPr>
          <a:xfrm>
            <a:off x="8127796" y="3703320"/>
            <a:ext cx="3515258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Quote"/>
          <p:cNvSpPr/>
          <p:nvPr/>
        </p:nvSpPr>
        <p:spPr>
          <a:xfrm>
            <a:off x="548640" y="5212080"/>
            <a:ext cx="11094415" cy="914400"/>
          </a:xfrm>
          <a:prstGeom prst="rect">
            <a:avLst/>
          </a:prstGeom>
          <a:solidFill>
            <a:srgbClr val="F3F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Quote bar"/>
          <p:cNvSpPr/>
          <p:nvPr/>
        </p:nvSpPr>
        <p:spPr>
          <a:xfrm>
            <a:off x="548640" y="5212080"/>
            <a:ext cx="73152" cy="91440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Quote text"/>
          <p:cNvSpPr txBox="1"/>
          <p:nvPr/>
        </p:nvSpPr>
        <p:spPr>
          <a:xfrm>
            <a:off x="822960" y="5321808"/>
            <a:ext cx="10637215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0" i="0">
                <a:solidFill>
                  <a:srgbClr val="111518"/>
                </a:solidFill>
                <a:latin typeface="Arial"/>
              </a:rPr>
              <a:t>“Large power users, including data centers, are responsible for paying the costs of additional generation, transmission, and distribution infrastructure needed specifically to serve their loads.”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46505A"/>
                </a:solidFill>
                <a:latin typeface="Arial"/>
              </a:rPr>
              <a:t>Grant County PUD, Aug.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THE ENGINE IS THE PRODUCT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Change one condition and the engine gives a new, explained answer.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engine/conditions/balanced.yaml with cooling: evaporative (rerun in docs/deck_build_log.md step 1); docs/demo_script.md; WRI Aqueduct 4.0 water stress.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2011680"/>
          <a:ext cx="512064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Bullets"/>
          <p:cNvSpPr txBox="1"/>
          <p:nvPr/>
        </p:nvSpPr>
        <p:spPr>
          <a:xfrm>
            <a:off x="5989320" y="2103120"/>
            <a:ext cx="5653735" cy="26517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Evaporative cooling switches on a water-stress gate.</a:t>
            </a:r>
          </a:p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Grant (water stress 3.6 of 5) drops out.</a:t>
            </a:r>
          </a:p>
          <a:p>
            <a:pPr marL="292608" indent="-292608">
              <a:lnSpc>
                <a:spcPct val="105000"/>
              </a:lnSpc>
              <a:spcAft>
                <a:spcPts val="14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000" b="0" i="0">
                <a:solidFill>
                  <a:srgbClr val="111518"/>
                </a:solidFill>
                <a:latin typeface="Arial"/>
              </a:rPr>
              <a:t>One conditions file in; ranked, explained shortlist out.</a:t>
            </a:r>
          </a:p>
        </p:txBody>
      </p:sp>
      <p:sp>
        <p:nvSpPr>
          <p:cNvPr id="10" name="Hand-off"/>
          <p:cNvSpPr/>
          <p:nvPr/>
        </p:nvSpPr>
        <p:spPr>
          <a:xfrm>
            <a:off x="548640" y="5257800"/>
            <a:ext cx="11094415" cy="1051560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 wrap="square" lIns="274320" rIns="274320" tIns="36576" bIns="36576"/>
          <a:lstStyle/>
          <a:p>
            <a:pPr algn="l"/>
            <a:r>
              <a:rPr sz="1600" b="1" i="0">
                <a:solidFill>
                  <a:srgbClr val="DCE3EA"/>
                </a:solidFill>
                <a:latin typeface="Arial"/>
              </a:rPr>
              <a:t>LIVE DEMO  →  </a:t>
            </a:r>
            <a:r>
              <a:rPr sz="2400" b="1" i="0">
                <a:solidFill>
                  <a:srgbClr val="FFFFFF"/>
                </a:solidFill>
                <a:latin typeface="Arial"/>
              </a:rPr>
              <a:t>Conditions in. A ranked, explained shortlist 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APPENDIX A1 · WHY TONNES, NOT PERCENTILES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Percentile pillars squeeze a 2.7x carbon gap into 10 points.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engine pillar scores on main 23bb71c (docs/deck_build_log.md step 1); research/impact.md (dry cooling, eGRID2023 subregion rates); docs/weighting.md.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2011680"/>
          <a:ext cx="5318607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324447" y="2011680"/>
          <a:ext cx="5318607" cy="31089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Bullets"/>
          <p:cNvSpPr txBox="1"/>
          <p:nvPr/>
        </p:nvSpPr>
        <p:spPr>
          <a:xfrm>
            <a:off x="548640" y="5303520"/>
            <a:ext cx="11094415" cy="10058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The pillar blends grid rate with nearby clean capacity.</a:t>
            </a:r>
          </a:p>
          <a:p>
            <a:pPr marL="292608" indent="-292608">
              <a:lnSpc>
                <a:spcPct val="105000"/>
              </a:lnSpc>
              <a:spcAft>
                <a:spcPts val="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With BPA-like supply, Grant is 236k t, below Franklin.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APPENDIX A2 · THREE-COUNTY TIE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In 25-year dollars, three counties tie within 1.1%. Each has a win condition.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docs/weighting.md (Recommendation; What each county needs to win; With and without tax), scratch/weighting/out/monetize_summary.json and montecarlo_summary*.json. 300 MW IT, 25 years at 7%, $190/t CO2.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11680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6339535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Arial"/>
                        </a:rPr>
                        <a:t>County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Arial"/>
                        </a:rPr>
                        <a:t>25-year cost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Arial"/>
                        </a:rPr>
                        <a:t>Wins when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11518"/>
                          </a:solidFill>
                          <a:latin typeface="Arial"/>
                        </a:rPr>
                        <a:t>Grant, WA (featured)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$4.452B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Full 300 MW within about 10 to 12 months of a 2-year baseline.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11518"/>
                          </a:solidFill>
                          <a:latin typeface="Arial"/>
                        </a:rPr>
                        <a:t>Clark, WA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$4.405B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Parcel outside the transit district (8.0% sales tax) and power in about 2.25 years.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11518"/>
                          </a:solidFill>
                          <a:latin typeface="Arial"/>
                        </a:rPr>
                        <a:t>Franklin, NY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$4.454B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518"/>
                          </a:solidFill>
                          <a:latin typeface="Arial"/>
                        </a:rPr>
                        <a:t>New York's data center sales tax exemption applies to the campus.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Bullets"/>
          <p:cNvSpPr txBox="1"/>
          <p:nvPr/>
        </p:nvSpPr>
        <p:spPr>
          <a:xfrm>
            <a:off x="548640" y="4892040"/>
            <a:ext cx="11094415" cy="14630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With tax, full-exemption states price cheaper; those flags are unverified.</a:t>
            </a:r>
          </a:p>
          <a:p>
            <a:pPr marL="292608" indent="-292608">
              <a:lnSpc>
                <a:spcPct val="105000"/>
              </a:lnSpc>
              <a:spcAft>
                <a:spcPts val="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1900" b="0" i="0">
                <a:solidFill>
                  <a:srgbClr val="111518"/>
                </a:solidFill>
                <a:latin typeface="Arial"/>
              </a:rPr>
              <a:t>Shortlist ranks with tax: Clark 73, Grant 78, Franklin 80.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APPENDIX A3 · WEIGHTS BY METHOD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Five ways to weight the pillars disagree. That's why we test, not tune.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docs/weighting.md (Weights by method); scratch/weighting/out/. Monetized: share of 25-year cost variance at $190/t with tax, negatives set to 0. CRITIC and entropy: column weights summed by pillar.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2011680"/>
          <a:ext cx="11094415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APPENDIX A4 · DATA SOURCES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Every county is scored from public data. Proxies are labeled as proxies.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docs/deck.md (Data); data/processed/county_features.manifest.json (sources and versions); docs/schema.md; engine/pillars.yaml.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11680"/>
          <a:ext cx="1109441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68335"/>
              </a:tblGrid>
              <a:tr h="477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Pillar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Sources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Energy and carbon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eGRID2023 subregions; LBNL interconnection queue; NREL WIND Toolkit; eGRID plants within 100 km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Water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US Drought Monitor; FEMA NRI; WRI Aqueduct 4.0; CMRA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Climate resilience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FEMA NRI loss rates; CMRA projections (LOCA-downscaled CMIP5)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Grid and infrastructure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LBNL queue; FCC fiber; FracTracker; EIA-860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Cost of power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EIA-861 state industrial prices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Land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Census TIGER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Community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ACS; BLS LAUS; BEA 1969 employment; Census history since 1950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Permitting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EPA Green Book; hand-coded state policy tables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APPENDIX A5 · LIMITATIONS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The engine screens on what's installed and average. Feasibility decides.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docs/deck.md (Limitations); docs/figures/facts.json (limitations, weights); research/risk.md; research/implementation.md; docs/conditions.md.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A5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548640" y="2103120"/>
            <a:ext cx="640080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292608" indent="-292608">
              <a:lnSpc>
                <a:spcPct val="105000"/>
              </a:lnSpc>
              <a:spcAft>
                <a:spcPts val="1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100" b="0" i="0">
                <a:solidFill>
                  <a:srgbClr val="111518"/>
                </a:solidFill>
                <a:latin typeface="Arial"/>
              </a:rPr>
              <a:t>Installed isn't available: 16,193 MW nearby, none spare.</a:t>
            </a:r>
          </a:p>
          <a:p>
            <a:pPr marL="292608" indent="-292608">
              <a:lnSpc>
                <a:spcPct val="105000"/>
              </a:lnSpc>
              <a:spcAft>
                <a:spcPts val="1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100" b="0" i="0">
                <a:solidFill>
                  <a:srgbClr val="111518"/>
                </a:solidFill>
                <a:latin typeface="Arial"/>
              </a:rPr>
              <a:t>Price is a state average; a new large load pays more.</a:t>
            </a:r>
          </a:p>
          <a:p>
            <a:pPr marL="292608" indent="-292608">
              <a:lnSpc>
                <a:spcPct val="105000"/>
              </a:lnSpc>
              <a:spcAft>
                <a:spcPts val="1800"/>
              </a:spcAft>
              <a:buClr>
                <a:srgbClr val="0B3C6F"/>
              </a:buClr>
              <a:buSzPct val="100000"/>
              <a:buFont typeface="Arial"/>
              <a:buChar char="■"/>
            </a:pPr>
            <a:r>
              <a:rPr sz="2100" b="0" i="0">
                <a:solidFill>
                  <a:srgbClr val="111518"/>
                </a:solidFill>
                <a:latin typeface="Arial"/>
              </a:rPr>
              <a:t>First place leads by 0.5 points; robustness carries the claim.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2103120"/>
          <a:ext cx="43278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16175"/>
              </a:tblGrid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Proxy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Stands in for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Last-mile fiber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Backbone fiber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Plants within 100 km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Deliverable power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State average price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New-load rate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Heat-sink score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Heat reuse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Queue age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Time to power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518"/>
                          </a:solidFill>
                          <a:latin typeface="Arial"/>
                        </a:rPr>
                        <a:t>State permitting values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518"/>
                          </a:solidFill>
                          <a:latin typeface="Arial"/>
                        </a:rPr>
                        <a:t>Local permitting risk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548640" y="384048"/>
            <a:ext cx="457200" cy="64008"/>
          </a:xfrm>
          <a:prstGeom prst="rect">
            <a:avLst/>
          </a:prstGeom>
          <a:solidFill>
            <a:srgbClr val="0B3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ction tag"/>
          <p:cNvSpPr txBox="1"/>
          <p:nvPr/>
        </p:nvSpPr>
        <p:spPr>
          <a:xfrm>
            <a:off x="548640" y="47548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B3C6F"/>
                </a:solidFill>
                <a:latin typeface="Arial"/>
              </a:rPr>
              <a:t>APPENDIX A6 · THE ENGINE EXTENDS</a:t>
            </a:r>
          </a:p>
        </p:txBody>
      </p:sp>
      <p:sp>
        <p:nvSpPr>
          <p:cNvPr id="4" name="Headline"/>
          <p:cNvSpPr txBox="1"/>
          <p:nvPr/>
        </p:nvSpPr>
        <p:spPr>
          <a:xfrm>
            <a:off x="548640" y="804672"/>
            <a:ext cx="11094415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11518"/>
                </a:solidFill>
                <a:latin typeface="Arial"/>
              </a:rPr>
              <a:t>Same engine, new region or new question: countries, and industrial reuse.</a:t>
            </a:r>
          </a:p>
        </p:txBody>
      </p:sp>
      <p:sp>
        <p:nvSpPr>
          <p:cNvPr id="5" name="Rule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D3D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 line"/>
          <p:cNvSpPr txBox="1"/>
          <p:nvPr/>
        </p:nvSpPr>
        <p:spPr>
          <a:xfrm>
            <a:off x="548640" y="6327648"/>
            <a:ext cx="10362895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5F6A74"/>
                </a:solidFill>
                <a:latin typeface="Arial"/>
              </a:rPr>
              <a:t>Sources: docs/global.md; results/global_balanced.csv; docs/figures/global_table.png; docs/industrial_reuse.md; docs/demo_script.md (Boone County, IL; BLS QCEW private manufacturing jobs).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1002975" y="6327648"/>
            <a:ext cx="640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5F6A74"/>
                </a:solidFill>
                <a:latin typeface="Arial"/>
              </a:rPr>
              <a:t>A6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1860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196 countries: 83 pass the gates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423160"/>
          <a:ext cx="5318607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09647"/>
                <a:gridCol w="1097280"/>
                <a:gridCol w="1097280"/>
              </a:tblGrid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Country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91440" marR="91440" anchor="ctr">
                    <a:solidFill>
                      <a:srgbClr val="0B3C6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Sweden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81.6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Switzerland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81.1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Norway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Finland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78.8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Denmark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77.8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51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United States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59.5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51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91440" marR="91440" anchor="ctr">
                    <a:solidFill>
                      <a:srgbClr val="F3F5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4447" y="2011680"/>
          <a:ext cx="5318607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24447" y="5212080"/>
            <a:ext cx="5318607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 i="0">
                <a:solidFill>
                  <a:srgbClr val="111518"/>
                </a:solidFill>
                <a:latin typeface="Arial"/>
              </a:rPr>
              <a:t>Economic need is not evidence of community support.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te engine">
      <a:dk1>
        <a:srgbClr val="111518"/>
      </a:dk1>
      <a:lt1>
        <a:srgbClr val="FFFFFF"/>
      </a:lt1>
      <a:dk2>
        <a:srgbClr val="0B3C6F"/>
      </a:dk2>
      <a:lt2>
        <a:srgbClr val="F3F5F4"/>
      </a:lt2>
      <a:accent1>
        <a:srgbClr val="0B3C6F"/>
      </a:accent1>
      <a:accent2>
        <a:srgbClr val="4F82BD"/>
      </a:accent2>
      <a:accent3>
        <a:srgbClr val="D9532B"/>
      </a:accent3>
      <a:accent4>
        <a:srgbClr val="8E8F8A"/>
      </a:accent4>
      <a:accent5>
        <a:srgbClr val="14758F"/>
      </a:accent5>
      <a:accent6>
        <a:srgbClr val="23804F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