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Data centers' share of US power</a:t>
            </a:r>
          </a:p>
        </c:rich>
      </c:tx>
      <c:layout/>
      <c:overlay val="0"/>
    </c:title>
    <c:autoTitleDeleted val="0"/>
    <c:plotArea>
      <c:barChart>
        <c:barDir val="col"/>
        <c:grouping val="clustered"/>
        <c:varyColors val="0"/>
        <c:ser>
          <c:idx val="0"/>
          <c:order val="0"/>
          <c:tx>
            <c:strRef>
              <c:f>Sheet1!$B$1</c:f>
              <c:strCache>
                <c:ptCount val="1"/>
                <c:pt idx="0">
                  <c:v>Value</c:v>
                </c:pt>
              </c:strCache>
            </c:strRef>
          </c:tx>
          <c:dPt>
            <c:idx val="0"/>
            <c:spPr>
              <a:solidFill>
                <a:srgbClr val="0B3C6F"/>
              </a:solidFill>
            </c:spPr>
          </c:dPt>
          <c:dPt>
            <c:idx val="1"/>
            <c:spPr>
              <a:solidFill>
                <a:srgbClr val="4F82BD"/>
              </a:solidFill>
            </c:spPr>
          </c:dPt>
          <c:dPt>
            <c:idx val="2"/>
            <c:spPr>
              <a:solidFill>
                <a:srgbClr val="4F82BD"/>
              </a:solidFill>
            </c:spPr>
          </c:dPt>
          <c:cat>
            <c:strRef>
              <c:f>Sheet1!$A$2:$A$4</c:f>
              <c:strCache>
                <c:ptCount val="3"/>
                <c:pt idx="0">
                  <c:v>2023</c:v>
                </c:pt>
                <c:pt idx="1">
                  <c:v>2028, low case</c:v>
                </c:pt>
                <c:pt idx="2">
                  <c:v>2028, high case</c:v>
                </c:pt>
              </c:strCache>
            </c:strRef>
          </c:cat>
          <c:val>
            <c:numRef>
              <c:f>Sheet1!$B$2:$B$4</c:f>
              <c:numCache>
                <c:formatCode>General</c:formatCode>
                <c:ptCount val="3"/>
                <c:pt idx="0">
                  <c:v>4.4</c:v>
                </c:pt>
                <c:pt idx="1">
                  <c:v>6.7</c:v>
                </c:pt>
                <c:pt idx="2">
                  <c:v>12.0</c:v>
                </c:pt>
              </c:numCache>
            </c:numRef>
          </c:val>
        </c:ser>
        <c:dLbls>
          <c:numFmt formatCode="0.0&quot;%&quot;" sourceLinked="0"/>
          <c:txPr>
            <a:bodyPr/>
            <a:lstStyle/>
            <a:p>
              <a:pPr>
                <a:defRPr sz="2200" b="1">
                  <a:solidFill>
                    <a:srgbClr val="111518"/>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3D8D6"/>
            </a:solidFill>
          </a:ln>
        </c:spPr>
        <c:txPr>
          <a:bodyPr/>
          <a:lstStyle/>
          <a:p>
            <a:pPr>
              <a:defRPr sz="1800">
                <a:solidFill>
                  <a:srgbClr val="111518"/>
                </a:solidFill>
              </a:defRPr>
            </a:pPr>
          </a:p>
        </c:txPr>
        <c:crossAx val="-2113994440"/>
        <c:crosses val="autoZero"/>
        <c:auto val="1"/>
        <c:lblAlgn val="ctr"/>
        <c:lblOffset val="100"/>
        <c:noMultiLvlLbl val="0"/>
      </c:catAx>
      <c:valAx>
        <c:axId val="-2113994440"/>
        <c:scaling>
          <c:max val="14.0"/>
          <c:min val="0.0"/>
        </c:scaling>
        <c:delete/>
        <c:axPos val="l"/>
        <c:majorTickMark val="out"/>
        <c:minorTickMark val="none"/>
        <c:tickLblPos val="nextTo"/>
        <c:crossAx val="-2068027336"/>
        <c:crosses val="autoZero"/>
      </c:valAx>
    </c:plotArea>
    <c:dispBlanksAs val="gap"/>
  </c:chart>
  <c:txPr>
    <a:bodyPr/>
    <a:lstStyle/>
    <a:p>
      <a:pPr>
        <a:defRPr sz="1800">
          <a:solidFill>
            <a:srgbClr val="46505A"/>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b="1" i="0">
                <a:solidFill>
                  <a:srgbClr val="111518"/>
                </a:solidFill>
                <a:latin typeface="Arial"/>
              </a:rPr>
              <a:t>Grant County's scores out of 100</a:t>
            </a:r>
          </a:p>
        </c:rich>
      </c:tx>
      <c:layout/>
      <c:overlay val="0"/>
    </c:title>
    <c:autoTitleDeleted val="0"/>
    <c:plotArea>
      <c:barChart>
        <c:barDir val="col"/>
        <c:grouping val="clustered"/>
        <c:ser>
          <c:idx val="0"/>
          <c:order val="0"/>
          <c:tx>
            <c:strRef>
              <c:f>Sheet1!$B$1</c:f>
              <c:strCache>
                <c:ptCount val="1"/>
                <c:pt idx="0">
                  <c:v>Before land cover</c:v>
                </c:pt>
              </c:strCache>
            </c:strRef>
          </c:tx>
          <c:spPr>
            <a:solidFill>
              <a:srgbClr val="8E8F8A"/>
            </a:solidFill>
          </c:spPr>
          <c:cat>
            <c:strRef>
              <c:f>Sheet1!$A$2:$A$3</c:f>
              <c:strCache>
                <c:ptCount val="2"/>
                <c:pt idx="0">
                  <c:v>Land</c:v>
                </c:pt>
                <c:pt idx="1">
                  <c:v>Permitting</c:v>
                </c:pt>
              </c:strCache>
            </c:strRef>
          </c:cat>
          <c:val>
            <c:numRef>
              <c:f>Sheet1!$B$2:$B$3</c:f>
              <c:numCache>
                <c:formatCode>General</c:formatCode>
                <c:ptCount val="2"/>
                <c:pt idx="0">
                  <c:v>75.0</c:v>
                </c:pt>
                <c:pt idx="1">
                  <c:v>53.2</c:v>
                </c:pt>
              </c:numCache>
            </c:numRef>
          </c:val>
        </c:ser>
        <c:ser>
          <c:idx val="1"/>
          <c:order val="1"/>
          <c:tx>
            <c:strRef>
              <c:f>Sheet1!$C$1</c:f>
              <c:strCache>
                <c:ptCount val="1"/>
                <c:pt idx="0">
                  <c:v>After land cover</c:v>
                </c:pt>
              </c:strCache>
            </c:strRef>
          </c:tx>
          <c:spPr>
            <a:solidFill>
              <a:srgbClr val="0B3C6F"/>
            </a:solidFill>
          </c:spPr>
          <c:cat>
            <c:strRef>
              <c:f>Sheet1!$A$2:$A$3</c:f>
              <c:strCache>
                <c:ptCount val="2"/>
                <c:pt idx="0">
                  <c:v>Land</c:v>
                </c:pt>
                <c:pt idx="1">
                  <c:v>Permitting</c:v>
                </c:pt>
              </c:strCache>
            </c:strRef>
          </c:cat>
          <c:val>
            <c:numRef>
              <c:f>Sheet1!$C$2:$C$3</c:f>
              <c:numCache>
                <c:formatCode>General</c:formatCode>
                <c:ptCount val="2"/>
                <c:pt idx="0">
                  <c:v>52.8</c:v>
                </c:pt>
                <c:pt idx="1">
                  <c:v>63.2</c:v>
                </c:pt>
              </c:numCache>
            </c:numRef>
          </c:val>
        </c:ser>
        <c:dLbls>
          <c:numFmt formatCode="0.0" sourceLinked="0"/>
          <c:txPr>
            <a:bodyPr/>
            <a:lstStyle/>
            <a:p>
              <a:pPr>
                <a:defRPr sz="1800" b="1"/>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none"/>
        <c:minorTickMark val="none"/>
        <c:tickLblPos val="nextTo"/>
        <c:spPr>
          <a:ln>
            <a:solidFill>
              <a:srgbClr val="D3D8D6"/>
            </a:solidFill>
          </a:ln>
        </c:spPr>
        <c:txPr>
          <a:bodyPr/>
          <a:lstStyle/>
          <a:p>
            <a:pPr>
              <a:defRPr sz="1700">
                <a:solidFill>
                  <a:srgbClr val="111518"/>
                </a:solidFil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legend>
      <c:legendPos val="b"/>
      <c:overlay val="0"/>
      <c:txPr>
        <a:bodyPr/>
        <a:lstStyle/>
        <a:p>
          <a:pPr>
            <a:defRPr sz="1500"/>
          </a:pPr>
        </a:p>
      </c:txPr>
    </c:legend>
    <c:dispBlanksAs val="gap"/>
  </c:chart>
  <c:txPr>
    <a:bodyPr/>
    <a:lstStyle/>
    <a:p>
      <a:pPr>
        <a:defRPr sz="16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How often each county makes the top 10</a:t>
            </a:r>
          </a:p>
        </c:rich>
      </c:tx>
      <c:layout/>
      <c:overlay val="0"/>
    </c:title>
    <c:autoTitleDeleted val="0"/>
    <c:plotArea>
      <c:barChart>
        <c:barDir val="bar"/>
        <c:grouping val="clustered"/>
        <c:varyColors val="0"/>
        <c:ser>
          <c:idx val="0"/>
          <c:order val="0"/>
          <c:tx>
            <c:strRef>
              <c:f>Sheet1!$B$1</c:f>
              <c:strCache>
                <c:ptCount val="1"/>
                <c:pt idx="0">
                  <c:v>Value</c:v>
                </c:pt>
              </c:strCache>
            </c:strRef>
          </c:tx>
          <c:dPt>
            <c:idx val="0"/>
            <c:spPr>
              <a:solidFill>
                <a:srgbClr val="4F82BD"/>
              </a:solidFill>
            </c:spPr>
          </c:dPt>
          <c:dPt>
            <c:idx val="1"/>
            <c:spPr>
              <a:solidFill>
                <a:srgbClr val="4F82BD"/>
              </a:solidFill>
            </c:spPr>
          </c:dPt>
          <c:dPt>
            <c:idx val="2"/>
            <c:spPr>
              <a:solidFill>
                <a:srgbClr val="4F82BD"/>
              </a:solidFill>
            </c:spPr>
          </c:dPt>
          <c:dPt>
            <c:idx val="3"/>
            <c:spPr>
              <a:solidFill>
                <a:srgbClr val="0B3C6F"/>
              </a:solidFill>
            </c:spPr>
          </c:dPt>
          <c:dPt>
            <c:idx val="4"/>
            <c:spPr>
              <a:solidFill>
                <a:srgbClr val="4F82BD"/>
              </a:solidFill>
            </c:spPr>
          </c:dPt>
          <c:cat>
            <c:strRef>
              <c:f>Sheet1!$A$2:$A$6</c:f>
              <c:strCache>
                <c:ptCount val="5"/>
                <c:pt idx="0">
                  <c:v>Whitman, WA</c:v>
                </c:pt>
                <c:pt idx="1">
                  <c:v>Cuyahoga, OH</c:v>
                </c:pt>
                <c:pt idx="2">
                  <c:v>Clark, WA</c:v>
                </c:pt>
                <c:pt idx="3">
                  <c:v>Grant, WA</c:v>
                </c:pt>
                <c:pt idx="4">
                  <c:v>Hutchinson, TX</c:v>
                </c:pt>
              </c:strCache>
            </c:strRef>
          </c:cat>
          <c:val>
            <c:numRef>
              <c:f>Sheet1!$B$2:$B$6</c:f>
              <c:numCache>
                <c:formatCode>General</c:formatCode>
                <c:ptCount val="5"/>
                <c:pt idx="0">
                  <c:v>43.9</c:v>
                </c:pt>
                <c:pt idx="1">
                  <c:v>36.9</c:v>
                </c:pt>
                <c:pt idx="2">
                  <c:v>35.9</c:v>
                </c:pt>
                <c:pt idx="3">
                  <c:v>35.8</c:v>
                </c:pt>
                <c:pt idx="4">
                  <c:v>35.199999999999996</c:v>
                </c:pt>
              </c:numCache>
            </c:numRef>
          </c:val>
        </c:ser>
        <c:dLbls>
          <c:numFmt formatCode="0.0&quot;%&quot;" sourceLinked="0"/>
          <c:txPr>
            <a:bodyPr/>
            <a:lstStyle/>
            <a:p>
              <a:pPr>
                <a:defRPr sz="1800" b="1">
                  <a:solidFill>
                    <a:srgbClr val="111518"/>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nextTo"/>
        <c:spPr>
          <a:ln>
            <a:solidFill>
              <a:srgbClr val="D3D8D6"/>
            </a:solidFill>
          </a:ln>
        </c:spPr>
        <c:txPr>
          <a:bodyPr/>
          <a:lstStyle/>
          <a:p>
            <a:pPr>
              <a:defRPr sz="1700">
                <a:solidFill>
                  <a:srgbClr val="111518"/>
                </a:solidFill>
              </a:defRPr>
            </a:pPr>
          </a:p>
        </c:txPr>
        <c:crossAx val="-2113994440"/>
        <c:crosses val="autoZero"/>
        <c:auto val="1"/>
        <c:lblAlgn val="ctr"/>
        <c:lblOffset val="100"/>
        <c:noMultiLvlLbl val="0"/>
      </c:catAx>
      <c:valAx>
        <c:axId val="-2113994440"/>
        <c:scaling>
          <c:max val="55.0"/>
          <c:min val="0.0"/>
        </c:scaling>
        <c:delete/>
        <c:axPos val="b"/>
        <c:majorTickMark val="out"/>
        <c:minorTickMark val="none"/>
        <c:tickLblPos val="nextTo"/>
        <c:crossAx val="-2068027336"/>
        <c:crosses val="autoZero"/>
      </c:valAx>
    </c:plotArea>
    <c:dispBlanksAs val="gap"/>
  </c:chart>
  <c:txPr>
    <a:bodyPr/>
    <a:lstStyle/>
    <a:p>
      <a:pPr>
        <a:defRPr sz="1700">
          <a:solidFill>
            <a:srgbClr val="46505A"/>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On-site water, million gallons a year</a:t>
            </a:r>
          </a:p>
        </c:rich>
      </c:tx>
      <c:layout/>
      <c:overlay val="0"/>
    </c:title>
    <c:autoTitleDeleted val="0"/>
    <c:plotArea>
      <c:barChart>
        <c:barDir val="bar"/>
        <c:grouping val="clustered"/>
        <c:varyColors val="0"/>
        <c:ser>
          <c:idx val="0"/>
          <c:order val="0"/>
          <c:tx>
            <c:strRef>
              <c:f>Sheet1!$B$1</c:f>
              <c:strCache>
                <c:ptCount val="1"/>
                <c:pt idx="0">
                  <c:v>Value</c:v>
                </c:pt>
              </c:strCache>
            </c:strRef>
          </c:tx>
          <c:dPt>
            <c:idx val="0"/>
            <c:spPr>
              <a:solidFill>
                <a:srgbClr val="8E8F8A"/>
              </a:solidFill>
            </c:spPr>
          </c:dPt>
          <c:dPt>
            <c:idx val="1"/>
            <c:spPr>
              <a:solidFill>
                <a:srgbClr val="4F82BD"/>
              </a:solidFill>
            </c:spPr>
          </c:dPt>
          <c:dPt>
            <c:idx val="2"/>
            <c:spPr>
              <a:solidFill>
                <a:srgbClr val="0B3C6F"/>
              </a:solidFill>
            </c:spPr>
          </c:dPt>
          <c:cat>
            <c:strRef>
              <c:f>Sheet1!$A$2:$A$4</c:f>
              <c:strCache>
                <c:ptCount val="3"/>
                <c:pt idx="0">
                  <c:v>Loudoun VA, evaporative</c:v>
                </c:pt>
                <c:pt idx="1">
                  <c:v>Grant, evaporative</c:v>
                </c:pt>
                <c:pt idx="2">
                  <c:v>Grant, dry (+2% energy)</c:v>
                </c:pt>
              </c:strCache>
            </c:strRef>
          </c:cat>
          <c:val>
            <c:numRef>
              <c:f>Sheet1!$B$2:$B$4</c:f>
              <c:numCache>
                <c:formatCode>General</c:formatCode>
                <c:ptCount val="3"/>
                <c:pt idx="0">
                  <c:v>322.8</c:v>
                </c:pt>
                <c:pt idx="1">
                  <c:v>210.2</c:v>
                </c:pt>
                <c:pt idx="2">
                  <c:v>27.8</c:v>
                </c:pt>
              </c:numCache>
            </c:numRef>
          </c:val>
        </c:ser>
        <c:dLbls>
          <c:numFmt formatCode="#,##0" sourceLinked="0"/>
          <c:txPr>
            <a:bodyPr/>
            <a:lstStyle/>
            <a:p>
              <a:pPr>
                <a:defRPr sz="1800" b="1">
                  <a:solidFill>
                    <a:srgbClr val="111518"/>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nextTo"/>
        <c:spPr>
          <a:ln>
            <a:solidFill>
              <a:srgbClr val="D3D8D6"/>
            </a:solidFill>
          </a:ln>
        </c:spPr>
        <c:txPr>
          <a:bodyPr/>
          <a:lstStyle/>
          <a:p>
            <a:pPr>
              <a:defRPr sz="1500">
                <a:solidFill>
                  <a:srgbClr val="111518"/>
                </a:solidFill>
              </a:defRPr>
            </a:pPr>
          </a:p>
        </c:txPr>
        <c:crossAx val="-2113994440"/>
        <c:crosses val="autoZero"/>
        <c:auto val="1"/>
        <c:lblAlgn val="ctr"/>
        <c:lblOffset val="100"/>
        <c:noMultiLvlLbl val="0"/>
      </c:catAx>
      <c:valAx>
        <c:axId val="-2113994440"/>
        <c:scaling>
          <c:max val="400.0"/>
          <c:min val="0.0"/>
        </c:scaling>
        <c:delete/>
        <c:axPos val="b"/>
        <c:majorTickMark val="out"/>
        <c:minorTickMark val="none"/>
        <c:tickLblPos val="nextTo"/>
        <c:crossAx val="-2068027336"/>
        <c:crosses val="autoZero"/>
      </c:valAx>
    </c:plotArea>
    <c:dispBlanksAs val="gap"/>
  </c:chart>
  <c:txPr>
    <a:bodyPr/>
    <a:lstStyle/>
    <a:p>
      <a:pPr>
        <a:defRPr sz="1500">
          <a:solidFill>
            <a:srgbClr val="46505A"/>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CO2, thousand metric tons a year</a:t>
            </a:r>
          </a:p>
        </c:rich>
      </c:tx>
      <c:layout/>
      <c:overlay val="0"/>
    </c:title>
    <c:autoTitleDeleted val="0"/>
    <c:plotArea>
      <c:barChart>
        <c:barDir val="bar"/>
        <c:grouping val="clustered"/>
        <c:varyColors val="0"/>
        <c:ser>
          <c:idx val="0"/>
          <c:order val="0"/>
          <c:tx>
            <c:strRef>
              <c:f>Sheet1!$B$1</c:f>
              <c:strCache>
                <c:ptCount val="1"/>
                <c:pt idx="0">
                  <c:v>Value</c:v>
                </c:pt>
              </c:strCache>
            </c:strRef>
          </c:tx>
          <c:dPt>
            <c:idx val="0"/>
            <c:spPr>
              <a:solidFill>
                <a:srgbClr val="8E8F8A"/>
              </a:solidFill>
            </c:spPr>
          </c:dPt>
          <c:dPt>
            <c:idx val="1"/>
            <c:spPr>
              <a:solidFill>
                <a:srgbClr val="4F82BD"/>
              </a:solidFill>
            </c:spPr>
          </c:dPt>
          <c:dPt>
            <c:idx val="2"/>
            <c:spPr>
              <a:solidFill>
                <a:srgbClr val="0B3C6F"/>
              </a:solidFill>
            </c:spPr>
          </c:dPt>
          <c:cat>
            <c:strRef>
              <c:f>Sheet1!$A$2:$A$4</c:f>
              <c:strCache>
                <c:ptCount val="3"/>
                <c:pt idx="0">
                  <c:v>Loudoun VA</c:v>
                </c:pt>
                <c:pt idx="1">
                  <c:v>Grant at the regional average</c:v>
                </c:pt>
                <c:pt idx="2">
                  <c:v>Grant at BPA's mix</c:v>
                </c:pt>
              </c:strCache>
            </c:strRef>
          </c:cat>
          <c:val>
            <c:numRef>
              <c:f>Sheet1!$B$2:$B$4</c:f>
              <c:numCache>
                <c:formatCode>General</c:formatCode>
                <c:ptCount val="3"/>
                <c:pt idx="0">
                  <c:v>675.455</c:v>
                </c:pt>
                <c:pt idx="1">
                  <c:v>700.39</c:v>
                </c:pt>
                <c:pt idx="2">
                  <c:v>235.547</c:v>
                </c:pt>
              </c:numCache>
            </c:numRef>
          </c:val>
        </c:ser>
        <c:dLbls>
          <c:numFmt formatCode="#,##0" sourceLinked="0"/>
          <c:txPr>
            <a:bodyPr/>
            <a:lstStyle/>
            <a:p>
              <a:pPr>
                <a:defRPr sz="1800" b="1">
                  <a:solidFill>
                    <a:srgbClr val="111518"/>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nextTo"/>
        <c:spPr>
          <a:ln>
            <a:solidFill>
              <a:srgbClr val="D3D8D6"/>
            </a:solidFill>
          </a:ln>
        </c:spPr>
        <c:txPr>
          <a:bodyPr/>
          <a:lstStyle/>
          <a:p>
            <a:pPr>
              <a:defRPr sz="1500">
                <a:solidFill>
                  <a:srgbClr val="111518"/>
                </a:solidFill>
              </a:defRPr>
            </a:pPr>
          </a:p>
        </c:txPr>
        <c:crossAx val="-2113994440"/>
        <c:crosses val="autoZero"/>
        <c:auto val="1"/>
        <c:lblAlgn val="ctr"/>
        <c:lblOffset val="100"/>
        <c:noMultiLvlLbl val="0"/>
      </c:catAx>
      <c:valAx>
        <c:axId val="-2113994440"/>
        <c:scaling>
          <c:max val="850.0"/>
          <c:min val="0.0"/>
        </c:scaling>
        <c:delete/>
        <c:axPos val="b"/>
        <c:majorTickMark val="out"/>
        <c:minorTickMark val="none"/>
        <c:tickLblPos val="nextTo"/>
        <c:crossAx val="-2068027336"/>
        <c:crosses val="autoZero"/>
      </c:valAx>
    </c:plotArea>
    <c:dispBlanksAs val="gap"/>
  </c:chart>
  <c:txPr>
    <a:bodyPr/>
    <a:lstStyle/>
    <a:p>
      <a:pPr>
        <a:defRPr sz="1500">
          <a:solidFill>
            <a:srgbClr val="46505A"/>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Grant PUD, average megawatts</a:t>
            </a:r>
          </a:p>
        </c:rich>
      </c:tx>
      <c:layout/>
      <c:overlay val="0"/>
    </c:title>
    <c:autoTitleDeleted val="0"/>
    <c:plotArea>
      <c:barChart>
        <c:barDir val="bar"/>
        <c:grouping val="clustered"/>
        <c:varyColors val="0"/>
        <c:ser>
          <c:idx val="0"/>
          <c:order val="0"/>
          <c:tx>
            <c:strRef>
              <c:f>Sheet1!$B$1</c:f>
              <c:strCache>
                <c:ptCount val="1"/>
                <c:pt idx="0">
                  <c:v>Value</c:v>
                </c:pt>
              </c:strCache>
            </c:strRef>
          </c:tx>
          <c:dPt>
            <c:idx val="0"/>
            <c:spPr>
              <a:solidFill>
                <a:srgbClr val="4F82BD"/>
              </a:solidFill>
            </c:spPr>
          </c:dPt>
          <c:dPt>
            <c:idx val="1"/>
            <c:spPr>
              <a:solidFill>
                <a:srgbClr val="8E8F8A"/>
              </a:solidFill>
            </c:spPr>
          </c:dPt>
          <c:dPt>
            <c:idx val="2"/>
            <c:spPr>
              <a:solidFill>
                <a:srgbClr val="D9532B"/>
              </a:solidFill>
            </c:spPr>
          </c:dPt>
          <c:cat>
            <c:strRef>
              <c:f>Sheet1!$A$2:$A$4</c:f>
              <c:strCache>
                <c:ptCount val="3"/>
                <c:pt idx="0">
                  <c:v>Utility's share of its dams</c:v>
                </c:pt>
                <c:pt idx="1">
                  <c:v>Utility load in 2025</c:v>
                </c:pt>
                <c:pt idx="2">
                  <c:v>Load plus the campus</c:v>
                </c:pt>
              </c:strCache>
            </c:strRef>
          </c:cat>
          <c:val>
            <c:numRef>
              <c:f>Sheet1!$B$2:$B$4</c:f>
              <c:numCache>
                <c:formatCode>General</c:formatCode>
                <c:ptCount val="3"/>
                <c:pt idx="0">
                  <c:v>633</c:v>
                </c:pt>
                <c:pt idx="1">
                  <c:v>757</c:v>
                </c:pt>
                <c:pt idx="2">
                  <c:v>1036</c:v>
                </c:pt>
              </c:numCache>
            </c:numRef>
          </c:val>
        </c:ser>
        <c:dLbls>
          <c:numFmt formatCode="#,##0" sourceLinked="0"/>
          <c:txPr>
            <a:bodyPr/>
            <a:lstStyle/>
            <a:p>
              <a:pPr>
                <a:defRPr sz="1700" b="1">
                  <a:solidFill>
                    <a:srgbClr val="111518"/>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none"/>
        <c:minorTickMark val="none"/>
        <c:tickLblPos val="nextTo"/>
        <c:spPr>
          <a:ln>
            <a:solidFill>
              <a:srgbClr val="D3D8D6"/>
            </a:solidFill>
          </a:ln>
        </c:spPr>
        <c:txPr>
          <a:bodyPr/>
          <a:lstStyle/>
          <a:p>
            <a:pPr>
              <a:defRPr sz="1500">
                <a:solidFill>
                  <a:srgbClr val="111518"/>
                </a:solidFill>
              </a:defRPr>
            </a:pPr>
          </a:p>
        </c:txPr>
        <c:crossAx val="-2113994440"/>
        <c:crosses val="autoZero"/>
        <c:auto val="1"/>
        <c:lblAlgn val="ctr"/>
        <c:lblOffset val="100"/>
        <c:noMultiLvlLbl val="0"/>
      </c:catAx>
      <c:valAx>
        <c:axId val="-2113994440"/>
        <c:scaling>
          <c:max val="1350.0"/>
          <c:min val="0.0"/>
        </c:scaling>
        <c:delete/>
        <c:axPos val="b"/>
        <c:majorTickMark val="out"/>
        <c:minorTickMark val="none"/>
        <c:tickLblPos val="nextTo"/>
        <c:crossAx val="-2068027336"/>
        <c:crosses val="autoZero"/>
      </c:valAx>
    </c:plotArea>
    <c:dispBlanksAs val="gap"/>
  </c:chart>
  <c:txPr>
    <a:bodyPr/>
    <a:lstStyle/>
    <a:p>
      <a:pPr>
        <a:defRPr sz="1500">
          <a:solidFill>
            <a:srgbClr val="46505A"/>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Counties that pass the hard limits</a:t>
            </a:r>
          </a:p>
        </c:rich>
      </c:tx>
      <c:layout/>
      <c:overlay val="0"/>
    </c:title>
    <c:autoTitleDeleted val="0"/>
    <c:plotArea>
      <c:barChart>
        <c:barDir val="bar"/>
        <c:grouping val="clustered"/>
        <c:varyColors val="0"/>
        <c:ser>
          <c:idx val="0"/>
          <c:order val="0"/>
          <c:tx>
            <c:strRef>
              <c:f>Sheet1!$B$1</c:f>
              <c:strCache>
                <c:ptCount val="1"/>
                <c:pt idx="0">
                  <c:v>Value</c:v>
                </c:pt>
              </c:strCache>
            </c:strRef>
          </c:tx>
          <c:dPt>
            <c:idx val="0"/>
            <c:spPr>
              <a:solidFill>
                <a:srgbClr val="0B3C6F"/>
              </a:solidFill>
            </c:spPr>
          </c:dPt>
          <c:dPt>
            <c:idx val="1"/>
            <c:spPr>
              <a:solidFill>
                <a:srgbClr val="4F82BD"/>
              </a:solidFill>
            </c:spPr>
          </c:dPt>
          <c:cat>
            <c:strRef>
              <c:f>Sheet1!$A$2:$A$3</c:f>
              <c:strCache>
                <c:ptCount val="2"/>
                <c:pt idx="0">
                  <c:v>Dry cooling</c:v>
                </c:pt>
                <c:pt idx="1">
                  <c:v>Evaporative cooling</c:v>
                </c:pt>
              </c:strCache>
            </c:strRef>
          </c:cat>
          <c:val>
            <c:numRef>
              <c:f>Sheet1!$B$2:$B$3</c:f>
              <c:numCache>
                <c:formatCode>General</c:formatCode>
                <c:ptCount val="2"/>
                <c:pt idx="0">
                  <c:v>1565</c:v>
                </c:pt>
                <c:pt idx="1">
                  <c:v>826</c:v>
                </c:pt>
              </c:numCache>
            </c:numRef>
          </c:val>
        </c:ser>
        <c:dLbls>
          <c:numFmt formatCode="#,##0" sourceLinked="0"/>
          <c:txPr>
            <a:bodyPr/>
            <a:lstStyle/>
            <a:p>
              <a:pPr>
                <a:defRPr sz="1800" b="1">
                  <a:solidFill>
                    <a:srgbClr val="111518"/>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none"/>
        <c:minorTickMark val="none"/>
        <c:tickLblPos val="nextTo"/>
        <c:spPr>
          <a:ln>
            <a:solidFill>
              <a:srgbClr val="D3D8D6"/>
            </a:solidFill>
          </a:ln>
        </c:spPr>
        <c:txPr>
          <a:bodyPr/>
          <a:lstStyle/>
          <a:p>
            <a:pPr>
              <a:defRPr sz="1600">
                <a:solidFill>
                  <a:srgbClr val="111518"/>
                </a:solidFill>
              </a:defRPr>
            </a:pPr>
          </a:p>
        </c:txPr>
        <c:crossAx val="-2113994440"/>
        <c:crosses val="autoZero"/>
        <c:auto val="1"/>
        <c:lblAlgn val="ctr"/>
        <c:lblOffset val="100"/>
        <c:noMultiLvlLbl val="0"/>
      </c:catAx>
      <c:valAx>
        <c:axId val="-2113994440"/>
        <c:scaling>
          <c:max val="2000.0"/>
          <c:min val="0.0"/>
        </c:scaling>
        <c:delete/>
        <c:axPos val="b"/>
        <c:majorTickMark val="out"/>
        <c:minorTickMark val="none"/>
        <c:tickLblPos val="nextTo"/>
        <c:crossAx val="-2068027336"/>
        <c:crosses val="autoZero"/>
      </c:valAx>
    </c:plotArea>
    <c:dispBlanksAs val="gap"/>
  </c:chart>
  <c:txPr>
    <a:bodyPr/>
    <a:lstStyle/>
    <a:p>
      <a:pPr>
        <a:defRPr sz="1600">
          <a:solidFill>
            <a:srgbClr val="46505A"/>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Berkshire, MA</c:v>
                </c:pt>
              </c:strCache>
            </c:strRef>
          </c:tx>
          <c:spPr>
            <a:ln w="50800">
              <a:solidFill>
                <a:srgbClr val="D9532B"/>
              </a:solidFill>
            </a:ln>
          </c:spPr>
          <c:marker>
            <c:symbol val="circle"/>
            <c:size val="13"/>
            <c:spPr>
              <a:solidFill>
                <a:srgbClr val="D9532B"/>
              </a:solidFill>
              <a:ln>
                <a:solidFill>
                  <a:srgbClr val="D9532B"/>
                </a:solidFill>
              </a:ln>
            </c:spPr>
          </c:marker>
          <c:dLbls>
            <c:dLbl>
              <c:idx val="0"/>
              <c:tx>
                <c:rich>
                  <a:bodyPr/>
                  <a:lstStyle/>
                  <a:p>
                    <a:r>
                      <a:rPr sz="1700" b="1" i="0">
                        <a:solidFill>
                          <a:srgbClr val="D9532B"/>
                        </a:solidFill>
                        <a:latin typeface="Arial"/>
                      </a:rPr>
                      <a:t>Berkshire #1</a:t>
                    </a:r>
                  </a:p>
                </c:rich>
              </c:tx>
              <c:dLblPos val="r"/>
              <c:showLegendKey val="0"/>
              <c:showVal val="1"/>
              <c:showCatName val="0"/>
              <c:showSerName val="0"/>
              <c:showPercent val="0"/>
              <c:showBubbleSize val="0"/>
            </c:dLbl>
            <c:dLbl>
              <c:idx val="1"/>
              <c:tx>
                <c:rich>
                  <a:bodyPr/>
                  <a:lstStyle/>
                  <a:p>
                    <a:r>
                      <a:rPr sz="1700" b="1" i="0">
                        <a:solidFill>
                          <a:srgbClr val="D9532B"/>
                        </a:solidFill>
                        <a:latin typeface="Arial"/>
                      </a:rPr>
                      <a:t>#27</a:t>
                    </a:r>
                  </a:p>
                </c:rich>
              </c:tx>
              <c:dLblPos val="l"/>
              <c:showLegendKey val="0"/>
              <c:showVal val="1"/>
              <c:showCatName val="0"/>
              <c:showSerName val="0"/>
              <c:showPercent val="0"/>
              <c:showBubbleSize val="0"/>
            </c:dLbl>
            <c:dLbl>
              <c:idx val="2"/>
              <c:tx>
                <c:rich>
                  <a:bodyPr/>
                  <a:lstStyle/>
                  <a:p>
                    <a:r>
                      <a:rPr sz="1700" b="1" i="0">
                        <a:solidFill>
                          <a:srgbClr val="D9532B"/>
                        </a:solidFill>
                        <a:latin typeface="Arial"/>
                      </a:rPr>
                      <a:t>#1,164</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Seven factors</c:v>
                </c:pt>
                <c:pt idx="1">
                  <c:v>Massachusetts tax fix</c:v>
                </c:pt>
                <c:pt idx="2">
                  <c:v>Power cost added</c:v>
                </c:pt>
                <c:pt idx="3">
                  <c:v>If Washington pays $80/MWh</c:v>
                </c:pt>
              </c:strCache>
            </c:strRef>
          </c:cat>
          <c:val>
            <c:numRef>
              <c:f>Sheet1!$B$2:$B$5</c:f>
              <c:numCache>
                <c:formatCode>General</c:formatCode>
                <c:ptCount val="4"/>
                <c:pt idx="0">
                  <c:v>1</c:v>
                </c:pt>
                <c:pt idx="1">
                  <c:v>27</c:v>
                </c:pt>
                <c:pt idx="2">
                  <c:v>1164</c:v>
                </c:pt>
              </c:numCache>
            </c:numRef>
          </c:val>
          <c:smooth val="0"/>
        </c:ser>
        <c:ser>
          <c:idx val="1"/>
          <c:order val="1"/>
          <c:tx>
            <c:strRef>
              <c:f>Sheet1!$C$1</c:f>
              <c:strCache>
                <c:ptCount val="1"/>
                <c:pt idx="0">
                  <c:v>Grant, WA</c:v>
                </c:pt>
              </c:strCache>
            </c:strRef>
          </c:tx>
          <c:spPr>
            <a:ln w="50800">
              <a:solidFill>
                <a:srgbClr val="0B3C6F"/>
              </a:solidFill>
            </a:ln>
          </c:spPr>
          <c:marker>
            <c:symbol val="circle"/>
            <c:size val="13"/>
            <c:spPr>
              <a:solidFill>
                <a:srgbClr val="0B3C6F"/>
              </a:solidFill>
              <a:ln>
                <a:solidFill>
                  <a:srgbClr val="0B3C6F"/>
                </a:solidFill>
              </a:ln>
            </c:spPr>
          </c:marker>
          <c:dLbls>
            <c:dLbl>
              <c:idx val="0"/>
              <c:tx>
                <c:rich>
                  <a:bodyPr/>
                  <a:lstStyle/>
                  <a:p>
                    <a:r>
                      <a:rPr sz="1700" b="1" i="0">
                        <a:solidFill>
                          <a:srgbClr val="0B3C6F"/>
                        </a:solidFill>
                        <a:latin typeface="Arial"/>
                      </a:rPr>
                      <a:t>Grant #7</a:t>
                    </a:r>
                  </a:p>
                </c:rich>
              </c:tx>
              <c:dLblPos val="b"/>
              <c:showLegendKey val="0"/>
              <c:showVal val="1"/>
              <c:showCatName val="0"/>
              <c:showSerName val="0"/>
              <c:showPercent val="0"/>
              <c:showBubbleSize val="0"/>
            </c:dLbl>
            <c:dLbl>
              <c:idx val="1"/>
              <c:tx>
                <c:rich>
                  <a:bodyPr/>
                  <a:lstStyle/>
                  <a:p>
                    <a:r>
                      <a:rPr sz="1700" b="1" i="0">
                        <a:solidFill>
                          <a:srgbClr val="0B3C6F"/>
                        </a:solidFill>
                        <a:latin typeface="Arial"/>
                      </a:rPr>
                      <a:t>#7</a:t>
                    </a:r>
                  </a:p>
                </c:rich>
              </c:tx>
              <c:dLblPos val="t"/>
              <c:showLegendKey val="0"/>
              <c:showVal val="1"/>
              <c:showCatName val="0"/>
              <c:showSerName val="0"/>
              <c:showPercent val="0"/>
              <c:showBubbleSize val="0"/>
            </c:dLbl>
            <c:dLbl>
              <c:idx val="2"/>
              <c:tx>
                <c:rich>
                  <a:bodyPr/>
                  <a:lstStyle/>
                  <a:p>
                    <a:r>
                      <a:rPr sz="1700" b="1" i="0">
                        <a:solidFill>
                          <a:srgbClr val="0B3C6F"/>
                        </a:solidFill>
                        <a:latin typeface="Arial"/>
                      </a:rPr>
                      <a:t>Grant #1</a:t>
                    </a:r>
                  </a:p>
                </c:rich>
              </c:tx>
              <c:dLblPos val="t"/>
              <c:showLegendKey val="0"/>
              <c:showVal val="1"/>
              <c:showCatName val="0"/>
              <c:showSerName val="0"/>
              <c:showPercent val="0"/>
              <c:showBubbleSize val="0"/>
            </c:dLbl>
            <c:dLbl>
              <c:idx val="3"/>
              <c:tx>
                <c:rich>
                  <a:bodyPr/>
                  <a:lstStyle/>
                  <a:p>
                    <a:r>
                      <a:rPr sz="1700" b="1" i="0">
                        <a:solidFill>
                          <a:srgbClr val="0B3C6F"/>
                        </a:solidFill>
                        <a:latin typeface="Arial"/>
                      </a:rPr>
                      <a:t>#77</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Seven factors</c:v>
                </c:pt>
                <c:pt idx="1">
                  <c:v>Massachusetts tax fix</c:v>
                </c:pt>
                <c:pt idx="2">
                  <c:v>Power cost added</c:v>
                </c:pt>
                <c:pt idx="3">
                  <c:v>If Washington pays $80/MWh</c:v>
                </c:pt>
              </c:strCache>
            </c:strRef>
          </c:cat>
          <c:val>
            <c:numRef>
              <c:f>Sheet1!$C$2:$C$5</c:f>
              <c:numCache>
                <c:formatCode>General</c:formatCode>
                <c:ptCount val="4"/>
                <c:pt idx="0">
                  <c:v>7</c:v>
                </c:pt>
                <c:pt idx="1">
                  <c:v>7</c:v>
                </c:pt>
                <c:pt idx="2">
                  <c:v>1</c:v>
                </c:pt>
                <c:pt idx="3">
                  <c:v>77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a:solidFill>
              <a:srgbClr val="D3D8D6"/>
            </a:solidFill>
          </a:ln>
        </c:spPr>
        <c:txPr>
          <a:bodyPr/>
          <a:lstStyle/>
          <a:p>
            <a:pPr>
              <a:defRPr sz="1500">
                <a:solidFill>
                  <a:srgbClr val="111518"/>
                </a:solidFill>
              </a:defRPr>
            </a:pPr>
          </a:p>
        </c:txPr>
        <c:crossAx val="2140495176"/>
        <c:crosses val="max"/>
        <c:auto val="1"/>
        <c:lblAlgn val="ctr"/>
        <c:lblOffset val="100"/>
        <c:noMultiLvlLbl val="0"/>
      </c:catAx>
      <c:valAx>
        <c:axId val="2140495176"/>
        <c:scaling>
          <c:logBase val="10"/>
          <c:orientation val="maxMin"/>
          <c:max val="2500.0"/>
          <c:min val="0.6"/>
        </c:scaling>
        <c:delete/>
        <c:axPos val="l"/>
        <c:majorTickMark val="out"/>
        <c:minorTickMark val="none"/>
        <c:tickLblPos val="nextTo"/>
        <c:crossAx val="2118791784"/>
        <c:crosses val="autoZero"/>
      </c:valAx>
    </c:plotArea>
    <c:plotVisOnly val="1"/>
    <c:dispBlanksAs val="gap"/>
    <c:showDLblsOverMax val="0"/>
  </c:chart>
  <c:txPr>
    <a:bodyPr/>
    <a:lstStyle/>
    <a:p>
      <a:pPr>
        <a:defRPr sz="1600">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CO2, thousand metric tons a year</a:t>
            </a:r>
          </a:p>
        </c:rich>
      </c:tx>
      <c:layout/>
      <c:overlay val="0"/>
    </c:title>
    <c:autoTitleDeleted val="0"/>
    <c:plotArea>
      <c:barChart>
        <c:barDir val="bar"/>
        <c:grouping val="clustered"/>
        <c:varyColors val="0"/>
        <c:ser>
          <c:idx val="0"/>
          <c:order val="0"/>
          <c:tx>
            <c:strRef>
              <c:f>Sheet1!$B$1</c:f>
              <c:strCache>
                <c:ptCount val="1"/>
                <c:pt idx="0">
                  <c:v>Value</c:v>
                </c:pt>
              </c:strCache>
            </c:strRef>
          </c:tx>
          <c:dPt>
            <c:idx val="0"/>
            <c:spPr>
              <a:solidFill>
                <a:srgbClr val="4F82BD"/>
              </a:solidFill>
            </c:spPr>
          </c:dPt>
          <c:dPt>
            <c:idx val="1"/>
            <c:spPr>
              <a:solidFill>
                <a:srgbClr val="0B3C6F"/>
              </a:solidFill>
            </c:spPr>
          </c:dPt>
          <c:cat>
            <c:strRef>
              <c:f>Sheet1!$A$2:$A$3</c:f>
              <c:strCache>
                <c:ptCount val="2"/>
                <c:pt idx="0">
                  <c:v>Franklin, NY</c:v>
                </c:pt>
                <c:pt idx="1">
                  <c:v>Grant, WA</c:v>
                </c:pt>
              </c:strCache>
            </c:strRef>
          </c:cat>
          <c:val>
            <c:numRef>
              <c:f>Sheet1!$B$2:$B$3</c:f>
              <c:numCache>
                <c:formatCode>General</c:formatCode>
                <c:ptCount val="2"/>
                <c:pt idx="0">
                  <c:v>262.168</c:v>
                </c:pt>
                <c:pt idx="1">
                  <c:v>700.39</c:v>
                </c:pt>
              </c:numCache>
            </c:numRef>
          </c:val>
        </c:ser>
        <c:dLbls>
          <c:numFmt formatCode="#,##0" sourceLinked="0"/>
          <c:txPr>
            <a:bodyPr/>
            <a:lstStyle/>
            <a:p>
              <a:pPr>
                <a:defRPr sz="1800" b="1">
                  <a:solidFill>
                    <a:srgbClr val="111518"/>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none"/>
        <c:minorTickMark val="none"/>
        <c:tickLblPos val="nextTo"/>
        <c:spPr>
          <a:ln>
            <a:solidFill>
              <a:srgbClr val="D3D8D6"/>
            </a:solidFill>
          </a:ln>
        </c:spPr>
        <c:txPr>
          <a:bodyPr/>
          <a:lstStyle/>
          <a:p>
            <a:pPr>
              <a:defRPr sz="1700">
                <a:solidFill>
                  <a:srgbClr val="111518"/>
                </a:solidFill>
              </a:defRPr>
            </a:pPr>
          </a:p>
        </c:txPr>
        <c:crossAx val="-2113994440"/>
        <c:crosses val="autoZero"/>
        <c:auto val="1"/>
        <c:lblAlgn val="ctr"/>
        <c:lblOffset val="100"/>
        <c:noMultiLvlLbl val="0"/>
      </c:catAx>
      <c:valAx>
        <c:axId val="-2113994440"/>
        <c:scaling>
          <c:max val="850.0"/>
          <c:min val="0.0"/>
        </c:scaling>
        <c:delete/>
        <c:axPos val="b"/>
        <c:majorTickMark val="out"/>
        <c:minorTickMark val="none"/>
        <c:tickLblPos val="nextTo"/>
        <c:crossAx val="-2068027336"/>
        <c:crosses val="autoZero"/>
      </c:valAx>
    </c:plotArea>
    <c:dispBlanksAs val="gap"/>
  </c:chart>
  <c:txPr>
    <a:bodyPr/>
    <a:lstStyle/>
    <a:p>
      <a:pPr>
        <a:defRPr sz="1700">
          <a:solidFill>
            <a:srgbClr val="46505A"/>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Energy and carbon share of cost gaps</a:t>
            </a:r>
          </a:p>
        </c:rich>
      </c:tx>
      <c:layout/>
      <c:overlay val="0"/>
    </c:title>
    <c:autoTitleDeleted val="0"/>
    <c:plotArea>
      <c:barChart>
        <c:barDir val="col"/>
        <c:grouping val="clustered"/>
        <c:varyColors val="0"/>
        <c:ser>
          <c:idx val="0"/>
          <c:order val="0"/>
          <c:tx>
            <c:strRef>
              <c:f>Sheet1!$B$1</c:f>
              <c:strCache>
                <c:ptCount val="1"/>
                <c:pt idx="0">
                  <c:v>Value</c:v>
                </c:pt>
              </c:strCache>
            </c:strRef>
          </c:tx>
          <c:dPt>
            <c:idx val="0"/>
            <c:spPr>
              <a:solidFill>
                <a:srgbClr val="0B3C6F"/>
              </a:solidFill>
            </c:spPr>
          </c:dPt>
          <c:dPt>
            <c:idx val="1"/>
            <c:spPr>
              <a:solidFill>
                <a:srgbClr val="0B3C6F"/>
              </a:solidFill>
            </c:spPr>
          </c:dPt>
          <c:dPt>
            <c:idx val="2"/>
            <c:spPr>
              <a:solidFill>
                <a:srgbClr val="0B3C6F"/>
              </a:solidFill>
            </c:spPr>
          </c:dPt>
          <c:dPt>
            <c:idx val="3"/>
            <c:spPr>
              <a:solidFill>
                <a:srgbClr val="8E8F8A"/>
              </a:solidFill>
            </c:spPr>
          </c:dPt>
          <c:cat>
            <c:strRef>
              <c:f>Sheet1!$A$2:$A$5</c:f>
              <c:strCache>
                <c:ptCount val="4"/>
                <c:pt idx="0">
                  <c:v>$0 per ton</c:v>
                </c:pt>
                <c:pt idx="1">
                  <c:v>$190 per ton</c:v>
                </c:pt>
                <c:pt idx="2">
                  <c:v>$300 per ton</c:v>
                </c:pt>
                <c:pt idx="3">
                  <c:v>Balanced weights</c:v>
                </c:pt>
              </c:strCache>
            </c:strRef>
          </c:cat>
          <c:val>
            <c:numRef>
              <c:f>Sheet1!$B$2:$B$5</c:f>
              <c:numCache>
                <c:formatCode>General</c:formatCode>
                <c:ptCount val="4"/>
                <c:pt idx="0">
                  <c:v>67</c:v>
                </c:pt>
                <c:pt idx="1">
                  <c:v>78</c:v>
                </c:pt>
                <c:pt idx="2">
                  <c:v>88</c:v>
                </c:pt>
                <c:pt idx="3">
                  <c:v>30</c:v>
                </c:pt>
              </c:numCache>
            </c:numRef>
          </c:val>
        </c:ser>
        <c:dLbls>
          <c:numFmt formatCode="0&quot;%&quot;" sourceLinked="0"/>
          <c:txPr>
            <a:bodyPr/>
            <a:lstStyle/>
            <a:p>
              <a:pPr>
                <a:defRPr sz="1800" b="1">
                  <a:solidFill>
                    <a:srgbClr val="111518"/>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D3D8D6"/>
            </a:solidFill>
          </a:ln>
        </c:spPr>
        <c:txPr>
          <a:bodyPr/>
          <a:lstStyle/>
          <a:p>
            <a:pPr>
              <a:defRPr sz="1500">
                <a:solidFill>
                  <a:srgbClr val="111518"/>
                </a:solidFil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dispBlanksAs val="gap"/>
  </c:chart>
  <c:txPr>
    <a:bodyPr/>
    <a:lstStyle/>
    <a:p>
      <a:pPr>
        <a:defRPr sz="1500">
          <a:solidFill>
            <a:srgbClr val="46505A"/>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lgn="l"/>
            <a:r>
              <a:rPr sz="1800" b="1" i="0">
                <a:solidFill>
                  <a:srgbClr val="111518"/>
                </a:solidFill>
                <a:latin typeface="Arial"/>
              </a:rPr>
              <a:t>Manufacturing jobs, Boone County, IL</a:t>
            </a:r>
          </a:p>
        </c:rich>
      </c:tx>
      <c:layout/>
      <c:overlay val="0"/>
    </c:title>
    <c:autoTitleDeleted val="0"/>
    <c:plotArea>
      <c:barChart>
        <c:barDir val="col"/>
        <c:grouping val="clustered"/>
        <c:varyColors val="0"/>
        <c:ser>
          <c:idx val="0"/>
          <c:order val="0"/>
          <c:tx>
            <c:strRef>
              <c:f>Sheet1!$B$1</c:f>
              <c:strCache>
                <c:ptCount val="1"/>
                <c:pt idx="0">
                  <c:v>Value</c:v>
                </c:pt>
              </c:strCache>
            </c:strRef>
          </c:tx>
          <c:dPt>
            <c:idx val="0"/>
            <c:spPr>
              <a:solidFill>
                <a:srgbClr val="8E8F8A"/>
              </a:solidFill>
            </c:spPr>
          </c:dPt>
          <c:dPt>
            <c:idx val="1"/>
            <c:spPr>
              <a:solidFill>
                <a:srgbClr val="D9532B"/>
              </a:solidFill>
            </c:spPr>
          </c:dPt>
          <c:cat>
            <c:strRef>
              <c:f>Sheet1!$A$2:$A$3</c:f>
              <c:strCache>
                <c:ptCount val="2"/>
                <c:pt idx="0">
                  <c:v>2015</c:v>
                </c:pt>
                <c:pt idx="1">
                  <c:v>2024</c:v>
                </c:pt>
              </c:strCache>
            </c:strRef>
          </c:cat>
          <c:val>
            <c:numRef>
              <c:f>Sheet1!$B$2:$B$3</c:f>
              <c:numCache>
                <c:formatCode>General</c:formatCode>
                <c:ptCount val="2"/>
                <c:pt idx="0">
                  <c:v>7761</c:v>
                </c:pt>
                <c:pt idx="1">
                  <c:v>2070</c:v>
                </c:pt>
              </c:numCache>
            </c:numRef>
          </c:val>
        </c:ser>
        <c:dLbls>
          <c:numFmt formatCode="#,##0" sourceLinked="0"/>
          <c:txPr>
            <a:bodyPr/>
            <a:lstStyle/>
            <a:p>
              <a:pPr>
                <a:defRPr sz="1800" b="1">
                  <a:solidFill>
                    <a:srgbClr val="111518"/>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3D8D6"/>
            </a:solidFill>
          </a:ln>
        </c:spPr>
        <c:txPr>
          <a:bodyPr/>
          <a:lstStyle/>
          <a:p>
            <a:pPr>
              <a:defRPr sz="1700">
                <a:solidFill>
                  <a:srgbClr val="111518"/>
                </a:solidFill>
              </a:defRPr>
            </a:pPr>
          </a:p>
        </c:txPr>
        <c:crossAx val="-2113994440"/>
        <c:crosses val="autoZero"/>
        <c:auto val="1"/>
        <c:lblAlgn val="ctr"/>
        <c:lblOffset val="100"/>
        <c:noMultiLvlLbl val="0"/>
      </c:catAx>
      <c:valAx>
        <c:axId val="-2113994440"/>
        <c:scaling>
          <c:max val="9000.0"/>
          <c:min val="0.0"/>
        </c:scaling>
        <c:delete/>
        <c:axPos val="l"/>
        <c:majorTickMark val="out"/>
        <c:minorTickMark val="none"/>
        <c:tickLblPos val="nextTo"/>
        <c:crossAx val="-2068027336"/>
        <c:crosses val="autoZero"/>
      </c:valAx>
    </c:plotArea>
    <c:dispBlanksAs val="gap"/>
  </c:chart>
  <c:txPr>
    <a:bodyPr/>
    <a:lstStyle/>
    <a:p>
      <a:pPr>
        <a:defRPr sz="1700">
          <a:solidFill>
            <a:srgbClr val="46505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is driving a boom in data center construction. Lawrence Berkeley National Lab found that data centers used 4.4 percent of US electricity in 2023, and it expects 6.7 to 12 percent by 2028. Communities are pushing back on where these go. This summer New York paused state permits for large data centers over energy and water. A campus built today runs for 20 to 30 years, so the county you choose sets its carbon, its water, and its power bill for decades.</a:t>
            </a:r>
          </a:p>
          <a:p/>
          <a:p>
            <a:r>
              <a:t>Where the numbers come from. [[CHECK]] marks a number that could change tonight.</a:t>
            </a:r>
          </a:p>
          <a:p>
            <a:r>
              <a:t>- US data center share of electricity in 2023, 4.4% (176 TWh), published source (LBNL 2024 report, Executive Summary p. 5)</a:t>
            </a:r>
          </a:p>
          <a:p>
            <a:r>
              <a:t>- Projected share in 2028, 6.7% to 12.0%, published source (LBNL 2024 report, Executive Summary p. 6)</a:t>
            </a:r>
          </a:p>
          <a:p>
            <a:r>
              <a:t>- Grid carbon across all counties, 242 to 1,397 lb/MWh, nearly sixfold [[CHECK]] (data/processed/county_features.parquet, grid_co2_lb_mwh (eGRID2023 subregions))</a:t>
            </a:r>
          </a:p>
          <a:p/>
          <a:p>
            <a:r>
              <a:t>Outside sources</a:t>
            </a:r>
          </a:p>
          <a:p>
            <a:r>
              <a:t>- LBNL 2024 United States Data Center Energy Usage Report (Shehabi et al.), https://eta-publications.lbl.gov/sites/default/files/2024-12/lbnl-2024-united-states-data-center-energy-usage-report_1.pdf</a:t>
            </a:r>
          </a:p>
          <a:p>
            <a:r>
              <a:t>- New York Executive Order No. 62, https://www.governor.ny.gov/executive-order/no-62-establishing-temporary-moratorium-data-centers-new-york-while-state-develops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built a tool for that choice. You describe the project, meaning its size, how it's cooled, the limits you won't cross, and how much each factor matters to you. The tool screens all 3,109 counties in the lower 48. Hard limits like flood risk, wildfire, fiber, and the wait for a grid connection rule out about half. Eight factors then score the rest against the nation, and a county that's weak on any one of them drops below the others. You get a ranked shortlist, and every rank comes with its reasons.</a:t>
            </a:r>
          </a:p>
          <a:p/>
          <a:p>
            <a:r>
              <a:t>If someone asks whether this is machine learning, it isn't. The weights are stated and anyone can change them. The only model we built was for permitting, and we dropped it because it failed out of sample.</a:t>
            </a:r>
          </a:p>
          <a:p/>
          <a:p>
            <a:r>
              <a:t>Where the numbers come from. [[CHECK]] marks a number that could change tonight.</a:t>
            </a:r>
          </a:p>
          <a:p>
            <a:r>
              <a:t>- Counties, 3,109 [[CHECK]] (docs/figures/facts.json, balanced.counties)</a:t>
            </a:r>
          </a:p>
          <a:p>
            <a:r>
              <a:t>- Counties that pass the hard limits, 1,565 [[CHECK]] (docs/figures/facts.json, balanced.passed)</a:t>
            </a:r>
          </a:p>
          <a:p>
            <a:r>
              <a:t>- Counties with no weak factor (pillar floor), 883 [[CHECK]] (docs/figures/facts.json, balanced.floor_ok)</a:t>
            </a:r>
          </a:p>
          <a:p>
            <a:r>
              <a:t>- Balanced weights, energy_carbon 0.153, water 0.119, climate_resilience 0.119, grid_infrastructure 0.153, land 0.068, community 0.085, permitting 0.153, cost 0.150 [[CHECK]] (docs/figures/facts.json, weights.balanced)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challenge asks about proximity to sensitive areas and ecosystems, so we added it. The tool now reads how much of each county is protected for wildlife, how much is farmed, how much is built up, and how much is forest or wetland, and each one now counts in the score. Grant shows the trade. It's 43 percent farmland, counting crops and pasture, and 13 percent protected, so its land score fell from 75 to 53. It has almost no forest or wetland, so permitting rose from 53 to 63.</a:t>
            </a:r>
          </a:p>
          <a:p/>
          <a:p>
            <a:r>
              <a:t>If someone asks about farmland, large campuses often land on it because developers want flat, big parcels near roads and transmission. That's a habit, not a need. Soil quality does nothing for a data center, and old power plant sites or industrial parks can work as well. The tool measures land cover, not prime soil. Building on farmland usually harms habitat less than wild land does, but it uses up farmland, so we leave the balance to the user. In our opposition dataset farmland comes up in 7 of 100 cases with stated reasons, mostly inferred from text. The top reasons are zoning process, water, and grid strain.</a:t>
            </a:r>
          </a:p>
          <a:p/>
          <a:p>
            <a:r>
              <a:t>If someone asks whether one input drives Grant's rank, scored alone protected land would drop Grant to 4th and cropland alone to 2nd. Together, as designed, they offset. The protected and tribal land limits are off in every preset.</a:t>
            </a:r>
          </a:p>
          <a:p/>
          <a:p>
            <a:r>
              <a:t>Where the numbers come from. [[CHECK]] marks a number that could change tonight.</a:t>
            </a:r>
          </a:p>
          <a:p>
            <a:r>
              <a:t>- Grant land score before and after, 75.0 to 52.8 [[CHECK]] (docs/figures/facts.json and research/sensitive_land.md, featured.pillars.land)</a:t>
            </a:r>
          </a:p>
          <a:p>
            <a:r>
              <a:t>- Grant permitting score before and after, 53.2 to 63.2 [[CHECK]] (docs/figures/facts.json and research/sensitive_land.md, featured.pillars.permitting)</a:t>
            </a:r>
          </a:p>
          <a:p>
            <a:r>
              <a:t>- Grant farmland share (crops and pasture, NLCD 81 and 82), 42.9% [[CHECK]] (research/sensitive_land.md, County shares table)</a:t>
            </a:r>
          </a:p>
          <a:p>
            <a:r>
              <a:t>- Grant protected share (GAP 1-2), 12.8% [[CHECK]] (research/sensitive_land.md, County shares table)</a:t>
            </a:r>
          </a:p>
          <a:p>
            <a:r>
              <a:t>- Grant rank with protected land alone or cropland alone, 4th or 2nd [[CHECK]] (research/sensitive_land.md, Effect on the balanced ranking)</a:t>
            </a:r>
          </a:p>
          <a:p>
            <a:r>
              <a:t>- Farmland in opposition cases with stated reasons, 7 of 100 [[CHECK]] (data/processed/opposition_seed_labels.csv, reasons column)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balanced weights, Grant and Whitman counties in eastern Washington come out level, 63.70 to 63.69. Under equal weights Whitman comes first and Grant second. We use Grant as our worked example because it already hosts the Quincy data center cluster, and its power timeline and tax status are documented. It comes with a condition. The campus has to be sited next to hydro, powered by new clean supply the project funds, because none of the utility's existing hydro is spare.</a:t>
            </a:r>
          </a:p>
          <a:p/>
          <a:p>
            <a:r>
              <a:t>If someone asks why not Whitman, it's a fair alternative with almost no protected land and no water stress. In the 25-year dollar model it's a little cheaper than Grant, .33 billion against .45 billion, but its power timeline is a national-median assumption, and we haven't done the same site research for it yet.</a:t>
            </a:r>
          </a:p>
          <a:p/>
          <a:p>
            <a:r>
              <a:t>Where the numbers come from. [[CHECK]] marks a number that could change tonight.</a:t>
            </a:r>
          </a:p>
          <a:p>
            <a:r>
              <a:t>- Counties that pass the hard limits, 1,565 [[CHECK]] (docs/figures/facts.json, balanced.passed)</a:t>
            </a:r>
          </a:p>
          <a:p>
            <a:r>
              <a:t>- Grant composite, 63.70 [[CHECK]] (results/balanced.csv, composite)</a:t>
            </a:r>
          </a:p>
          <a:p>
            <a:r>
              <a:t>- Whitman composite, 63.69 [[CHECK]] (results/balanced.csv, composite)</a:t>
            </a:r>
          </a:p>
          <a:p>
            <a:r>
              <a:t>- Rank under equal weights, Grant 2nd, Whitman 1st [[CHECK]] (docs/figures/facts.json, weights.equal_weights_featured_rank)</a:t>
            </a:r>
          </a:p>
          <a:p/>
          <a:p>
            <a:r>
              <a:t>Outside sources</a:t>
            </a:r>
          </a:p>
          <a:p>
            <a:r>
              <a:t>- Grant PUD data center FAQ, 2026-08-28, https://www.grantpud.org/blog/data-center-faqs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Did we pick weights that make our example win? Instead of defending one set of weights, we drew 5,000 random weightings and counted how often each county makes the top 10. Whitman does most often, at 43.9 percent, and Grant sits in a close group around 36 percent. Near our own weights, Grant and Whitman both stay in the top 10 almost every time. So the tool shows you the spread and lets you pick the weights. We didn't tune the weights to get an answer. We tested how much the answer depends on them.</a:t>
            </a:r>
          </a:p>
          <a:p/>
          <a:p>
            <a:r>
              <a:t>If someone asks why these weights, we compared five methods. A 25-year dollar model, random weightings, two data-driven methods, and where industry has already built. Energy and carbon carry 67 to 88 percent of the dollar differences, depending on the carbon price. Our balanced weights give them about 30 percent.</a:t>
            </a:r>
          </a:p>
          <a:p/>
          <a:p>
            <a:r>
              <a:t>Where the numbers come from. [[CHECK]] marks a number that could change tonight.</a:t>
            </a:r>
          </a:p>
          <a:p>
            <a:r>
              <a:t>- Top 10 share, Whitman, WA, 43.9% [[CHECK]] (docs/figures/facts.json, weights.uniform_weightings_top10_share)</a:t>
            </a:r>
          </a:p>
          <a:p>
            <a:r>
              <a:t>- Top 10 share, Cuyahoga, OH, 36.9% [[CHECK]] (docs/figures/facts.json, weights.uniform_weightings_top10_share)</a:t>
            </a:r>
          </a:p>
          <a:p>
            <a:r>
              <a:t>- Top 10 share, Clark, WA, 35.9% [[CHECK]] (docs/figures/facts.json, weights.uniform_weightings_top10_share)</a:t>
            </a:r>
          </a:p>
          <a:p>
            <a:r>
              <a:t>- Top 10 share, Grant, WA, 35.8% [[CHECK]] (docs/figures/facts.json, weights.uniform_weightings_top10_share)</a:t>
            </a:r>
          </a:p>
          <a:p>
            <a:r>
              <a:t>- Top 10 share, Hutchinson, TX, 35.2% [[CHECK]] (docs/figures/facts.json, weights.uniform_weightings_top10_share)</a:t>
            </a:r>
          </a:p>
          <a:p>
            <a:r>
              <a:t>- Grant in the top 10 near balanced weights, 99.95% [[CHECK]] (docs/figures/facts.json, featured.robustness (2,000 small perturbations))</a:t>
            </a:r>
          </a:p>
          <a:p>
            <a:r>
              <a:t>- Whitman in the top 10 near balanced weights, 99.4% [[CHECK]] (docs/figures/facts.json, top10[1].robustness)</a:t>
            </a:r>
          </a:p>
          <a:p>
            <a:r>
              <a:t>- Rank under equal weights, Grant 2nd, Whitman 1st [[CHECK]] (docs/figures/facts.json, weights.equal_weights_featured_rank)</a:t>
            </a:r>
          </a:p>
          <a:p>
            <a:r>
              <a:t>- Energy and carbon share of 25-year cost differences, 67% to 88%, published source (docs/weighting.md, Variance shares, with sales tax)</a:t>
            </a:r>
          </a:p>
          <a:p>
            <a:r>
              <a:t>- Energy and carbon weight in the balanced preset, about 30% [[CHECK]] (docs/weighting.md, Variance shares)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Against Loudoun County, Virginia, where much of the industry builds today, the example holds up well on water. An evaporatively cooled campus in Grant would use about 210 million gallons of water a year. Dry cooling brings that to about 28 million, an 87 percent cut, for about 2 percent more energy. Carbon depends on the power that serves the campus. Before its own clean supply comes online, it's 236 to 700 thousand tons a year, against Loudoun's 675 thousand. Washington law then requires fully clean retail power by 2045.</a:t>
            </a:r>
          </a:p>
          <a:p/>
          <a:p>
            <a:r>
              <a:t>If someone asks why not zero carbon, the utility's hydro rate of zero describes its existing customers. None of that hydro is spare for a new load, so we don't claim it. If someone asks whether 2045 is an edge over Virginia, probably not. Virginia's Clean Economy Act also sets 2045 for Dominion, though we haven't checked Virginia's law ourselves. The difference is the new supply the project funds.</a:t>
            </a:r>
          </a:p>
          <a:p/>
          <a:p>
            <a:r>
              <a:t>Where the numbers come from. [[CHECK]] marks a number that could change tonight.</a:t>
            </a:r>
          </a:p>
          <a:p>
            <a:r>
              <a:t>- Grant water, evaporative, 210.2 million gallons a year [[CHECK]] (docs/figures/facts.json, impact['Grant, WA'].water_million_gal_evap)</a:t>
            </a:r>
          </a:p>
          <a:p>
            <a:r>
              <a:t>- Grant water, dry, 27.8 million gallons a year [[CHECK]] (docs/figures/facts.json, impact['Grant, WA'].water_million_gal_dry)</a:t>
            </a:r>
          </a:p>
          <a:p>
            <a:r>
              <a:t>- Loudoun water, evaporative, 322.8 million gallons a year [[CHECK]] (docs/figures/facts.json, impact['Loudoun, VA'].water_million_gal_evap)</a:t>
            </a:r>
          </a:p>
          <a:p>
            <a:r>
              <a:t>- Water cut, dry against evaporative, 87% [[CHECK]] (computed from the two Grant values)</a:t>
            </a:r>
          </a:p>
          <a:p>
            <a:r>
              <a:t>- Grant CO2 at BPA's mix, 235,547 t a year [[CHECK]] (docs/figures/facts.json, grant_ranges.co2_tonnes.bpa)</a:t>
            </a:r>
          </a:p>
          <a:p>
            <a:r>
              <a:t>- Grant CO2 at the regional average, 700,390 t a year [[CHECK]] (docs/figures/facts.json, grant_ranges.co2_tonnes.nwpp_table)</a:t>
            </a:r>
          </a:p>
          <a:p>
            <a:r>
              <a:t>- Loudoun CO2, dry, 675,455 t a year [[CHECK]] (docs/figures/facts.json, impact['Loudoun, VA'].co2_tonnes_dry)</a:t>
            </a:r>
          </a:p>
          <a:p>
            <a:r>
              <a:t>- Dry cooling energy penalty, about 2% [[CHECK]] (research/risk.md, Water stress row)</a:t>
            </a:r>
          </a:p>
          <a:p>
            <a:r>
              <a:t>- Washington clean power dates, 2030 neutral, 2045 fully clean, published source (research/implementation.md, Carbon over 30 years)</a:t>
            </a:r>
          </a:p>
          <a:p/>
          <a:p>
            <a:r>
              <a:t>Outside sources</a:t>
            </a:r>
          </a:p>
          <a:p>
            <a:r>
              <a:t>- Washington Clean Energy Transformation Act, RCW 19.405.040 and 19.405.050, https://app.leg.wa.gov/RCW/default.aspx?cite=19.405</a:t>
            </a:r>
          </a:p>
          <a:p>
            <a:r>
              <a:t>- Washington Data Center Workgroup, Preliminary Report, Finding 19, p. 13, https://dor.wa.gov/sites/default/files/2025-12/2025DataCntrWrkgrpPrelimReport.pdf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example, power is the risk that matters. Grant PUD's share of its dams averages about 633 average megawatts, already below its 757 megawatt load. The campus would add 279, and about 800 megawatts of requests are ahead of it. So the build phases in, starting after Quincy's 2027 transmission upgrade and growing toward 300 megawatts after the 2029 line, only as new supply it pays for arrives. About a gigawatt of new solar matches its yearly use. Heat is a medium risk, and a hand check found no protected land within 5 kilometers.</a:t>
            </a:r>
          </a:p>
          <a:p/>
          <a:p>
            <a:r>
              <a:t>If someone asks about price, a new load this size doesn't get today's average rate. If we reprice only Washington at BPA's new-load rate of $80 a megawatt-hour, Grant falls to 77th, and Whitman falls with it. No other state's new-load rate is sourced, so that comparison is lopsided.</a:t>
            </a:r>
          </a:p>
          <a:p/>
          <a:p>
            <a:r>
              <a:t>If someone asks about timing, each month of delay is priced at $25 million in the dollar model, which is an assumption. Grant breaks even with Clark at about 10 months past a two-year baseline and with Franklin at about 12.</a:t>
            </a:r>
          </a:p>
          <a:p/>
          <a:p>
            <a:r>
              <a:t>If someone asks who pays, Grant PUD says large power users are responsible for the costs of new generation, transmission, and distribution needed to serve them.</a:t>
            </a:r>
          </a:p>
          <a:p/>
          <a:p>
            <a:r>
              <a:t>If someone asks about cooling and heat, the plan uses liquid cooling with dry coolers, about 28 million gallons a year, sized for hotter 2050 summers, and pipes 45 to 65 degree return water to a food processor next door.</a:t>
            </a:r>
          </a:p>
          <a:p/>
          <a:p>
            <a:r>
              <a:t>If someone asks about tribal land, there's none in Grant County and the nearest is about 75 km away. Quincy appears to sit in the Yakama Nation's 1855 ceded area, but that's our reading of the treaty text, not an official map. A federal connection, like a federal permit or a BPA interconnection, triggers Section 106 consultation, and state funding triggers Washington Executive Order 21-02 review. Washington's data center workgroup also notes that new load on hydropower competes with tribal and state fisheries efforts, which is one more reason we don't claim existing hydro.</a:t>
            </a:r>
          </a:p>
          <a:p/>
          <a:p>
            <a:r>
              <a:t>Where the numbers come from. [[CHECK]] marks a number that could change tonight.</a:t>
            </a:r>
          </a:p>
          <a:p>
            <a:r>
              <a:t>- Grant PUD share of its dams, about 633 aMW, published source (research/risk.md (Grant PUD FAQ), Power availability row)</a:t>
            </a:r>
          </a:p>
          <a:p>
            <a:r>
              <a:t>- Grant PUD 2025 load, 757 aMW, published source (research/risk.md (Grant PUD FAQ), Power availability row)</a:t>
            </a:r>
          </a:p>
          <a:p>
            <a:r>
              <a:t>- Campus average load, 279 aMW [[CHECK]] (research/risk.md and etl/impact.py, Power availability row)</a:t>
            </a:r>
          </a:p>
          <a:p>
            <a:r>
              <a:t>- Large-load requests queued, about 800 MW, published source (research/risk.md (Grant PUD FAQ), Power availability row)</a:t>
            </a:r>
          </a:p>
          <a:p>
            <a:r>
              <a:t>- Transmission milestones, 2027 Quincy upgrade, 2029 Wanapum to Quincy line, published source (research/implementation.md, The queue and the caps)</a:t>
            </a:r>
          </a:p>
          <a:p>
            <a:r>
              <a:t>- New solar to match yearly use, about 1 GW (1,030 MW at 27% capacity factor) [[CHECK]] (research/implementation.md, Where new clean supply comes from)</a:t>
            </a:r>
          </a:p>
          <a:p>
            <a:r>
              <a:t>- Days above 95°F, 14.5 today, 35.9 by 2050 [[CHECK]] (docs/figures/facts.json, featured.horizon_2050_raw.days_above_95f_hist)</a:t>
            </a:r>
          </a:p>
          <a:p>
            <a:r>
              <a:t>- Nearest protected land to Quincy, 5.8 km [[CHECK]] (research/sensitive_land.md, Grant County table)</a:t>
            </a:r>
          </a:p>
          <a:p>
            <a:r>
              <a:t>- Nearest tribal land to Quincy, 74.7 km [[CHECK]] (research/sensitive_land.md, Grant County table)</a:t>
            </a:r>
          </a:p>
          <a:p>
            <a:r>
              <a:t>- Grant rank with only WA at BPA's $80 and $132 per MWh, 77 and 1,151 [[CHECK]] (docs/deck_build_log.md, step 4 price rerun)</a:t>
            </a:r>
          </a:p>
          <a:p>
            <a:r>
              <a:t>- Delay cost, $25M a month (assumption) [[CHECK]] (docs/weighting.md, Time to power)</a:t>
            </a:r>
          </a:p>
          <a:p>
            <a:r>
              <a:t>- Grant break-even with Clark and Franklin, 10.2 and 12.1 months past a 2-year baseline [[CHECK]] (docs/weighting.md, Grant's row)</a:t>
            </a:r>
          </a:p>
          <a:p>
            <a:r>
              <a:t>- Dry cooling water, 27.8 million gallons a year [[CHECK]] (docs/figures/facts.json, impact['Grant, WA'].water_million_gal_dry)</a:t>
            </a:r>
          </a:p>
          <a:p/>
          <a:p>
            <a:r>
              <a:t>Outside sources</a:t>
            </a:r>
          </a:p>
          <a:p>
            <a:r>
              <a:t>- Grant PUD data center FAQ, 2026-08-28, https://www.grantpud.org/blog/data-center-faqs</a:t>
            </a:r>
          </a:p>
          <a:p>
            <a:r>
              <a:t>- Washington Data Center Workgroup, Preliminary Report, Findings 6 and 19c, https://dor.wa.gov/sites/default/files/2025-12/2025DataCntrWrkgrpPrelimReport.pdf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us back to the tool. Watch what one change does. Switch the cooling from dry to evaporative, and the tool adds a limit on water stress. The counties that pass drop from 1,565 to 826. Grant scores 3.6 out of 5 for water stress, so it drops out, and the app tells you exactly which limit it failed. Whitman, with almost no water stress, moves to first. Only the cooling choice changed, and the app explains the new order. Let us show you. [Hand over to the live demo.]</a:t>
            </a:r>
          </a:p>
          <a:p/>
          <a:p>
            <a:r>
              <a:t>If someone asks about the other presets, speed to power puts Mayes, Oklahoma first, and sustainability first keeps Whitman first with Grant fourth.</a:t>
            </a:r>
          </a:p>
          <a:p/>
          <a:p>
            <a:r>
              <a:t>Where the numbers come from. [[CHECK]] marks a number that could change tonight.</a:t>
            </a:r>
          </a:p>
          <a:p>
            <a:r>
              <a:t>- Counties that pass, dry cooling, 1,565 [[CHECK]] (docs/figures/facts.json, balanced.passed)</a:t>
            </a:r>
          </a:p>
          <a:p>
            <a:r>
              <a:t>- Counties that pass, evaporative cooling, 826 [[CHECK]] (docs/deck_build_log.md step 4 and docs/demo_script.md, evaporative cooling step)</a:t>
            </a:r>
          </a:p>
          <a:p>
            <a:r>
              <a:t>- Counties with no weak factor, evaporative, 502 [[CHECK]] (docs/deck_build_log.md step 4 and docs/demo_script.md, evaporative cooling step)</a:t>
            </a:r>
          </a:p>
          <a:p>
            <a:r>
              <a:t>- Grant water stress, 3.6 of 5 [[CHECK]] (docs/figures/facts.json, featured.horizon_2050_raw.water_stress_bws.today)</a:t>
            </a:r>
          </a:p>
          <a:p>
            <a:r>
              <a:t>- First place under evaporative cooling, Whitman, WA [[CHECK]] (docs/deck_build_log.md step 4)</a:t>
            </a:r>
          </a:p>
          <a:p>
            <a:r>
              <a:t>- Preset leaders, speed_to_power Mayes OK, sustainability_first Whitman WA with Grant 4th [[CHECK]] (docs/figures/facts.json and docs/deck.md, presets)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seven factors, Berkshire County, Massachusetts ranked first and Grant seventh. Massachusetts closed the tax break Berkshire relied on, and it fell to 27th. When we added the cost of power as its own factor, Grant rose to first and Berkshire fell to 1,164th. Then the price check cut against us. A new load this size won't get today's average price, and if only Washington pays BPA's new-load rate, Grant falls to 77th. We also tested a machine-learning model of permitting outcomes and dropped it, because out of sample it did no better than chance.</a:t>
            </a:r>
          </a:p>
          <a:p/>
          <a:p>
            <a:r>
              <a:t>Where the numbers come from. [[CHECK]] marks a number that could change tonight.</a:t>
            </a:r>
          </a:p>
          <a:p>
            <a:r>
              <a:t>- Berkshire ranks by step, 1 / 27 / 1164 [[CHECK]] (docs/figures/facts.json, pick_story.ranks['Berkshire, MA'])</a:t>
            </a:r>
          </a:p>
          <a:p>
            <a:r>
              <a:t>- Grant ranks by step, 7 / 7 / 1 [[CHECK]] (docs/figures/facts.json, pick_story.ranks['Grant, WA'])</a:t>
            </a:r>
          </a:p>
          <a:p>
            <a:r>
              <a:t>- Grant rank with only WA at BPA's $80 per MWh, 77 [[CHECK]] (docs/deck_build_log.md, step 4 price rerun)</a:t>
            </a:r>
          </a:p>
          <a:p>
            <a:r>
              <a:t>- Grant energy cost at BPA's new-load rate, $196M to $323M a year [[CHECK]] (docs/figures/facts.json, grant_ranges.energy_cost_musd)</a:t>
            </a:r>
          </a:p>
          <a:p>
            <a:r>
              <a:t>- Permitting model AUC without facility counts, 0.48 to 0.585, below a 0.60 bar [[CHECK]] (research/permitting_model.md)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out of 100 can hide physical differences. At regional grid rates, Franklin County, New York emits 2.7 times less CO2 than Grant, yet their carbon scores are 80.4 and 70.4, the 99th and 94th percentiles. So for the leaders we also price everything in dollars and tons over 25 years. In that model energy and carbon carry 67 to 88 percent of the cost differences between counties, depending on the carbon price. Our balanced weights give them about 30 percent.</a:t>
            </a:r>
          </a:p>
          <a:p/>
          <a:p>
            <a:r>
              <a:t>If someone asks, with BPA-like supply Grant drops to about 236 thousand tons, below Franklin.</a:t>
            </a:r>
          </a:p>
          <a:p/>
          <a:p>
            <a:r>
              <a:t>Where the numbers come from. [[CHECK]] marks a number that could change tonight.</a:t>
            </a:r>
          </a:p>
          <a:p>
            <a:r>
              <a:t>- Carbon score, Grant, 70.4 (93.6th percentile) [[CHECK]] (docs/deck_build_log.md, step 4)</a:t>
            </a:r>
          </a:p>
          <a:p>
            <a:r>
              <a:t>- Carbon score, Franklin, 80.4 (98.7th percentile) [[CHECK]] (docs/deck_build_log.md, step 4)</a:t>
            </a:r>
          </a:p>
          <a:p>
            <a:r>
              <a:t>- CO2, Grant at the regional average, 700,390 t a year [[CHECK]] (docs/figures/facts.json, grant_ranges.co2_tonnes.nwpp_table)</a:t>
            </a:r>
          </a:p>
          <a:p>
            <a:r>
              <a:t>- CO2, Franklin, 262,168 t a year [[CHECK]] (research/impact.md, dry cooling table)</a:t>
            </a:r>
          </a:p>
          <a:p>
            <a:r>
              <a:t>- Energy and carbon share of cost differences, 67%, 78%, 88% at $0, $190, $300 per ton, published source (docs/weighting.md, Variance shares)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25-year dollar model, four leading counties land within 3 percent of each other at today's prices, so the model can't really separate them. Whitman is the cheapest, but its time to power uses a national-median assumption, not research. Clark wins over Grant if its parcel avoids the transit district's higher sales tax and it gets power in about two and a quarter years. Grant holds up if its power arrives within about a year of a two-year baseline. Franklin needs New York's data center tax exemption, which probably doesn't cover an AI training campus.</a:t>
            </a:r>
          </a:p>
          <a:p/>
          <a:p>
            <a:r>
              <a:t>If someone asks about cheaper states, with sales tax the states that exempt all equipment price cheaper, but those flags in our state table aren't verified.</a:t>
            </a:r>
          </a:p>
          <a:p/>
          <a:p>
            <a:r>
              <a:t>Where the numbers come from. [[CHECK]] marks a number that could change tonight.</a:t>
            </a:r>
          </a:p>
          <a:p>
            <a:r>
              <a:t>- 25-year cost, Whitman, WA, $4.330B [[CHECK]] (docs/weighting.md and scratch/weighting/out/monetized_costs.csv, total_190)</a:t>
            </a:r>
          </a:p>
          <a:p>
            <a:r>
              <a:t>- 25-year cost, Clark, WA, $4.405B [[CHECK]] (docs/weighting.md and scratch/weighting/out/monetized_costs.csv, total_190)</a:t>
            </a:r>
          </a:p>
          <a:p>
            <a:r>
              <a:t>- 25-year cost, Grant, WA, $4.452B [[CHECK]] (docs/weighting.md and scratch/weighting/out/monetized_costs.csv, total_190)</a:t>
            </a:r>
          </a:p>
          <a:p>
            <a:r>
              <a:t>- 25-year cost, Franklin, NY, $4.454B [[CHECK]] (docs/weighting.md and scratch/weighting/out/monetized_costs.csv, total_190)</a:t>
            </a:r>
          </a:p>
          <a:p>
            <a:r>
              <a:t>- Whitman time to power, national median queue age, 2.89 years (imputed) [[CHECK]] (scratch/weighting/out/monetized_costs.csv, queue_age_used, queue_imputed)</a:t>
            </a:r>
          </a:p>
          <a:p>
            <a:r>
              <a:t>- Grant break-even with Clark and Franklin, 10.2 and 12.1 months [[CHECK]] (docs/weighting.md, Grant's row)</a:t>
            </a:r>
          </a:p>
          <a:p>
            <a:r>
              <a:t>- Malone distance to the Adirondack Blue Line, 6.1 km [[CHECK]] (research/sensitive_land.md, Franklin County)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3,109 counties are scored from public sources joined into one county table. This round added USGS protected areas, NLCD land cover, and Census tribal boundaries. Four inputs are proxies, and we say so. Home fiber stands in for backbone fiber, plants within 100 kilometers stand in for power a new load can actually get, a state average price stands in for what a new load pays, and a heat-demand score stands in for heat reuse. 39 of 45 planned columns have data, so coverage across the top 10 is 84 to 87 percent.</a:t>
            </a:r>
          </a:p>
          <a:p/>
          <a:p>
            <a:r>
              <a:t>Where the numbers come from. [[CHECK]] marks a number that could change tonight.</a:t>
            </a:r>
          </a:p>
          <a:p>
            <a:r>
              <a:t>- Counties, 3,109 [[CHECK]] (docs/figures/facts.json, balanced.counties)</a:t>
            </a:r>
          </a:p>
          <a:p>
            <a:r>
              <a:t>- Columns with data, of those planned, 39 of 45 [[CHECK]] (docs/figures/facts.json, limitations.scored_columns_present and scored_columns_mapped)</a:t>
            </a:r>
          </a:p>
          <a:p>
            <a:r>
              <a:t>- Coverage across the top 10, 0.84 to 0.87 [[CHECK]] (docs/figures/facts.json, limitations.coverage_top10)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limits matter most. First, protected land, tribal land, and land cover are county shares. They're a screen, not a siting check. A 150-acre campus can avoid protected land inside a county, so parcel checks belong in feasibility. Second, scoring against the nation stretches small gaps. Whitman is 0.2 percent protected and Grant 12.8 percent, and that ends up about 89 percentile points apart. Third, Grant leads Whitman by 0.01 points, which is a tie. The engine also sees installed generation and average prices, which a new 300 megawatt load won't get.</a:t>
            </a:r>
          </a:p>
          <a:p/>
          <a:p>
            <a:r>
              <a:t>Where the numbers come from. [[CHECK]] marks a number that could change tonight.</a:t>
            </a:r>
          </a:p>
          <a:p>
            <a:r>
              <a:t>- Grant lead over Whitman, 0.01 points [[CHECK]] (results/balanced.csv, composite)</a:t>
            </a:r>
          </a:p>
          <a:p>
            <a:r>
              <a:t>- Protected share, Whitman and Grant, 0.2% and 12.8%, about 89 percentile points apart [[CHECK]] (research/sensitive_land.md, County shares in the engine)</a:t>
            </a:r>
          </a:p>
          <a:p>
            <a:r>
              <a:t>- Plant capacity within 100 km of Grant, 16,193 MW [[CHECK]] (docs/figures/facts.json, limitations.featured_plant_capacity_mw_100km)</a:t>
            </a:r>
          </a:p>
          <a:p>
            <a:r>
              <a:t>- Loudoun VA, fails the queue age limit (max_queue_median_age_years) [[CHECK]] (docs/figures/facts.json, limitations.loudoun_va)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extensions. The same engine ranked 196 countries after about 40 lines of change, and 83 pass the limits, led by Sweden, Switzerland, and Norway. That shows the method carries to another region. It isn't a country recommendation, because there's no open global power price. The second extension adds unscored context after the ranking. Boone County, Illinois lost almost three quarters of its manufacturing jobs after the Belvidere plant went idle. Economic need isn't evidence of community support, so local engagement is still required.</a:t>
            </a:r>
          </a:p>
          <a:p/>
          <a:p>
            <a:r>
              <a:t>Where the numbers come from. [[CHECK]] marks a number that could change tonight.</a:t>
            </a:r>
          </a:p>
          <a:p>
            <a:r>
              <a:t>- Countries, passing, and with no weak factor, 196, 83, 55 [[CHECK]] (docs/figures/facts.json, global)</a:t>
            </a:r>
          </a:p>
          <a:p>
            <a:r>
              <a:t>- US global rank, 58 of 83 [[CHECK]] (docs/figures/facts.json, global.us)</a:t>
            </a:r>
          </a:p>
          <a:p>
            <a:r>
              <a:t>- Boone IL manufacturing jobs, 7,761 in 2015 to 2,070 in 2024 [[CHECK]] (docs/demo_script.md, Stage 2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4.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chart" Target="../charts/char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9.xml"/><Relationship Id="rId4" Type="http://schemas.openxmlformats.org/officeDocument/2006/relationships/chart" Target="../charts/char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Where AI data centers get built locks in their carbon, water, and costs for decades</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Data from Lawrence Berkeley National Laboratory, 2024 United States Data Center Energy Usage Report, and New York Executive Order 62 (July 2026). Grid carbon range from eGRID2023 subregion rates. Links in docs/deck/sources.md.</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1</a:t>
            </a:r>
          </a:p>
        </p:txBody>
      </p:sp>
      <p:sp>
        <p:nvSpPr>
          <p:cNvPr id="7" name="Quote"/>
          <p:cNvSpPr/>
          <p:nvPr/>
        </p:nvSpPr>
        <p:spPr>
          <a:xfrm>
            <a:off x="548640" y="1874519"/>
            <a:ext cx="5212080" cy="2240280"/>
          </a:xfrm>
          <a:prstGeom prst="rect">
            <a:avLst/>
          </a:prstGeom>
          <a:solidFill>
            <a:srgbClr val="F3F5F4"/>
          </a:solidFill>
          <a:ln>
            <a:noFill/>
          </a:ln>
        </p:spPr>
        <p:txBody>
          <a:bodyPr rtlCol="0" anchor="ctr"/>
          <a:lstStyle/>
          <a:p>
            <a:pPr algn="ctr"/>
          </a:p>
        </p:txBody>
      </p:sp>
      <p:sp>
        <p:nvSpPr>
          <p:cNvPr id="8" name="Quote bar"/>
          <p:cNvSpPr/>
          <p:nvPr/>
        </p:nvSpPr>
        <p:spPr>
          <a:xfrm>
            <a:off x="548640" y="1874519"/>
            <a:ext cx="73152" cy="2240280"/>
          </a:xfrm>
          <a:prstGeom prst="rect">
            <a:avLst/>
          </a:prstGeom>
          <a:solidFill>
            <a:srgbClr val="0B3C6F"/>
          </a:solidFill>
          <a:ln>
            <a:noFill/>
          </a:ln>
        </p:spPr>
        <p:txBody>
          <a:bodyPr rtlCol="0" anchor="ctr"/>
          <a:lstStyle/>
          <a:p>
            <a:pPr algn="ctr"/>
          </a:p>
        </p:txBody>
      </p:sp>
      <p:sp>
        <p:nvSpPr>
          <p:cNvPr id="9" name="Quote text"/>
          <p:cNvSpPr txBox="1"/>
          <p:nvPr/>
        </p:nvSpPr>
        <p:spPr>
          <a:xfrm>
            <a:off x="822960" y="1965959"/>
            <a:ext cx="4754880" cy="2057400"/>
          </a:xfrm>
          <a:prstGeom prst="rect">
            <a:avLst/>
          </a:prstGeom>
          <a:noFill/>
        </p:spPr>
        <p:txBody>
          <a:bodyPr wrap="square" anchor="ctr" lIns="36576" rIns="36576" tIns="18288" bIns="18288">
            <a:spAutoFit/>
          </a:bodyPr>
          <a:lstStyle/>
          <a:p>
            <a:pPr algn="l"/>
            <a:r>
              <a:rPr sz="2100" b="0" i="0">
                <a:solidFill>
                  <a:srgbClr val="111518"/>
                </a:solidFill>
                <a:latin typeface="Arial"/>
              </a:rPr>
              <a:t>“New Yorkers have expressed legitimate concerns regarding the potential impacts of the siting and operation of data centers on energy use, water use, water quality…”</a:t>
            </a:r>
          </a:p>
          <a:p>
            <a:pPr algn="l">
              <a:spcBef>
                <a:spcPts val="600"/>
              </a:spcBef>
            </a:pPr>
            <a:r>
              <a:rPr sz="1400" b="1" i="0">
                <a:solidFill>
                  <a:srgbClr val="46505A"/>
                </a:solidFill>
                <a:latin typeface="Arial"/>
              </a:rPr>
              <a:t>New York Executive Order 62, July 2026</a:t>
            </a:r>
          </a:p>
        </p:txBody>
      </p:sp>
      <p:sp>
        <p:nvSpPr>
          <p:cNvPr id="10" name="Bullets"/>
          <p:cNvSpPr txBox="1"/>
          <p:nvPr/>
        </p:nvSpPr>
        <p:spPr>
          <a:xfrm>
            <a:off x="548640" y="4343399"/>
            <a:ext cx="5212080" cy="1645920"/>
          </a:xfrm>
          <a:prstGeom prst="rect">
            <a:avLst/>
          </a:prstGeom>
          <a:noFill/>
        </p:spPr>
        <p:txBody>
          <a:bodyPr wrap="square" lIns="36576" rIns="36576">
            <a:spAutoFit/>
          </a:bodyPr>
          <a:lstStyle/>
          <a:p>
            <a:pPr marL="292608" indent="-292608">
              <a:lnSpc>
                <a:spcPct val="105000"/>
              </a:lnSpc>
              <a:spcAft>
                <a:spcPts val="1000"/>
              </a:spcAft>
              <a:buClr>
                <a:srgbClr val="0B3C6F"/>
              </a:buClr>
              <a:buSzPct val="100000"/>
              <a:buFont typeface="Arial"/>
              <a:buChar char="■"/>
            </a:pPr>
            <a:r>
              <a:rPr sz="2100" b="0" i="0">
                <a:solidFill>
                  <a:srgbClr val="111518"/>
                </a:solidFill>
                <a:latin typeface="Arial"/>
              </a:rPr>
              <a:t>A campus built today will run for 20 to 30 years.</a:t>
            </a:r>
          </a:p>
          <a:p>
            <a:pPr marL="292608" indent="-292608">
              <a:lnSpc>
                <a:spcPct val="105000"/>
              </a:lnSpc>
              <a:spcAft>
                <a:spcPts val="1000"/>
              </a:spcAft>
              <a:buClr>
                <a:srgbClr val="0B3C6F"/>
              </a:buClr>
              <a:buSzPct val="100000"/>
              <a:buFont typeface="Arial"/>
              <a:buChar char="■"/>
            </a:pPr>
            <a:r>
              <a:rPr sz="2100" b="0" i="0">
                <a:solidFill>
                  <a:srgbClr val="111518"/>
                </a:solidFill>
                <a:latin typeface="Arial"/>
              </a:rPr>
              <a:t>Grid carbon varies nearly sixfold between US counties.</a:t>
            </a:r>
          </a:p>
        </p:txBody>
      </p:sp>
      <p:graphicFrame>
        <p:nvGraphicFramePr>
          <p:cNvPr id="11" name="Chart 10"/>
          <p:cNvGraphicFramePr>
            <a:graphicFrameLocks noGrp="1"/>
          </p:cNvGraphicFramePr>
          <p:nvPr/>
        </p:nvGraphicFramePr>
        <p:xfrm>
          <a:off x="6126480" y="1874519"/>
          <a:ext cx="5486400" cy="4114800"/>
        </p:xfrm>
        <a:graphic>
          <a:graphicData uri="http://schemas.openxmlformats.org/drawingml/2006/chart">
            <c:chart xmlns:c="http://schemas.openxmlformats.org/drawingml/2006/chart" r:id="rId3"/>
          </a:graphicData>
        </a:graphic>
      </p:graphicFrame>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Our tool ranks all 3,109 counties for the project you describe</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Screenshot from the team's Streamlit app (app/app.py) with the balanced preset. Counts from docs/figures/facts.json. Weights from engine/conditions/balanced.yaml.</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2</a:t>
            </a:r>
          </a:p>
        </p:txBody>
      </p:sp>
      <p:pic>
        <p:nvPicPr>
          <p:cNvPr id="7" name="Picture 6" descr="app_overview.png"/>
          <p:cNvPicPr>
            <a:picLocks noChangeAspect="1"/>
          </p:cNvPicPr>
          <p:nvPr/>
        </p:nvPicPr>
        <p:blipFill>
          <a:blip r:embed="rId3"/>
          <a:stretch>
            <a:fillRect/>
          </a:stretch>
        </p:blipFill>
        <p:spPr>
          <a:xfrm>
            <a:off x="548640" y="1828799"/>
            <a:ext cx="4755873" cy="3017520"/>
          </a:xfrm>
          <a:prstGeom prst="rect">
            <a:avLst/>
          </a:prstGeom>
          <a:ln w="12700">
            <a:solidFill>
              <a:srgbClr val="D3D8D6"/>
            </a:solidFill>
          </a:ln>
        </p:spPr>
      </p:pic>
      <p:sp>
        <p:nvSpPr>
          <p:cNvPr id="8" name="Step 1"/>
          <p:cNvSpPr/>
          <p:nvPr/>
        </p:nvSpPr>
        <p:spPr>
          <a:xfrm>
            <a:off x="5624553" y="1828799"/>
            <a:ext cx="6018502" cy="672084"/>
          </a:xfrm>
          <a:prstGeom prst="roundRect">
            <a:avLst>
              <a:gd name="adj" fmla="val 12000"/>
            </a:avLst>
          </a:prstGeom>
          <a:solidFill>
            <a:srgbClr val="0B3C6F"/>
          </a:solidFill>
          <a:ln>
            <a:noFill/>
          </a:ln>
        </p:spPr>
        <p:txBody>
          <a:bodyPr rtlCol="0" anchor="ctr" wrap="square" lIns="182880" rIns="182880" tIns="36576" bIns="36576"/>
          <a:lstStyle/>
          <a:p>
            <a:pPr algn="l"/>
            <a:r>
              <a:rPr sz="2400" b="1" i="0">
                <a:solidFill>
                  <a:srgbClr val="FFFFFF"/>
                </a:solidFill>
                <a:latin typeface="Arial"/>
              </a:rPr>
              <a:t>3,109  </a:t>
            </a:r>
            <a:r>
              <a:rPr sz="1700" b="0" i="0">
                <a:solidFill>
                  <a:srgbClr val="FFFFFF"/>
                </a:solidFill>
                <a:latin typeface="Arial"/>
              </a:rPr>
              <a:t>counties in the lower 48</a:t>
            </a:r>
          </a:p>
        </p:txBody>
      </p:sp>
      <p:sp>
        <p:nvSpPr>
          <p:cNvPr id="9" name="Step 2"/>
          <p:cNvSpPr/>
          <p:nvPr/>
        </p:nvSpPr>
        <p:spPr>
          <a:xfrm>
            <a:off x="5624553" y="2610611"/>
            <a:ext cx="6018502" cy="672084"/>
          </a:xfrm>
          <a:prstGeom prst="roundRect">
            <a:avLst>
              <a:gd name="adj" fmla="val 12000"/>
            </a:avLst>
          </a:prstGeom>
          <a:solidFill>
            <a:srgbClr val="0B3C6F"/>
          </a:solidFill>
          <a:ln>
            <a:noFill/>
          </a:ln>
        </p:spPr>
        <p:txBody>
          <a:bodyPr rtlCol="0" anchor="ctr" wrap="square" lIns="182880" rIns="182880" tIns="36576" bIns="36576"/>
          <a:lstStyle/>
          <a:p>
            <a:pPr algn="l"/>
            <a:r>
              <a:rPr sz="2400" b="1" i="0">
                <a:solidFill>
                  <a:srgbClr val="FFFFFF"/>
                </a:solidFill>
                <a:latin typeface="Arial"/>
              </a:rPr>
              <a:t>1,565  </a:t>
            </a:r>
            <a:r>
              <a:rPr sz="1700" b="0" i="0">
                <a:solidFill>
                  <a:srgbClr val="FFFFFF"/>
                </a:solidFill>
                <a:latin typeface="Arial"/>
              </a:rPr>
              <a:t>pass hard limits like flood risk and fiber</a:t>
            </a:r>
          </a:p>
        </p:txBody>
      </p:sp>
      <p:sp>
        <p:nvSpPr>
          <p:cNvPr id="10" name="Step 3"/>
          <p:cNvSpPr/>
          <p:nvPr/>
        </p:nvSpPr>
        <p:spPr>
          <a:xfrm>
            <a:off x="5624553" y="3392423"/>
            <a:ext cx="6018502" cy="672084"/>
          </a:xfrm>
          <a:prstGeom prst="roundRect">
            <a:avLst>
              <a:gd name="adj" fmla="val 12000"/>
            </a:avLst>
          </a:prstGeom>
          <a:solidFill>
            <a:srgbClr val="0B3C6F"/>
          </a:solidFill>
          <a:ln>
            <a:noFill/>
          </a:ln>
        </p:spPr>
        <p:txBody>
          <a:bodyPr rtlCol="0" anchor="ctr" wrap="square" lIns="182880" rIns="182880" tIns="36576" bIns="36576"/>
          <a:lstStyle/>
          <a:p>
            <a:pPr algn="l"/>
            <a:r>
              <a:rPr sz="2400" b="1" i="0">
                <a:solidFill>
                  <a:srgbClr val="FFFFFF"/>
                </a:solidFill>
                <a:latin typeface="Arial"/>
              </a:rPr>
              <a:t>883  </a:t>
            </a:r>
            <a:r>
              <a:rPr sz="1700" b="0" i="0">
                <a:solidFill>
                  <a:srgbClr val="FFFFFF"/>
                </a:solidFill>
                <a:latin typeface="Arial"/>
              </a:rPr>
              <a:t>have no weak spot across eight factors</a:t>
            </a:r>
          </a:p>
        </p:txBody>
      </p:sp>
      <p:sp>
        <p:nvSpPr>
          <p:cNvPr id="11" name="Step 4"/>
          <p:cNvSpPr/>
          <p:nvPr/>
        </p:nvSpPr>
        <p:spPr>
          <a:xfrm>
            <a:off x="5624553" y="4174235"/>
            <a:ext cx="6018502" cy="672084"/>
          </a:xfrm>
          <a:prstGeom prst="roundRect">
            <a:avLst>
              <a:gd name="adj" fmla="val 12000"/>
            </a:avLst>
          </a:prstGeom>
          <a:solidFill>
            <a:srgbClr val="4F82BD"/>
          </a:solidFill>
          <a:ln>
            <a:noFill/>
          </a:ln>
        </p:spPr>
        <p:txBody>
          <a:bodyPr rtlCol="0" anchor="ctr" wrap="square" lIns="182880" rIns="182880" tIns="36576" bIns="36576"/>
          <a:lstStyle/>
          <a:p>
            <a:pPr algn="l"/>
            <a:r>
              <a:rPr sz="2400" b="1" i="0">
                <a:solidFill>
                  <a:srgbClr val="FFFFFF"/>
                </a:solidFill>
                <a:latin typeface="Arial"/>
              </a:rPr>
              <a:t>Shortlist  </a:t>
            </a:r>
            <a:r>
              <a:rPr sz="1700" b="0" i="0">
                <a:solidFill>
                  <a:srgbClr val="FFFFFF"/>
                </a:solidFill>
                <a:latin typeface="Arial"/>
              </a:rPr>
              <a:t>ranked, with the reasons behind each rank</a:t>
            </a:r>
          </a:p>
        </p:txBody>
      </p:sp>
      <p:sp>
        <p:nvSpPr>
          <p:cNvPr id="12" name="TextBox 11"/>
          <p:cNvSpPr txBox="1"/>
          <p:nvPr/>
        </p:nvSpPr>
        <p:spPr>
          <a:xfrm>
            <a:off x="548640" y="4983479"/>
            <a:ext cx="11094415" cy="365760"/>
          </a:xfrm>
          <a:prstGeom prst="rect">
            <a:avLst/>
          </a:prstGeom>
          <a:noFill/>
        </p:spPr>
        <p:txBody>
          <a:bodyPr wrap="square" anchor="t" lIns="36576" rIns="36576" tIns="18288" bIns="18288">
            <a:spAutoFit/>
          </a:bodyPr>
          <a:lstStyle/>
          <a:p>
            <a:pPr algn="l"/>
            <a:r>
              <a:rPr sz="1600" b="1" i="0">
                <a:solidFill>
                  <a:srgbClr val="46505A"/>
                </a:solidFill>
                <a:latin typeface="Arial"/>
              </a:rPr>
              <a:t>Eight factors, weighted however you choose. These are our balanced weights.</a:t>
            </a:r>
          </a:p>
        </p:txBody>
      </p:sp>
      <p:sp>
        <p:nvSpPr>
          <p:cNvPr id="13" name="Factor Energy &amp; carbon"/>
          <p:cNvSpPr/>
          <p:nvPr/>
        </p:nvSpPr>
        <p:spPr>
          <a:xfrm>
            <a:off x="548640" y="5394959"/>
            <a:ext cx="1306791" cy="731520"/>
          </a:xfrm>
          <a:prstGeom prst="roundRect">
            <a:avLst>
              <a:gd name="adj" fmla="val 12000"/>
            </a:avLst>
          </a:prstGeom>
          <a:solidFill>
            <a:srgbClr val="B86200"/>
          </a:solidFill>
          <a:ln>
            <a:noFill/>
          </a:ln>
        </p:spPr>
        <p:txBody>
          <a:bodyPr rtlCol="0" anchor="ctr" wrap="square" lIns="36576" rIns="36576" tIns="36576" bIns="36576"/>
          <a:lstStyle/>
          <a:p>
            <a:pPr algn="ctr"/>
            <a:r>
              <a:rPr sz="1400" b="1" i="0">
                <a:solidFill>
                  <a:srgbClr val="FFFFFF"/>
                </a:solidFill>
                <a:latin typeface="Arial"/>
              </a:rPr>
              <a:t>Energy and carbon</a:t>
            </a:r>
          </a:p>
          <a:p>
            <a:pPr algn="ctr"/>
            <a:r>
              <a:rPr sz="1800" b="1" i="0">
                <a:solidFill>
                  <a:srgbClr val="FFFFFF"/>
                </a:solidFill>
                <a:latin typeface="Arial"/>
              </a:rPr>
              <a:t>15%</a:t>
            </a:r>
          </a:p>
        </p:txBody>
      </p:sp>
      <p:sp>
        <p:nvSpPr>
          <p:cNvPr id="14" name="Factor Water"/>
          <p:cNvSpPr/>
          <p:nvPr/>
        </p:nvSpPr>
        <p:spPr>
          <a:xfrm>
            <a:off x="1946871" y="5394959"/>
            <a:ext cx="1306791" cy="731520"/>
          </a:xfrm>
          <a:prstGeom prst="roundRect">
            <a:avLst>
              <a:gd name="adj" fmla="val 12000"/>
            </a:avLst>
          </a:prstGeom>
          <a:solidFill>
            <a:srgbClr val="14758F"/>
          </a:solidFill>
          <a:ln>
            <a:noFill/>
          </a:ln>
        </p:spPr>
        <p:txBody>
          <a:bodyPr rtlCol="0" anchor="ctr" wrap="square" lIns="36576" rIns="36576" tIns="36576" bIns="36576"/>
          <a:lstStyle/>
          <a:p>
            <a:pPr algn="ctr"/>
            <a:r>
              <a:rPr sz="1400" b="1" i="0">
                <a:solidFill>
                  <a:srgbClr val="FFFFFF"/>
                </a:solidFill>
                <a:latin typeface="Arial"/>
              </a:rPr>
              <a:t>Water</a:t>
            </a:r>
          </a:p>
          <a:p>
            <a:pPr algn="ctr"/>
            <a:r>
              <a:rPr sz="1800" b="1" i="0">
                <a:solidFill>
                  <a:srgbClr val="FFFFFF"/>
                </a:solidFill>
                <a:latin typeface="Arial"/>
              </a:rPr>
              <a:t>12%</a:t>
            </a:r>
          </a:p>
        </p:txBody>
      </p:sp>
      <p:sp>
        <p:nvSpPr>
          <p:cNvPr id="15" name="Factor Climate"/>
          <p:cNvSpPr/>
          <p:nvPr/>
        </p:nvSpPr>
        <p:spPr>
          <a:xfrm>
            <a:off x="3345102" y="5394959"/>
            <a:ext cx="1306791" cy="731520"/>
          </a:xfrm>
          <a:prstGeom prst="roundRect">
            <a:avLst>
              <a:gd name="adj" fmla="val 12000"/>
            </a:avLst>
          </a:prstGeom>
          <a:solidFill>
            <a:srgbClr val="B0303F"/>
          </a:solidFill>
          <a:ln>
            <a:noFill/>
          </a:ln>
        </p:spPr>
        <p:txBody>
          <a:bodyPr rtlCol="0" anchor="ctr" wrap="square" lIns="36576" rIns="36576" tIns="36576" bIns="36576"/>
          <a:lstStyle/>
          <a:p>
            <a:pPr algn="ctr"/>
            <a:r>
              <a:rPr sz="1400" b="1" i="0">
                <a:solidFill>
                  <a:srgbClr val="FFFFFF"/>
                </a:solidFill>
                <a:latin typeface="Arial"/>
              </a:rPr>
              <a:t>Climate</a:t>
            </a:r>
          </a:p>
          <a:p>
            <a:pPr algn="ctr"/>
            <a:r>
              <a:rPr sz="1800" b="1" i="0">
                <a:solidFill>
                  <a:srgbClr val="FFFFFF"/>
                </a:solidFill>
                <a:latin typeface="Arial"/>
              </a:rPr>
              <a:t>12%</a:t>
            </a:r>
          </a:p>
        </p:txBody>
      </p:sp>
      <p:sp>
        <p:nvSpPr>
          <p:cNvPr id="16" name="Factor Grid"/>
          <p:cNvSpPr/>
          <p:nvPr/>
        </p:nvSpPr>
        <p:spPr>
          <a:xfrm>
            <a:off x="4743333" y="5394959"/>
            <a:ext cx="1306791" cy="731520"/>
          </a:xfrm>
          <a:prstGeom prst="roundRect">
            <a:avLst>
              <a:gd name="adj" fmla="val 12000"/>
            </a:avLst>
          </a:prstGeom>
          <a:solidFill>
            <a:srgbClr val="5B4BA0"/>
          </a:solidFill>
          <a:ln>
            <a:noFill/>
          </a:ln>
        </p:spPr>
        <p:txBody>
          <a:bodyPr rtlCol="0" anchor="ctr" wrap="square" lIns="36576" rIns="36576" tIns="36576" bIns="36576"/>
          <a:lstStyle/>
          <a:p>
            <a:pPr algn="ctr"/>
            <a:r>
              <a:rPr sz="1400" b="1" i="0">
                <a:solidFill>
                  <a:srgbClr val="FFFFFF"/>
                </a:solidFill>
                <a:latin typeface="Arial"/>
              </a:rPr>
              <a:t>Grid</a:t>
            </a:r>
          </a:p>
          <a:p>
            <a:pPr algn="ctr"/>
            <a:r>
              <a:rPr sz="1800" b="1" i="0">
                <a:solidFill>
                  <a:srgbClr val="FFFFFF"/>
                </a:solidFill>
                <a:latin typeface="Arial"/>
              </a:rPr>
              <a:t>15%</a:t>
            </a:r>
          </a:p>
        </p:txBody>
      </p:sp>
      <p:sp>
        <p:nvSpPr>
          <p:cNvPr id="17" name="Factor Land"/>
          <p:cNvSpPr/>
          <p:nvPr/>
        </p:nvSpPr>
        <p:spPr>
          <a:xfrm>
            <a:off x="6141564" y="5394959"/>
            <a:ext cx="1306791" cy="731520"/>
          </a:xfrm>
          <a:prstGeom prst="roundRect">
            <a:avLst>
              <a:gd name="adj" fmla="val 12000"/>
            </a:avLst>
          </a:prstGeom>
          <a:solidFill>
            <a:srgbClr val="5E6E12"/>
          </a:solidFill>
          <a:ln>
            <a:noFill/>
          </a:ln>
        </p:spPr>
        <p:txBody>
          <a:bodyPr rtlCol="0" anchor="ctr" wrap="square" lIns="36576" rIns="36576" tIns="36576" bIns="36576"/>
          <a:lstStyle/>
          <a:p>
            <a:pPr algn="ctr"/>
            <a:r>
              <a:rPr sz="1400" b="1" i="0">
                <a:solidFill>
                  <a:srgbClr val="FFFFFF"/>
                </a:solidFill>
                <a:latin typeface="Arial"/>
              </a:rPr>
              <a:t>Land</a:t>
            </a:r>
          </a:p>
          <a:p>
            <a:pPr algn="ctr"/>
            <a:r>
              <a:rPr sz="1800" b="1" i="0">
                <a:solidFill>
                  <a:srgbClr val="FFFFFF"/>
                </a:solidFill>
                <a:latin typeface="Arial"/>
              </a:rPr>
              <a:t>7%</a:t>
            </a:r>
          </a:p>
        </p:txBody>
      </p:sp>
      <p:sp>
        <p:nvSpPr>
          <p:cNvPr id="18" name="Factor Community"/>
          <p:cNvSpPr/>
          <p:nvPr/>
        </p:nvSpPr>
        <p:spPr>
          <a:xfrm>
            <a:off x="7539795" y="5394959"/>
            <a:ext cx="1306791" cy="731520"/>
          </a:xfrm>
          <a:prstGeom prst="roundRect">
            <a:avLst>
              <a:gd name="adj" fmla="val 12000"/>
            </a:avLst>
          </a:prstGeom>
          <a:solidFill>
            <a:srgbClr val="23804F"/>
          </a:solidFill>
          <a:ln>
            <a:noFill/>
          </a:ln>
        </p:spPr>
        <p:txBody>
          <a:bodyPr rtlCol="0" anchor="ctr" wrap="square" lIns="36576" rIns="36576" tIns="36576" bIns="36576"/>
          <a:lstStyle/>
          <a:p>
            <a:pPr algn="ctr"/>
            <a:r>
              <a:rPr sz="1400" b="1" i="0">
                <a:solidFill>
                  <a:srgbClr val="FFFFFF"/>
                </a:solidFill>
                <a:latin typeface="Arial"/>
              </a:rPr>
              <a:t>Community</a:t>
            </a:r>
          </a:p>
          <a:p>
            <a:pPr algn="ctr"/>
            <a:r>
              <a:rPr sz="1800" b="1" i="0">
                <a:solidFill>
                  <a:srgbClr val="FFFFFF"/>
                </a:solidFill>
                <a:latin typeface="Arial"/>
              </a:rPr>
              <a:t>9%</a:t>
            </a:r>
          </a:p>
        </p:txBody>
      </p:sp>
      <p:sp>
        <p:nvSpPr>
          <p:cNvPr id="19" name="Factor Permitting"/>
          <p:cNvSpPr/>
          <p:nvPr/>
        </p:nvSpPr>
        <p:spPr>
          <a:xfrm>
            <a:off x="8938026" y="5394959"/>
            <a:ext cx="1306791" cy="731520"/>
          </a:xfrm>
          <a:prstGeom prst="roundRect">
            <a:avLst>
              <a:gd name="adj" fmla="val 12000"/>
            </a:avLst>
          </a:prstGeom>
          <a:solidFill>
            <a:srgbClr val="86523A"/>
          </a:solidFill>
          <a:ln>
            <a:noFill/>
          </a:ln>
        </p:spPr>
        <p:txBody>
          <a:bodyPr rtlCol="0" anchor="ctr" wrap="square" lIns="36576" rIns="36576" tIns="36576" bIns="36576"/>
          <a:lstStyle/>
          <a:p>
            <a:pPr algn="ctr"/>
            <a:r>
              <a:rPr sz="1400" b="1" i="0">
                <a:solidFill>
                  <a:srgbClr val="FFFFFF"/>
                </a:solidFill>
                <a:latin typeface="Arial"/>
              </a:rPr>
              <a:t>Permitting</a:t>
            </a:r>
          </a:p>
          <a:p>
            <a:pPr algn="ctr"/>
            <a:r>
              <a:rPr sz="1800" b="1" i="0">
                <a:solidFill>
                  <a:srgbClr val="FFFFFF"/>
                </a:solidFill>
                <a:latin typeface="Arial"/>
              </a:rPr>
              <a:t>15%</a:t>
            </a:r>
          </a:p>
        </p:txBody>
      </p:sp>
      <p:sp>
        <p:nvSpPr>
          <p:cNvPr id="20" name="Factor Cost of power"/>
          <p:cNvSpPr/>
          <p:nvPr/>
        </p:nvSpPr>
        <p:spPr>
          <a:xfrm>
            <a:off x="10336257" y="5394959"/>
            <a:ext cx="1306791" cy="731520"/>
          </a:xfrm>
          <a:prstGeom prst="roundRect">
            <a:avLst>
              <a:gd name="adj" fmla="val 12000"/>
            </a:avLst>
          </a:prstGeom>
          <a:solidFill>
            <a:srgbClr val="9A3A8C"/>
          </a:solidFill>
          <a:ln>
            <a:noFill/>
          </a:ln>
        </p:spPr>
        <p:txBody>
          <a:bodyPr rtlCol="0" anchor="ctr" wrap="square" lIns="36576" rIns="36576" tIns="36576" bIns="36576"/>
          <a:lstStyle/>
          <a:p>
            <a:pPr algn="ctr"/>
            <a:r>
              <a:rPr sz="1400" b="1" i="0">
                <a:solidFill>
                  <a:srgbClr val="FFFFFF"/>
                </a:solidFill>
                <a:latin typeface="Arial"/>
              </a:rPr>
              <a:t>Cost of power</a:t>
            </a:r>
          </a:p>
          <a:p>
            <a:pPr algn="ctr"/>
            <a:r>
              <a:rPr sz="1800" b="1" i="0">
                <a:solidFill>
                  <a:srgbClr val="FFFFFF"/>
                </a:solidFill>
                <a:latin typeface="Arial"/>
              </a:rPr>
              <a:t>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40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par>
                          <p:cTn id="8" fill="hold">
                            <p:stCondLst>
                              <p:cond delay="85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50"/>
                                        <p:tgtEl>
                                          <p:spTgt spid="9"/>
                                        </p:tgtEl>
                                      </p:cBhvr>
                                    </p:animEffect>
                                  </p:childTnLst>
                                </p:cTn>
                              </p:par>
                            </p:childTnLst>
                          </p:cTn>
                        </p:par>
                        <p:par>
                          <p:cTn id="12" fill="hold">
                            <p:stCondLst>
                              <p:cond delay="13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childTnLst>
                          </p:cTn>
                        </p:par>
                        <p:par>
                          <p:cTn id="16" fill="hold">
                            <p:stCondLst>
                              <p:cond delay="1750"/>
                            </p:stCondLst>
                            <p:childTnLst>
                              <p:par>
                                <p:cTn id="17" presetID="10" presetClass="entr" presetSubtype="0" fill="hold" grpId="0" nodeType="after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It now accounts for protected land, farmland, and wetlands</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Protected land from USGS PAD-US 4.1, land cover from NLCD 2021 through IPUMS NHGIS, tribal land from Census TIGER 2024. Grant's scores from docs/figures/facts.json and research/sensitive_land.md.</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3</a:t>
            </a:r>
          </a:p>
        </p:txBody>
      </p:sp>
      <p:graphicFrame>
        <p:nvGraphicFramePr>
          <p:cNvPr id="7" name="Chart 6"/>
          <p:cNvGraphicFramePr>
            <a:graphicFrameLocks noGrp="1"/>
          </p:cNvGraphicFramePr>
          <p:nvPr/>
        </p:nvGraphicFramePr>
        <p:xfrm>
          <a:off x="548640" y="1828799"/>
          <a:ext cx="5852160" cy="3657600"/>
        </p:xfrm>
        <a:graphic>
          <a:graphicData uri="http://schemas.openxmlformats.org/drawingml/2006/chart">
            <c:chart xmlns:c="http://schemas.openxmlformats.org/drawingml/2006/chart" r:id="rId3"/>
          </a:graphicData>
        </a:graphic>
      </p:graphicFrame>
      <p:sp>
        <p:nvSpPr>
          <p:cNvPr id="8" name="Bullets"/>
          <p:cNvSpPr txBox="1"/>
          <p:nvPr/>
        </p:nvSpPr>
        <p:spPr>
          <a:xfrm>
            <a:off x="6766560" y="1920239"/>
            <a:ext cx="4876495" cy="3200400"/>
          </a:xfrm>
          <a:prstGeom prst="rect">
            <a:avLst/>
          </a:prstGeom>
          <a:noFill/>
        </p:spPr>
        <p:txBody>
          <a:bodyPr wrap="square" lIns="36576" rIns="36576">
            <a:spAutoFit/>
          </a:bodyPr>
          <a:lstStyle/>
          <a:p>
            <a:pPr marL="292608" indent="-292608">
              <a:lnSpc>
                <a:spcPct val="105000"/>
              </a:lnSpc>
              <a:spcAft>
                <a:spcPts val="1400"/>
              </a:spcAft>
              <a:buClr>
                <a:srgbClr val="0B3C6F"/>
              </a:buClr>
              <a:buSzPct val="100000"/>
              <a:buFont typeface="Arial"/>
              <a:buChar char="■"/>
            </a:pPr>
            <a:r>
              <a:rPr sz="2000" b="0" i="0">
                <a:solidFill>
                  <a:srgbClr val="111518"/>
                </a:solidFill>
                <a:latin typeface="Arial"/>
              </a:rPr>
              <a:t>Protected land, farmland, and built-up land lower the land score.</a:t>
            </a:r>
          </a:p>
          <a:p>
            <a:pPr marL="292608" indent="-292608">
              <a:lnSpc>
                <a:spcPct val="105000"/>
              </a:lnSpc>
              <a:spcAft>
                <a:spcPts val="1400"/>
              </a:spcAft>
              <a:buClr>
                <a:srgbClr val="0B3C6F"/>
              </a:buClr>
              <a:buSzPct val="100000"/>
              <a:buFont typeface="Arial"/>
              <a:buChar char="■"/>
            </a:pPr>
            <a:r>
              <a:rPr sz="2000" b="0" i="0">
                <a:solidFill>
                  <a:srgbClr val="111518"/>
                </a:solidFill>
                <a:latin typeface="Arial"/>
              </a:rPr>
              <a:t>Forests and wetlands mean more permits, which lowers permitting.</a:t>
            </a:r>
          </a:p>
          <a:p>
            <a:pPr marL="292608" indent="-292608">
              <a:lnSpc>
                <a:spcPct val="105000"/>
              </a:lnSpc>
              <a:spcAft>
                <a:spcPts val="1400"/>
              </a:spcAft>
              <a:buClr>
                <a:srgbClr val="0B3C6F"/>
              </a:buClr>
              <a:buSzPct val="100000"/>
              <a:buFont typeface="Arial"/>
              <a:buChar char="■"/>
            </a:pPr>
            <a:r>
              <a:rPr sz="2000" b="0" i="0">
                <a:solidFill>
                  <a:srgbClr val="111518"/>
                </a:solidFill>
                <a:latin typeface="Arial"/>
              </a:rPr>
              <a:t>Users can also rule out protected or tribal land entirely.</a:t>
            </a:r>
          </a:p>
        </p:txBody>
      </p:sp>
      <p:sp>
        <p:nvSpPr>
          <p:cNvPr id="9" name="Band"/>
          <p:cNvSpPr/>
          <p:nvPr/>
        </p:nvSpPr>
        <p:spPr>
          <a:xfrm>
            <a:off x="548640" y="5577839"/>
            <a:ext cx="11094415" cy="566928"/>
          </a:xfrm>
          <a:prstGeom prst="rect">
            <a:avLst/>
          </a:prstGeom>
          <a:solidFill>
            <a:srgbClr val="F3F5F4"/>
          </a:solidFill>
          <a:ln>
            <a:noFill/>
          </a:ln>
        </p:spPr>
        <p:txBody>
          <a:bodyPr rtlCol="0" anchor="ctr" wrap="square" lIns="274320" rIns="274320" tIns="36576" bIns="36576"/>
          <a:lstStyle/>
          <a:p>
            <a:pPr algn="ctr"/>
            <a:r>
              <a:rPr sz="1700" b="1" i="0">
                <a:solidFill>
                  <a:srgbClr val="0B3C6F"/>
                </a:solidFill>
                <a:latin typeface="Arial"/>
              </a:rPr>
              <a:t>Building on farmland avoids wild habitat but takes land out of farming. You set the balance.</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With balanced weights, two counties in eastern Washington tie for first</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Team engine, balanced preset (results/balanced.csv, docs/figures/facts.json). Map from docs/figures/map_composite.png. Grant PUD data center FAQ, August 2026.</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4</a:t>
            </a:r>
          </a:p>
        </p:txBody>
      </p:sp>
      <p:pic>
        <p:nvPicPr>
          <p:cNvPr id="7" name="Picture 6" descr="map_composite.png"/>
          <p:cNvPicPr>
            <a:picLocks noChangeAspect="1"/>
          </p:cNvPicPr>
          <p:nvPr/>
        </p:nvPicPr>
        <p:blipFill>
          <a:blip r:embed="rId3"/>
          <a:stretch>
            <a:fillRect/>
          </a:stretch>
        </p:blipFill>
        <p:spPr>
          <a:xfrm>
            <a:off x="804512" y="1828799"/>
            <a:ext cx="5340415" cy="4206240"/>
          </a:xfrm>
          <a:prstGeom prst="rect">
            <a:avLst/>
          </a:prstGeom>
        </p:spPr>
      </p:pic>
      <p:sp>
        <p:nvSpPr>
          <p:cNvPr id="8" name="Map title"/>
          <p:cNvSpPr/>
          <p:nvPr/>
        </p:nvSpPr>
        <p:spPr>
          <a:xfrm>
            <a:off x="804512" y="1828799"/>
            <a:ext cx="5340415" cy="269264"/>
          </a:xfrm>
          <a:prstGeom prst="rect">
            <a:avLst/>
          </a:prstGeom>
          <a:solidFill>
            <a:srgbClr val="FCFCFB"/>
          </a:solidFill>
          <a:ln>
            <a:noFill/>
          </a:ln>
        </p:spPr>
        <p:txBody>
          <a:bodyPr rtlCol="0" anchor="ctr" wrap="square" lIns="73152" rIns="73152" tIns="36576" bIns="36576"/>
          <a:lstStyle/>
          <a:p>
            <a:pPr algn="l"/>
            <a:r>
              <a:rPr sz="1600" b="1" i="0">
                <a:solidFill>
                  <a:srgbClr val="111518"/>
                </a:solidFill>
                <a:latin typeface="Arial"/>
              </a:rPr>
              <a:t>Grant and Whitman, circled, are tied for first</a:t>
            </a:r>
          </a:p>
        </p:txBody>
      </p:sp>
      <p:sp>
        <p:nvSpPr>
          <p:cNvPr id="9" name="Leaders ring"/>
          <p:cNvSpPr/>
          <p:nvPr/>
        </p:nvSpPr>
        <p:spPr>
          <a:xfrm>
            <a:off x="1492032" y="2440489"/>
            <a:ext cx="566928" cy="384048"/>
          </a:xfrm>
          <a:prstGeom prst="ellipse">
            <a:avLst/>
          </a:prstGeom>
          <a:noFill/>
          <a:ln w="38100">
            <a:solidFill>
              <a:srgbClr val="D9532B"/>
            </a:solidFill>
          </a:ln>
        </p:spPr>
        <p:txBody>
          <a:bodyPr rtlCol="0" anchor="ctr"/>
          <a:lstStyle/>
          <a:p>
            <a:pPr algn="ctr"/>
          </a:p>
        </p:txBody>
      </p:sp>
      <p:sp>
        <p:nvSpPr>
          <p:cNvPr id="10" name="Map legend"/>
          <p:cNvSpPr/>
          <p:nvPr/>
        </p:nvSpPr>
        <p:spPr>
          <a:xfrm>
            <a:off x="877947" y="5263962"/>
            <a:ext cx="3427004" cy="252945"/>
          </a:xfrm>
          <a:prstGeom prst="rect">
            <a:avLst/>
          </a:prstGeom>
          <a:solidFill>
            <a:srgbClr val="FCFCFB"/>
          </a:solidFill>
          <a:ln>
            <a:noFill/>
          </a:ln>
        </p:spPr>
        <p:txBody>
          <a:bodyPr rtlCol="0" anchor="ctr" wrap="square" lIns="36576" rIns="36576" tIns="36576" bIns="36576"/>
          <a:lstStyle/>
          <a:p>
            <a:pPr algn="l"/>
            <a:r>
              <a:rPr sz="1400" b="0" i="0">
                <a:solidFill>
                  <a:srgbClr val="46505A"/>
                </a:solidFill>
                <a:latin typeface="Arial"/>
              </a:rPr>
              <a:t>Grey counties fail a hard limit</a:t>
            </a:r>
          </a:p>
        </p:txBody>
      </p:sp>
      <p:sp>
        <p:nvSpPr>
          <p:cNvPr id="11" name="Condition"/>
          <p:cNvSpPr/>
          <p:nvPr/>
        </p:nvSpPr>
        <p:spPr>
          <a:xfrm>
            <a:off x="6720840" y="1874519"/>
            <a:ext cx="4922215" cy="1371600"/>
          </a:xfrm>
          <a:prstGeom prst="rect">
            <a:avLst/>
          </a:prstGeom>
          <a:solidFill>
            <a:srgbClr val="0B3C6F"/>
          </a:solidFill>
          <a:ln>
            <a:noFill/>
          </a:ln>
        </p:spPr>
        <p:txBody>
          <a:bodyPr rtlCol="0" anchor="ctr" wrap="square" lIns="201168" rIns="201168" tIns="36576" bIns="36576"/>
          <a:lstStyle/>
          <a:p>
            <a:pPr algn="l"/>
            <a:r>
              <a:rPr sz="1900" b="1" i="0">
                <a:solidFill>
                  <a:srgbClr val="FFFFFF"/>
                </a:solidFill>
                <a:latin typeface="Arial"/>
              </a:rPr>
              <a:t>Our example is Grant. It works only if the campus is sited next to hydro, powered by new clean supply the project funds.</a:t>
            </a:r>
          </a:p>
        </p:txBody>
      </p:sp>
      <p:sp>
        <p:nvSpPr>
          <p:cNvPr id="12" name="Bullets"/>
          <p:cNvSpPr txBox="1"/>
          <p:nvPr/>
        </p:nvSpPr>
        <p:spPr>
          <a:xfrm>
            <a:off x="6720840" y="3520439"/>
            <a:ext cx="4922215" cy="2377440"/>
          </a:xfrm>
          <a:prstGeom prst="rect">
            <a:avLst/>
          </a:prstGeom>
          <a:noFill/>
        </p:spPr>
        <p:txBody>
          <a:bodyPr wrap="square" lIns="36576" rIns="36576">
            <a:spAutoFit/>
          </a:bodyPr>
          <a:lstStyle/>
          <a:p>
            <a:pPr marL="292608" indent="-292608">
              <a:lnSpc>
                <a:spcPct val="105000"/>
              </a:lnSpc>
              <a:spcAft>
                <a:spcPts val="1200"/>
              </a:spcAft>
              <a:buClr>
                <a:srgbClr val="0B3C6F"/>
              </a:buClr>
              <a:buSzPct val="100000"/>
              <a:buFont typeface="Arial"/>
              <a:buChar char="■"/>
            </a:pPr>
            <a:r>
              <a:rPr sz="2000" b="0" i="0">
                <a:solidFill>
                  <a:srgbClr val="111518"/>
                </a:solidFill>
                <a:latin typeface="Arial"/>
              </a:rPr>
              <a:t>Grant scores 63.70 and Whitman 63.69 out of 100.</a:t>
            </a:r>
          </a:p>
          <a:p>
            <a:pPr marL="292608" indent="-292608">
              <a:lnSpc>
                <a:spcPct val="105000"/>
              </a:lnSpc>
              <a:spcAft>
                <a:spcPts val="1200"/>
              </a:spcAft>
              <a:buClr>
                <a:srgbClr val="0B3C6F"/>
              </a:buClr>
              <a:buSzPct val="100000"/>
              <a:buFont typeface="Arial"/>
              <a:buChar char="■"/>
            </a:pPr>
            <a:r>
              <a:rPr sz="2000" b="0" i="0">
                <a:solidFill>
                  <a:srgbClr val="111518"/>
                </a:solidFill>
                <a:latin typeface="Arial"/>
              </a:rPr>
              <a:t>Under equal weights Whitman comes first and Grant second.</a:t>
            </a:r>
          </a:p>
          <a:p>
            <a:pPr marL="292608" indent="-292608">
              <a:lnSpc>
                <a:spcPct val="105000"/>
              </a:lnSpc>
              <a:spcAft>
                <a:spcPts val="1200"/>
              </a:spcAft>
              <a:buClr>
                <a:srgbClr val="0B3C6F"/>
              </a:buClr>
              <a:buSzPct val="100000"/>
              <a:buFont typeface="Arial"/>
              <a:buChar char="■"/>
            </a:pPr>
            <a:r>
              <a:rPr sz="2000" b="0" i="0">
                <a:solidFill>
                  <a:srgbClr val="111518"/>
                </a:solidFill>
                <a:latin typeface="Arial"/>
              </a:rPr>
              <a:t>Grant already hosts the Quincy data center cluster.</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Different weights favor different counties, so the tool shows the spread</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Top 10 shares from 5,000 random weightings of the eight factors, and robustness from 2,000 small changes to our weights (docs/figures/facts.json, computed by docs/figures/make_figures.py).</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5</a:t>
            </a:r>
          </a:p>
        </p:txBody>
      </p:sp>
      <p:graphicFrame>
        <p:nvGraphicFramePr>
          <p:cNvPr id="7" name="Chart 6"/>
          <p:cNvGraphicFramePr>
            <a:graphicFrameLocks noGrp="1"/>
          </p:cNvGraphicFramePr>
          <p:nvPr/>
        </p:nvGraphicFramePr>
        <p:xfrm>
          <a:off x="548640" y="1828799"/>
          <a:ext cx="6035040" cy="4023360"/>
        </p:xfrm>
        <a:graphic>
          <a:graphicData uri="http://schemas.openxmlformats.org/drawingml/2006/chart">
            <c:chart xmlns:c="http://schemas.openxmlformats.org/drawingml/2006/chart" r:id="rId3"/>
          </a:graphicData>
        </a:graphic>
      </p:graphicFrame>
      <p:sp>
        <p:nvSpPr>
          <p:cNvPr id="8" name="Bullets"/>
          <p:cNvSpPr txBox="1"/>
          <p:nvPr/>
        </p:nvSpPr>
        <p:spPr>
          <a:xfrm>
            <a:off x="6903720" y="1920239"/>
            <a:ext cx="4739335" cy="3108960"/>
          </a:xfrm>
          <a:prstGeom prst="rect">
            <a:avLst/>
          </a:prstGeom>
          <a:noFill/>
        </p:spPr>
        <p:txBody>
          <a:bodyPr wrap="square" lIns="36576" rIns="36576">
            <a:spAutoFit/>
          </a:bodyPr>
          <a:lstStyle/>
          <a:p>
            <a:pPr marL="292608" indent="-292608">
              <a:lnSpc>
                <a:spcPct val="105000"/>
              </a:lnSpc>
              <a:spcAft>
                <a:spcPts val="1400"/>
              </a:spcAft>
              <a:buClr>
                <a:srgbClr val="0B3C6F"/>
              </a:buClr>
              <a:buSzPct val="100000"/>
              <a:buFont typeface="Arial"/>
              <a:buChar char="■"/>
            </a:pPr>
            <a:r>
              <a:rPr sz="2000" b="0" i="0">
                <a:solidFill>
                  <a:srgbClr val="111518"/>
                </a:solidFill>
                <a:latin typeface="Arial"/>
              </a:rPr>
              <a:t>No county makes the top 10 under most weightings.</a:t>
            </a:r>
          </a:p>
          <a:p>
            <a:pPr marL="292608" indent="-292608">
              <a:lnSpc>
                <a:spcPct val="105000"/>
              </a:lnSpc>
              <a:spcAft>
                <a:spcPts val="1400"/>
              </a:spcAft>
              <a:buClr>
                <a:srgbClr val="0B3C6F"/>
              </a:buClr>
              <a:buSzPct val="100000"/>
              <a:buFont typeface="Arial"/>
              <a:buChar char="■"/>
            </a:pPr>
            <a:r>
              <a:rPr sz="2000" b="0" i="0">
                <a:solidFill>
                  <a:srgbClr val="111518"/>
                </a:solidFill>
                <a:latin typeface="Arial"/>
              </a:rPr>
              <a:t>Near our weights, Grant and Whitman stay in the top 10.</a:t>
            </a:r>
          </a:p>
          <a:p>
            <a:pPr marL="292608" indent="-292608">
              <a:lnSpc>
                <a:spcPct val="105000"/>
              </a:lnSpc>
              <a:spcAft>
                <a:spcPts val="1400"/>
              </a:spcAft>
              <a:buClr>
                <a:srgbClr val="0B3C6F"/>
              </a:buClr>
              <a:buSzPct val="100000"/>
              <a:buFont typeface="Arial"/>
              <a:buChar char="■"/>
            </a:pPr>
            <a:r>
              <a:rPr sz="2000" b="0" i="0">
                <a:solidFill>
                  <a:srgbClr val="111518"/>
                </a:solidFill>
                <a:latin typeface="Arial"/>
              </a:rPr>
              <a:t>Under equal weights, Whitman ranks first and Grant second.</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A dry-cooled campus in Grant would use 87% less water than an evaporative one</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Modeled with etl/impact.py (300 MW IT, load factor 0.8, PUE and WUE after Lei and Masanet) using eGRID2023. Quote from the Washington Data Center Workgroup preliminary report, December 2025.</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6</a:t>
            </a:r>
          </a:p>
        </p:txBody>
      </p:sp>
      <p:graphicFrame>
        <p:nvGraphicFramePr>
          <p:cNvPr id="7" name="Chart 6"/>
          <p:cNvGraphicFramePr>
            <a:graphicFrameLocks noGrp="1"/>
          </p:cNvGraphicFramePr>
          <p:nvPr/>
        </p:nvGraphicFramePr>
        <p:xfrm>
          <a:off x="548640" y="1828799"/>
          <a:ext cx="5318607" cy="2880360"/>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6324447" y="1828799"/>
          <a:ext cx="5318607" cy="2880360"/>
        </p:xfrm>
        <a:graphic>
          <a:graphicData uri="http://schemas.openxmlformats.org/drawingml/2006/chart">
            <c:chart xmlns:c="http://schemas.openxmlformats.org/drawingml/2006/chart" r:id="rId4"/>
          </a:graphicData>
        </a:graphic>
      </p:graphicFrame>
      <p:sp>
        <p:nvSpPr>
          <p:cNvPr id="9" name="Quote"/>
          <p:cNvSpPr/>
          <p:nvPr/>
        </p:nvSpPr>
        <p:spPr>
          <a:xfrm>
            <a:off x="548640" y="4818887"/>
            <a:ext cx="5318607" cy="1261872"/>
          </a:xfrm>
          <a:prstGeom prst="rect">
            <a:avLst/>
          </a:prstGeom>
          <a:solidFill>
            <a:srgbClr val="F3F5F4"/>
          </a:solidFill>
          <a:ln>
            <a:noFill/>
          </a:ln>
        </p:spPr>
        <p:txBody>
          <a:bodyPr rtlCol="0" anchor="ctr"/>
          <a:lstStyle/>
          <a:p>
            <a:pPr algn="ctr"/>
          </a:p>
        </p:txBody>
      </p:sp>
      <p:sp>
        <p:nvSpPr>
          <p:cNvPr id="10" name="Quote bar"/>
          <p:cNvSpPr/>
          <p:nvPr/>
        </p:nvSpPr>
        <p:spPr>
          <a:xfrm>
            <a:off x="548640" y="4818887"/>
            <a:ext cx="73152" cy="1261872"/>
          </a:xfrm>
          <a:prstGeom prst="rect">
            <a:avLst/>
          </a:prstGeom>
          <a:solidFill>
            <a:srgbClr val="0B3C6F"/>
          </a:solidFill>
          <a:ln>
            <a:noFill/>
          </a:ln>
        </p:spPr>
        <p:txBody>
          <a:bodyPr rtlCol="0" anchor="ctr"/>
          <a:lstStyle/>
          <a:p>
            <a:pPr algn="ctr"/>
          </a:p>
        </p:txBody>
      </p:sp>
      <p:sp>
        <p:nvSpPr>
          <p:cNvPr id="11" name="Quote text"/>
          <p:cNvSpPr txBox="1"/>
          <p:nvPr/>
        </p:nvSpPr>
        <p:spPr>
          <a:xfrm>
            <a:off x="822960" y="4910327"/>
            <a:ext cx="4861407" cy="1078992"/>
          </a:xfrm>
          <a:prstGeom prst="rect">
            <a:avLst/>
          </a:prstGeom>
          <a:noFill/>
        </p:spPr>
        <p:txBody>
          <a:bodyPr wrap="square" anchor="ctr" lIns="36576" rIns="36576" tIns="18288" bIns="18288">
            <a:spAutoFit/>
          </a:bodyPr>
          <a:lstStyle/>
          <a:p>
            <a:pPr algn="l"/>
            <a:r>
              <a:rPr sz="1700" b="0" i="0">
                <a:solidFill>
                  <a:srgbClr val="111518"/>
                </a:solidFill>
                <a:latin typeface="Arial"/>
              </a:rPr>
              <a:t>“The direct water requirements of data centers can be substantial, depending on the size and type of cooling system used.”</a:t>
            </a:r>
          </a:p>
          <a:p>
            <a:pPr algn="l">
              <a:spcBef>
                <a:spcPts val="600"/>
              </a:spcBef>
            </a:pPr>
            <a:r>
              <a:rPr sz="1400" b="1" i="0">
                <a:solidFill>
                  <a:srgbClr val="46505A"/>
                </a:solidFill>
                <a:latin typeface="Arial"/>
              </a:rPr>
              <a:t>Washington Data Center Workgroup, Dec. 2025</a:t>
            </a:r>
          </a:p>
        </p:txBody>
      </p:sp>
      <p:sp>
        <p:nvSpPr>
          <p:cNvPr id="12" name="Bullets"/>
          <p:cNvSpPr txBox="1"/>
          <p:nvPr/>
        </p:nvSpPr>
        <p:spPr>
          <a:xfrm>
            <a:off x="6324447" y="4937759"/>
            <a:ext cx="5318607" cy="1005840"/>
          </a:xfrm>
          <a:prstGeom prst="rect">
            <a:avLst/>
          </a:prstGeom>
          <a:noFill/>
        </p:spPr>
        <p:txBody>
          <a:bodyPr wrap="square" lIns="36576" rIns="36576">
            <a:spAutoFit/>
          </a:bodyPr>
          <a:lstStyle/>
          <a:p>
            <a:pPr marL="292608" indent="-292608">
              <a:lnSpc>
                <a:spcPct val="105000"/>
              </a:lnSpc>
              <a:spcAft>
                <a:spcPts val="1400"/>
              </a:spcAft>
              <a:buClr>
                <a:srgbClr val="0B3C6F"/>
              </a:buClr>
              <a:buSzPct val="100000"/>
              <a:buFont typeface="Arial"/>
              <a:buChar char="■"/>
            </a:pPr>
            <a:r>
              <a:rPr sz="1900" b="0" i="0">
                <a:solidFill>
                  <a:srgbClr val="111518"/>
                </a:solidFill>
                <a:latin typeface="Arial"/>
              </a:rPr>
              <a:t>Carbon depends on the clean power the project brings online.</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For Grant, everything turns on full power by late 2029 at near today's price</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Grant PUD data center FAQ, August 2026. Plan and ratings from research/implementation.md and research/risk.md. Land check from research/sensitive_land.md (PAD-US 4.1, Census TIGER 2024).</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7</a:t>
            </a:r>
          </a:p>
        </p:txBody>
      </p:sp>
      <p:graphicFrame>
        <p:nvGraphicFramePr>
          <p:cNvPr id="7" name="Chart 6"/>
          <p:cNvGraphicFramePr>
            <a:graphicFrameLocks noGrp="1"/>
          </p:cNvGraphicFramePr>
          <p:nvPr/>
        </p:nvGraphicFramePr>
        <p:xfrm>
          <a:off x="548640" y="1828799"/>
          <a:ext cx="4480560" cy="2606040"/>
        </p:xfrm>
        <a:graphic>
          <a:graphicData uri="http://schemas.openxmlformats.org/drawingml/2006/chart">
            <c:chart xmlns:c="http://schemas.openxmlformats.org/drawingml/2006/chart" r:id="rId3"/>
          </a:graphicData>
        </a:graphic>
      </p:graphicFrame>
      <p:sp>
        <p:nvSpPr>
          <p:cNvPr id="8" name="Timeline title"/>
          <p:cNvSpPr txBox="1"/>
          <p:nvPr/>
        </p:nvSpPr>
        <p:spPr>
          <a:xfrm>
            <a:off x="5349240" y="1828799"/>
            <a:ext cx="6293815" cy="365760"/>
          </a:xfrm>
          <a:prstGeom prst="rect">
            <a:avLst/>
          </a:prstGeom>
          <a:noFill/>
        </p:spPr>
        <p:txBody>
          <a:bodyPr wrap="square" anchor="t" lIns="36576" rIns="36576" tIns="18288" bIns="18288">
            <a:spAutoFit/>
          </a:bodyPr>
          <a:lstStyle/>
          <a:p>
            <a:pPr algn="ctr"/>
            <a:r>
              <a:rPr sz="1800" b="1" i="0">
                <a:solidFill>
                  <a:srgbClr val="111518"/>
                </a:solidFill>
                <a:latin typeface="Arial"/>
              </a:rPr>
              <a:t>How the campus phases in</a:t>
            </a:r>
          </a:p>
        </p:txBody>
      </p:sp>
      <p:sp>
        <p:nvSpPr>
          <p:cNvPr id="9" name="Timeline"/>
          <p:cNvSpPr/>
          <p:nvPr/>
        </p:nvSpPr>
        <p:spPr>
          <a:xfrm>
            <a:off x="5532120" y="2724149"/>
            <a:ext cx="5928055" cy="38100"/>
          </a:xfrm>
          <a:prstGeom prst="rect">
            <a:avLst/>
          </a:prstGeom>
          <a:solidFill>
            <a:srgbClr val="0B3C6F"/>
          </a:solidFill>
          <a:ln>
            <a:noFill/>
          </a:ln>
        </p:spPr>
        <p:txBody>
          <a:bodyPr rtlCol="0" anchor="ctr"/>
          <a:lstStyle/>
          <a:p>
            <a:pPr algn="ctr"/>
          </a:p>
        </p:txBody>
      </p:sp>
      <p:sp>
        <p:nvSpPr>
          <p:cNvPr id="10" name="Milestone 2027"/>
          <p:cNvSpPr/>
          <p:nvPr/>
        </p:nvSpPr>
        <p:spPr>
          <a:xfrm>
            <a:off x="6017094" y="2624327"/>
            <a:ext cx="237744" cy="237744"/>
          </a:xfrm>
          <a:prstGeom prst="ellipse">
            <a:avLst/>
          </a:prstGeom>
          <a:solidFill>
            <a:srgbClr val="0B3C6F"/>
          </a:solidFill>
          <a:ln>
            <a:noFill/>
          </a:ln>
        </p:spPr>
        <p:txBody>
          <a:bodyPr rtlCol="0" anchor="ctr"/>
          <a:lstStyle/>
          <a:p>
            <a:pPr algn="ctr"/>
          </a:p>
        </p:txBody>
      </p:sp>
      <p:sp>
        <p:nvSpPr>
          <p:cNvPr id="11" name="Year 2027"/>
          <p:cNvSpPr txBox="1"/>
          <p:nvPr/>
        </p:nvSpPr>
        <p:spPr>
          <a:xfrm>
            <a:off x="5349240" y="2194559"/>
            <a:ext cx="1573453" cy="384048"/>
          </a:xfrm>
          <a:prstGeom prst="rect">
            <a:avLst/>
          </a:prstGeom>
          <a:noFill/>
        </p:spPr>
        <p:txBody>
          <a:bodyPr wrap="square" anchor="t" lIns="36576" rIns="36576" tIns="18288" bIns="18288">
            <a:spAutoFit/>
          </a:bodyPr>
          <a:lstStyle/>
          <a:p>
            <a:pPr algn="ctr"/>
            <a:r>
              <a:rPr sz="2200" b="1" i="0">
                <a:solidFill>
                  <a:srgbClr val="0B3C6F"/>
                </a:solidFill>
                <a:latin typeface="Arial"/>
              </a:rPr>
              <a:t>2027</a:t>
            </a:r>
          </a:p>
        </p:txBody>
      </p:sp>
      <p:sp>
        <p:nvSpPr>
          <p:cNvPr id="12" name="Milestone text 2027"/>
          <p:cNvSpPr txBox="1"/>
          <p:nvPr/>
        </p:nvSpPr>
        <p:spPr>
          <a:xfrm>
            <a:off x="5394960" y="2926079"/>
            <a:ext cx="1482013" cy="1097280"/>
          </a:xfrm>
          <a:prstGeom prst="rect">
            <a:avLst/>
          </a:prstGeom>
          <a:noFill/>
        </p:spPr>
        <p:txBody>
          <a:bodyPr wrap="square" anchor="t" lIns="36576" rIns="36576" tIns="18288" bIns="18288">
            <a:spAutoFit/>
          </a:bodyPr>
          <a:lstStyle/>
          <a:p>
            <a:pPr algn="ctr"/>
            <a:r>
              <a:rPr sz="1500" b="0" i="0">
                <a:solidFill>
                  <a:srgbClr val="111518"/>
                </a:solidFill>
                <a:latin typeface="Arial"/>
              </a:rPr>
              <a:t>Quincy upgrade, first phase online</a:t>
            </a:r>
          </a:p>
        </p:txBody>
      </p:sp>
      <p:sp>
        <p:nvSpPr>
          <p:cNvPr id="13" name="Milestone 2029"/>
          <p:cNvSpPr/>
          <p:nvPr/>
        </p:nvSpPr>
        <p:spPr>
          <a:xfrm>
            <a:off x="7590547" y="2624327"/>
            <a:ext cx="237744" cy="237744"/>
          </a:xfrm>
          <a:prstGeom prst="ellipse">
            <a:avLst/>
          </a:prstGeom>
          <a:solidFill>
            <a:srgbClr val="0B3C6F"/>
          </a:solidFill>
          <a:ln>
            <a:noFill/>
          </a:ln>
        </p:spPr>
        <p:txBody>
          <a:bodyPr rtlCol="0" anchor="ctr"/>
          <a:lstStyle/>
          <a:p>
            <a:pPr algn="ctr"/>
          </a:p>
        </p:txBody>
      </p:sp>
      <p:sp>
        <p:nvSpPr>
          <p:cNvPr id="14" name="Year 2029"/>
          <p:cNvSpPr txBox="1"/>
          <p:nvPr/>
        </p:nvSpPr>
        <p:spPr>
          <a:xfrm>
            <a:off x="6922693" y="2194559"/>
            <a:ext cx="1573453" cy="384048"/>
          </a:xfrm>
          <a:prstGeom prst="rect">
            <a:avLst/>
          </a:prstGeom>
          <a:noFill/>
        </p:spPr>
        <p:txBody>
          <a:bodyPr wrap="square" anchor="t" lIns="36576" rIns="36576" tIns="18288" bIns="18288">
            <a:spAutoFit/>
          </a:bodyPr>
          <a:lstStyle/>
          <a:p>
            <a:pPr algn="ctr"/>
            <a:r>
              <a:rPr sz="2200" b="1" i="0">
                <a:solidFill>
                  <a:srgbClr val="0B3C6F"/>
                </a:solidFill>
                <a:latin typeface="Arial"/>
              </a:rPr>
              <a:t>2029</a:t>
            </a:r>
          </a:p>
        </p:txBody>
      </p:sp>
      <p:sp>
        <p:nvSpPr>
          <p:cNvPr id="15" name="Milestone text 2029"/>
          <p:cNvSpPr txBox="1"/>
          <p:nvPr/>
        </p:nvSpPr>
        <p:spPr>
          <a:xfrm>
            <a:off x="6968413" y="2926079"/>
            <a:ext cx="1482013" cy="1097280"/>
          </a:xfrm>
          <a:prstGeom prst="rect">
            <a:avLst/>
          </a:prstGeom>
          <a:noFill/>
        </p:spPr>
        <p:txBody>
          <a:bodyPr wrap="square" anchor="t" lIns="36576" rIns="36576" tIns="18288" bIns="18288">
            <a:spAutoFit/>
          </a:bodyPr>
          <a:lstStyle/>
          <a:p>
            <a:pPr algn="ctr"/>
            <a:r>
              <a:rPr sz="1500" b="0" i="0">
                <a:solidFill>
                  <a:srgbClr val="111518"/>
                </a:solidFill>
                <a:latin typeface="Arial"/>
              </a:rPr>
              <a:t>New line, grow toward 300 MW</a:t>
            </a:r>
          </a:p>
        </p:txBody>
      </p:sp>
      <p:sp>
        <p:nvSpPr>
          <p:cNvPr id="16" name="Milestone 2030s"/>
          <p:cNvSpPr/>
          <p:nvPr/>
        </p:nvSpPr>
        <p:spPr>
          <a:xfrm>
            <a:off x="9164000" y="2624327"/>
            <a:ext cx="237744" cy="237744"/>
          </a:xfrm>
          <a:prstGeom prst="ellipse">
            <a:avLst/>
          </a:prstGeom>
          <a:solidFill>
            <a:srgbClr val="4F82BD"/>
          </a:solidFill>
          <a:ln>
            <a:noFill/>
          </a:ln>
        </p:spPr>
        <p:txBody>
          <a:bodyPr rtlCol="0" anchor="ctr"/>
          <a:lstStyle/>
          <a:p>
            <a:pPr algn="ctr"/>
          </a:p>
        </p:txBody>
      </p:sp>
      <p:sp>
        <p:nvSpPr>
          <p:cNvPr id="17" name="Year 2030s"/>
          <p:cNvSpPr txBox="1"/>
          <p:nvPr/>
        </p:nvSpPr>
        <p:spPr>
          <a:xfrm>
            <a:off x="8496146" y="2194559"/>
            <a:ext cx="1573453" cy="384048"/>
          </a:xfrm>
          <a:prstGeom prst="rect">
            <a:avLst/>
          </a:prstGeom>
          <a:noFill/>
        </p:spPr>
        <p:txBody>
          <a:bodyPr wrap="square" anchor="t" lIns="36576" rIns="36576" tIns="18288" bIns="18288">
            <a:spAutoFit/>
          </a:bodyPr>
          <a:lstStyle/>
          <a:p>
            <a:pPr algn="ctr"/>
            <a:r>
              <a:rPr sz="2200" b="1" i="0">
                <a:solidFill>
                  <a:srgbClr val="0B3C6F"/>
                </a:solidFill>
                <a:latin typeface="Arial"/>
              </a:rPr>
              <a:t>2030s</a:t>
            </a:r>
          </a:p>
        </p:txBody>
      </p:sp>
      <p:sp>
        <p:nvSpPr>
          <p:cNvPr id="18" name="Milestone text 2030s"/>
          <p:cNvSpPr txBox="1"/>
          <p:nvPr/>
        </p:nvSpPr>
        <p:spPr>
          <a:xfrm>
            <a:off x="8541866" y="2926079"/>
            <a:ext cx="1482013" cy="1097280"/>
          </a:xfrm>
          <a:prstGeom prst="rect">
            <a:avLst/>
          </a:prstGeom>
          <a:noFill/>
        </p:spPr>
        <p:txBody>
          <a:bodyPr wrap="square" anchor="t" lIns="36576" rIns="36576" tIns="18288" bIns="18288">
            <a:spAutoFit/>
          </a:bodyPr>
          <a:lstStyle/>
          <a:p>
            <a:pPr algn="ctr"/>
            <a:r>
              <a:rPr sz="1500" b="0" i="0">
                <a:solidFill>
                  <a:srgbClr val="111518"/>
                </a:solidFill>
                <a:latin typeface="Arial"/>
              </a:rPr>
              <a:t>Firm clean power such as pumped storage</a:t>
            </a:r>
          </a:p>
        </p:txBody>
      </p:sp>
      <p:sp>
        <p:nvSpPr>
          <p:cNvPr id="19" name="Milestone 2045"/>
          <p:cNvSpPr/>
          <p:nvPr/>
        </p:nvSpPr>
        <p:spPr>
          <a:xfrm>
            <a:off x="10737453" y="2624327"/>
            <a:ext cx="237744" cy="237744"/>
          </a:xfrm>
          <a:prstGeom prst="ellipse">
            <a:avLst/>
          </a:prstGeom>
          <a:solidFill>
            <a:srgbClr val="4F82BD"/>
          </a:solidFill>
          <a:ln>
            <a:noFill/>
          </a:ln>
        </p:spPr>
        <p:txBody>
          <a:bodyPr rtlCol="0" anchor="ctr"/>
          <a:lstStyle/>
          <a:p>
            <a:pPr algn="ctr"/>
          </a:p>
        </p:txBody>
      </p:sp>
      <p:sp>
        <p:nvSpPr>
          <p:cNvPr id="20" name="Year 2045"/>
          <p:cNvSpPr txBox="1"/>
          <p:nvPr/>
        </p:nvSpPr>
        <p:spPr>
          <a:xfrm>
            <a:off x="10069599" y="2194559"/>
            <a:ext cx="1573453" cy="384048"/>
          </a:xfrm>
          <a:prstGeom prst="rect">
            <a:avLst/>
          </a:prstGeom>
          <a:noFill/>
        </p:spPr>
        <p:txBody>
          <a:bodyPr wrap="square" anchor="t" lIns="36576" rIns="36576" tIns="18288" bIns="18288">
            <a:spAutoFit/>
          </a:bodyPr>
          <a:lstStyle/>
          <a:p>
            <a:pPr algn="ctr"/>
            <a:r>
              <a:rPr sz="2200" b="1" i="0">
                <a:solidFill>
                  <a:srgbClr val="0B3C6F"/>
                </a:solidFill>
                <a:latin typeface="Arial"/>
              </a:rPr>
              <a:t>2045</a:t>
            </a:r>
          </a:p>
        </p:txBody>
      </p:sp>
      <p:sp>
        <p:nvSpPr>
          <p:cNvPr id="21" name="Milestone text 2045"/>
          <p:cNvSpPr txBox="1"/>
          <p:nvPr/>
        </p:nvSpPr>
        <p:spPr>
          <a:xfrm>
            <a:off x="10115319" y="2926079"/>
            <a:ext cx="1482013" cy="1097280"/>
          </a:xfrm>
          <a:prstGeom prst="rect">
            <a:avLst/>
          </a:prstGeom>
          <a:noFill/>
        </p:spPr>
        <p:txBody>
          <a:bodyPr wrap="square" anchor="t" lIns="36576" rIns="36576" tIns="18288" bIns="18288">
            <a:spAutoFit/>
          </a:bodyPr>
          <a:lstStyle/>
          <a:p>
            <a:pPr algn="ctr"/>
            <a:r>
              <a:rPr sz="1500" b="0" i="0">
                <a:solidFill>
                  <a:srgbClr val="111518"/>
                </a:solidFill>
                <a:latin typeface="Arial"/>
              </a:rPr>
              <a:t>State law requires 100% clean power</a:t>
            </a:r>
          </a:p>
        </p:txBody>
      </p:sp>
      <p:sp>
        <p:nvSpPr>
          <p:cNvPr id="22" name="Card Power, high risk"/>
          <p:cNvSpPr/>
          <p:nvPr/>
        </p:nvSpPr>
        <p:spPr>
          <a:xfrm>
            <a:off x="548640" y="4617719"/>
            <a:ext cx="3545738" cy="1463040"/>
          </a:xfrm>
          <a:prstGeom prst="rect">
            <a:avLst/>
          </a:prstGeom>
          <a:solidFill>
            <a:srgbClr val="F3F5F4"/>
          </a:solidFill>
          <a:ln>
            <a:noFill/>
          </a:ln>
        </p:spPr>
        <p:txBody>
          <a:bodyPr rtlCol="0" anchor="ctr" wrap="square" lIns="182880" rIns="182880" tIns="36576" bIns="36576"/>
          <a:lstStyle/>
          <a:p>
            <a:pPr algn="l"/>
            <a:r>
              <a:rPr sz="1600" b="1" i="0">
                <a:solidFill>
                  <a:srgbClr val="D9532B"/>
                </a:solidFill>
                <a:latin typeface="Arial"/>
              </a:rPr>
              <a:t>Power, high risk</a:t>
            </a:r>
          </a:p>
          <a:p>
            <a:pPr algn="l"/>
            <a:r>
              <a:rPr sz="1800" b="0" i="0">
                <a:solidFill>
                  <a:srgbClr val="111518"/>
                </a:solidFill>
                <a:latin typeface="Arial"/>
              </a:rPr>
              <a:t>The dams are spoken for, and 800 MW of requests wait in line.</a:t>
            </a:r>
          </a:p>
        </p:txBody>
      </p:sp>
      <p:sp>
        <p:nvSpPr>
          <p:cNvPr id="23" name="Card rule"/>
          <p:cNvSpPr/>
          <p:nvPr/>
        </p:nvSpPr>
        <p:spPr>
          <a:xfrm>
            <a:off x="548640" y="4617719"/>
            <a:ext cx="3545738" cy="64008"/>
          </a:xfrm>
          <a:prstGeom prst="rect">
            <a:avLst/>
          </a:prstGeom>
          <a:solidFill>
            <a:srgbClr val="D9532B"/>
          </a:solidFill>
          <a:ln>
            <a:noFill/>
          </a:ln>
        </p:spPr>
        <p:txBody>
          <a:bodyPr rtlCol="0" anchor="ctr"/>
          <a:lstStyle/>
          <a:p>
            <a:pPr algn="ctr"/>
          </a:p>
        </p:txBody>
      </p:sp>
      <p:sp>
        <p:nvSpPr>
          <p:cNvPr id="24" name="Card Heat, medium risk"/>
          <p:cNvSpPr/>
          <p:nvPr/>
        </p:nvSpPr>
        <p:spPr>
          <a:xfrm>
            <a:off x="4322978" y="4617719"/>
            <a:ext cx="3545738" cy="1463040"/>
          </a:xfrm>
          <a:prstGeom prst="rect">
            <a:avLst/>
          </a:prstGeom>
          <a:solidFill>
            <a:srgbClr val="F3F5F4"/>
          </a:solidFill>
          <a:ln>
            <a:noFill/>
          </a:ln>
        </p:spPr>
        <p:txBody>
          <a:bodyPr rtlCol="0" anchor="ctr" wrap="square" lIns="182880" rIns="182880" tIns="36576" bIns="36576"/>
          <a:lstStyle/>
          <a:p>
            <a:pPr algn="l"/>
            <a:r>
              <a:rPr sz="1600" b="1" i="0">
                <a:solidFill>
                  <a:srgbClr val="B86200"/>
                </a:solidFill>
                <a:latin typeface="Arial"/>
              </a:rPr>
              <a:t>Heat, medium risk</a:t>
            </a:r>
          </a:p>
          <a:p>
            <a:pPr algn="l"/>
            <a:r>
              <a:rPr sz="1800" b="0" i="0">
                <a:solidFill>
                  <a:srgbClr val="111518"/>
                </a:solidFill>
                <a:latin typeface="Arial"/>
              </a:rPr>
              <a:t>Days above 95°F rise from 14 to 36 by 2050. Dry coolers are sized for that.</a:t>
            </a:r>
          </a:p>
        </p:txBody>
      </p:sp>
      <p:sp>
        <p:nvSpPr>
          <p:cNvPr id="25" name="Card rule"/>
          <p:cNvSpPr/>
          <p:nvPr/>
        </p:nvSpPr>
        <p:spPr>
          <a:xfrm>
            <a:off x="4322978" y="4617719"/>
            <a:ext cx="3545738" cy="64008"/>
          </a:xfrm>
          <a:prstGeom prst="rect">
            <a:avLst/>
          </a:prstGeom>
          <a:solidFill>
            <a:srgbClr val="B86200"/>
          </a:solidFill>
          <a:ln>
            <a:noFill/>
          </a:ln>
        </p:spPr>
        <p:txBody>
          <a:bodyPr rtlCol="0" anchor="ctr"/>
          <a:lstStyle/>
          <a:p>
            <a:pPr algn="ctr"/>
          </a:p>
        </p:txBody>
      </p:sp>
      <p:sp>
        <p:nvSpPr>
          <p:cNvPr id="26" name="Card Land, low risk"/>
          <p:cNvSpPr/>
          <p:nvPr/>
        </p:nvSpPr>
        <p:spPr>
          <a:xfrm>
            <a:off x="8097316" y="4617719"/>
            <a:ext cx="3545738" cy="1463040"/>
          </a:xfrm>
          <a:prstGeom prst="rect">
            <a:avLst/>
          </a:prstGeom>
          <a:solidFill>
            <a:srgbClr val="F3F5F4"/>
          </a:solidFill>
          <a:ln>
            <a:noFill/>
          </a:ln>
        </p:spPr>
        <p:txBody>
          <a:bodyPr rtlCol="0" anchor="ctr" wrap="square" lIns="182880" rIns="182880" tIns="36576" bIns="36576"/>
          <a:lstStyle/>
          <a:p>
            <a:pPr algn="l"/>
            <a:r>
              <a:rPr sz="1600" b="1" i="0">
                <a:solidFill>
                  <a:srgbClr val="23804F"/>
                </a:solidFill>
                <a:latin typeface="Arial"/>
              </a:rPr>
              <a:t>Land, low risk</a:t>
            </a:r>
          </a:p>
          <a:p>
            <a:pPr algn="l"/>
            <a:r>
              <a:rPr sz="1800" b="0" i="0">
                <a:solidFill>
                  <a:srgbClr val="111518"/>
                </a:solidFill>
                <a:latin typeface="Arial"/>
              </a:rPr>
              <a:t>A hand check found no protected land within 5 km of Quincy.</a:t>
            </a:r>
          </a:p>
        </p:txBody>
      </p:sp>
      <p:sp>
        <p:nvSpPr>
          <p:cNvPr id="27" name="Card rule"/>
          <p:cNvSpPr/>
          <p:nvPr/>
        </p:nvSpPr>
        <p:spPr>
          <a:xfrm>
            <a:off x="8097316" y="4617719"/>
            <a:ext cx="3545738" cy="64008"/>
          </a:xfrm>
          <a:prstGeom prst="rect">
            <a:avLst/>
          </a:prstGeom>
          <a:solidFill>
            <a:srgbClr val="23804F"/>
          </a:solidFill>
          <a:ln>
            <a:noFill/>
          </a:ln>
        </p:spPr>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500"/>
                            </p:stCondLst>
                            <p:childTnLst>
                              <p:par>
                                <p:cT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5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450"/>
                                        <p:tgtEl>
                                          <p:spTgt spid="12"/>
                                        </p:tgtEl>
                                      </p:cBhvr>
                                    </p:animEffect>
                                  </p:childTnLst>
                                </p:cTn>
                              </p:par>
                            </p:childTnLst>
                          </p:cTn>
                        </p:par>
                        <p:par>
                          <p:cTn id="14" fill="hold">
                            <p:stCondLst>
                              <p:cond delay="900"/>
                            </p:stCondLst>
                            <p:childTnLst>
                              <p:par>
                                <p:cTn id="15" presetID="10" presetClass="entr" presetSubtype="0"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5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5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50"/>
                                        <p:tgtEl>
                                          <p:spTgt spid="15"/>
                                        </p:tgtEl>
                                      </p:cBhvr>
                                    </p:animEffect>
                                  </p:childTnLst>
                                </p:cTn>
                              </p:par>
                            </p:childTnLst>
                          </p:cTn>
                        </p:par>
                        <p:par>
                          <p:cTn id="24" fill="hold">
                            <p:stCondLst>
                              <p:cond delay="13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45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45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450"/>
                                        <p:tgtEl>
                                          <p:spTgt spid="18"/>
                                        </p:tgtEl>
                                      </p:cBhvr>
                                    </p:animEffect>
                                  </p:childTnLst>
                                </p:cTn>
                              </p:par>
                            </p:childTnLst>
                          </p:cTn>
                        </p:par>
                        <p:par>
                          <p:cTn id="34" fill="hold">
                            <p:stCondLst>
                              <p:cond delay="1700"/>
                            </p:stCondLst>
                            <p:childTnLst>
                              <p:par>
                                <p:cTn id="35" presetID="10" presetClass="entr" presetSubtype="0" fill="hold" grpId="0" nodeType="after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5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50"/>
                                        <p:tgtEl>
                                          <p:spTgt spid="2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Change one assumption and the tool gives a new answer with its reasons</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Screenshot from the team's Streamlit app (app/app.py), balanced preset with evaporative cooling. Counts rerun with the engine (docs/deck_build_log.md step 4). Water stress from WRI Aqueduct 4.0.</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8</a:t>
            </a:r>
          </a:p>
        </p:txBody>
      </p:sp>
      <p:pic>
        <p:nvPicPr>
          <p:cNvPr id="7" name="Picture 6" descr="app_cooling_switch.png"/>
          <p:cNvPicPr>
            <a:picLocks noChangeAspect="1"/>
          </p:cNvPicPr>
          <p:nvPr/>
        </p:nvPicPr>
        <p:blipFill>
          <a:blip r:embed="rId3"/>
          <a:stretch>
            <a:fillRect/>
          </a:stretch>
        </p:blipFill>
        <p:spPr>
          <a:xfrm>
            <a:off x="548640" y="1904999"/>
            <a:ext cx="5212080" cy="1447800"/>
          </a:xfrm>
          <a:prstGeom prst="rect">
            <a:avLst/>
          </a:prstGeom>
          <a:ln w="12700">
            <a:solidFill>
              <a:srgbClr val="D3D8D6"/>
            </a:solidFill>
          </a:ln>
        </p:spPr>
      </p:pic>
      <p:graphicFrame>
        <p:nvGraphicFramePr>
          <p:cNvPr id="8" name="Chart 7"/>
          <p:cNvGraphicFramePr>
            <a:graphicFrameLocks noGrp="1"/>
          </p:cNvGraphicFramePr>
          <p:nvPr/>
        </p:nvGraphicFramePr>
        <p:xfrm>
          <a:off x="548640" y="3566159"/>
          <a:ext cx="5212080" cy="1783080"/>
        </p:xfrm>
        <a:graphic>
          <a:graphicData uri="http://schemas.openxmlformats.org/drawingml/2006/chart">
            <c:chart xmlns:c="http://schemas.openxmlformats.org/drawingml/2006/chart" r:id="rId4"/>
          </a:graphicData>
        </a:graphic>
      </p:graphicFrame>
      <p:sp>
        <p:nvSpPr>
          <p:cNvPr id="9" name="Bullets"/>
          <p:cNvSpPr txBox="1"/>
          <p:nvPr/>
        </p:nvSpPr>
        <p:spPr>
          <a:xfrm>
            <a:off x="6126480" y="1920239"/>
            <a:ext cx="5516575" cy="3200400"/>
          </a:xfrm>
          <a:prstGeom prst="rect">
            <a:avLst/>
          </a:prstGeom>
          <a:noFill/>
        </p:spPr>
        <p:txBody>
          <a:bodyPr wrap="square" lIns="36576" rIns="36576">
            <a:spAutoFit/>
          </a:bodyPr>
          <a:lstStyle/>
          <a:p>
            <a:pPr marL="292608" indent="-292608">
              <a:lnSpc>
                <a:spcPct val="105000"/>
              </a:lnSpc>
              <a:spcAft>
                <a:spcPts val="1400"/>
              </a:spcAft>
              <a:buClr>
                <a:srgbClr val="0B3C6F"/>
              </a:buClr>
              <a:buSzPct val="100000"/>
              <a:buFont typeface="Arial"/>
              <a:buChar char="■"/>
            </a:pPr>
            <a:r>
              <a:rPr sz="2000" b="0" i="0">
                <a:solidFill>
                  <a:srgbClr val="111518"/>
                </a:solidFill>
                <a:latin typeface="Arial"/>
              </a:rPr>
              <a:t>Evaporative cooling adds a limit on water stress.</a:t>
            </a:r>
          </a:p>
          <a:p>
            <a:pPr marL="292608" indent="-292608">
              <a:lnSpc>
                <a:spcPct val="105000"/>
              </a:lnSpc>
              <a:spcAft>
                <a:spcPts val="1400"/>
              </a:spcAft>
              <a:buClr>
                <a:srgbClr val="0B3C6F"/>
              </a:buClr>
              <a:buSzPct val="100000"/>
              <a:buFont typeface="Arial"/>
              <a:buChar char="■"/>
            </a:pPr>
            <a:r>
              <a:rPr sz="2000" b="0" i="0">
                <a:solidFill>
                  <a:srgbClr val="111518"/>
                </a:solidFill>
                <a:latin typeface="Arial"/>
              </a:rPr>
              <a:t>Grant drops out, and the app shows which limit it failed.</a:t>
            </a:r>
          </a:p>
          <a:p>
            <a:pPr marL="292608" indent="-292608">
              <a:lnSpc>
                <a:spcPct val="105000"/>
              </a:lnSpc>
              <a:spcAft>
                <a:spcPts val="1400"/>
              </a:spcAft>
              <a:buClr>
                <a:srgbClr val="0B3C6F"/>
              </a:buClr>
              <a:buSzPct val="100000"/>
              <a:buFont typeface="Arial"/>
              <a:buChar char="■"/>
            </a:pPr>
            <a:r>
              <a:rPr sz="2000" b="0" i="0">
                <a:solidFill>
                  <a:srgbClr val="111518"/>
                </a:solidFill>
                <a:latin typeface="Arial"/>
              </a:rPr>
              <a:t>Whitman, with almost no water stress, moves to first.</a:t>
            </a:r>
          </a:p>
        </p:txBody>
      </p:sp>
      <p:sp>
        <p:nvSpPr>
          <p:cNvPr id="10" name="Band"/>
          <p:cNvSpPr/>
          <p:nvPr/>
        </p:nvSpPr>
        <p:spPr>
          <a:xfrm>
            <a:off x="548640" y="5486399"/>
            <a:ext cx="11094415" cy="685800"/>
          </a:xfrm>
          <a:prstGeom prst="rect">
            <a:avLst/>
          </a:prstGeom>
          <a:solidFill>
            <a:srgbClr val="0B3C6F"/>
          </a:solidFill>
          <a:ln>
            <a:noFill/>
          </a:ln>
        </p:spPr>
        <p:txBody>
          <a:bodyPr rtlCol="0" anchor="ctr" wrap="square" lIns="274320" rIns="274320" tIns="36576" bIns="36576"/>
          <a:lstStyle/>
          <a:p>
            <a:pPr algn="ctr"/>
            <a:r>
              <a:rPr sz="2100" b="1" i="0">
                <a:solidFill>
                  <a:srgbClr val="FFFFFF"/>
                </a:solidFill>
                <a:latin typeface="Arial"/>
              </a:rPr>
              <a:t>You set the conditions. The tool ranks every county and explains each result.</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How our pick changed as we fixed the inputs</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Ranks from docs/figures/facts.json (pick_story). Price rerun in docs/deck_build_log.md step 4. Permitting model results in research/permitting_model.md.</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A1</a:t>
            </a:r>
          </a:p>
        </p:txBody>
      </p:sp>
      <p:graphicFrame>
        <p:nvGraphicFramePr>
          <p:cNvPr id="7" name="Chart 6"/>
          <p:cNvGraphicFramePr>
            <a:graphicFrameLocks noGrp="1"/>
          </p:cNvGraphicFramePr>
          <p:nvPr/>
        </p:nvGraphicFramePr>
        <p:xfrm>
          <a:off x="548640" y="2194559"/>
          <a:ext cx="6309360" cy="3931920"/>
        </p:xfrm>
        <a:graphic>
          <a:graphicData uri="http://schemas.openxmlformats.org/drawingml/2006/chart">
            <c:chart xmlns:c="http://schemas.openxmlformats.org/drawingml/2006/chart" r:id="rId3"/>
          </a:graphicData>
        </a:graphic>
      </p:graphicFrame>
      <p:sp>
        <p:nvSpPr>
          <p:cNvPr id="8" name="TextBox 7"/>
          <p:cNvSpPr txBox="1"/>
          <p:nvPr/>
        </p:nvSpPr>
        <p:spPr>
          <a:xfrm>
            <a:off x="548640" y="1783079"/>
            <a:ext cx="6309360" cy="365760"/>
          </a:xfrm>
          <a:prstGeom prst="rect">
            <a:avLst/>
          </a:prstGeom>
          <a:noFill/>
        </p:spPr>
        <p:txBody>
          <a:bodyPr wrap="square" anchor="t" lIns="36576" rIns="36576" tIns="18288" bIns="18288">
            <a:spAutoFit/>
          </a:bodyPr>
          <a:lstStyle/>
          <a:p>
            <a:pPr algn="ctr"/>
            <a:r>
              <a:rPr sz="1800" b="1" i="0">
                <a:solidFill>
                  <a:srgbClr val="111518"/>
                </a:solidFill>
                <a:latin typeface="Arial"/>
              </a:rPr>
              <a:t>Rank at each step, log scale</a:t>
            </a:r>
          </a:p>
        </p:txBody>
      </p:sp>
      <p:sp>
        <p:nvSpPr>
          <p:cNvPr id="9" name="Bullets"/>
          <p:cNvSpPr txBox="1"/>
          <p:nvPr/>
        </p:nvSpPr>
        <p:spPr>
          <a:xfrm>
            <a:off x="7132320" y="1965959"/>
            <a:ext cx="4510735" cy="2926080"/>
          </a:xfrm>
          <a:prstGeom prst="rect">
            <a:avLst/>
          </a:prstGeom>
          <a:noFill/>
        </p:spPr>
        <p:txBody>
          <a:bodyPr wrap="square" lIns="36576" rIns="36576">
            <a:spAutoFit/>
          </a:bodyPr>
          <a:lstStyle/>
          <a:p>
            <a:pPr marL="292608" indent="-292608">
              <a:lnSpc>
                <a:spcPct val="105000"/>
              </a:lnSpc>
              <a:spcAft>
                <a:spcPts val="1200"/>
              </a:spcAft>
              <a:buClr>
                <a:srgbClr val="0B3C6F"/>
              </a:buClr>
              <a:buSzPct val="100000"/>
              <a:buFont typeface="Arial"/>
              <a:buChar char="■"/>
            </a:pPr>
            <a:r>
              <a:rPr sz="1900" b="0" i="0">
                <a:solidFill>
                  <a:srgbClr val="111518"/>
                </a:solidFill>
                <a:latin typeface="Arial"/>
              </a:rPr>
              <a:t>Massachusetts closed a tax break, and Berkshire fell to 27th.</a:t>
            </a:r>
          </a:p>
          <a:p>
            <a:pPr marL="292608" indent="-292608">
              <a:lnSpc>
                <a:spcPct val="105000"/>
              </a:lnSpc>
              <a:spcAft>
                <a:spcPts val="1200"/>
              </a:spcAft>
              <a:buClr>
                <a:srgbClr val="0B3C6F"/>
              </a:buClr>
              <a:buSzPct val="100000"/>
              <a:buFont typeface="Arial"/>
              <a:buChar char="■"/>
            </a:pPr>
            <a:r>
              <a:rPr sz="1900" b="0" i="0">
                <a:solidFill>
                  <a:srgbClr val="111518"/>
                </a:solidFill>
                <a:latin typeface="Arial"/>
              </a:rPr>
              <a:t>Adding the cost of power moved Grant to first.</a:t>
            </a:r>
          </a:p>
          <a:p>
            <a:pPr marL="292608" indent="-292608">
              <a:lnSpc>
                <a:spcPct val="105000"/>
              </a:lnSpc>
              <a:spcAft>
                <a:spcPts val="1200"/>
              </a:spcAft>
              <a:buClr>
                <a:srgbClr val="0B3C6F"/>
              </a:buClr>
              <a:buSzPct val="100000"/>
              <a:buFont typeface="Arial"/>
              <a:buChar char="■"/>
            </a:pPr>
            <a:r>
              <a:rPr sz="1900" b="0" i="0">
                <a:solidFill>
                  <a:srgbClr val="111518"/>
                </a:solidFill>
                <a:latin typeface="Arial"/>
              </a:rPr>
              <a:t>Repricing only Washington at BPA's rate drops Grant to 77th.</a:t>
            </a:r>
          </a:p>
        </p:txBody>
      </p:sp>
      <p:sp>
        <p:nvSpPr>
          <p:cNvPr id="10" name="Dropped"/>
          <p:cNvSpPr/>
          <p:nvPr/>
        </p:nvSpPr>
        <p:spPr>
          <a:xfrm>
            <a:off x="7132320" y="4937759"/>
            <a:ext cx="4510735" cy="1188720"/>
          </a:xfrm>
          <a:prstGeom prst="rect">
            <a:avLst/>
          </a:prstGeom>
          <a:solidFill>
            <a:srgbClr val="F3F5F4"/>
          </a:solidFill>
          <a:ln>
            <a:noFill/>
          </a:ln>
        </p:spPr>
        <p:txBody>
          <a:bodyPr rtlCol="0" anchor="ctr" wrap="square" lIns="182880" rIns="182880" tIns="36576" bIns="36576"/>
          <a:lstStyle/>
          <a:p>
            <a:pPr algn="l"/>
            <a:r>
              <a:rPr sz="1700" b="0" i="0">
                <a:solidFill>
                  <a:srgbClr val="111518"/>
                </a:solidFill>
                <a:latin typeface="Arial"/>
              </a:rPr>
              <a:t>We also tested a machine-learning model of permitting and dropped it. Out of sample it did no better than chance.</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Why we also check the leaders in dollars and tons</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Pillar scores from the engine on main c239868 (docs/deck_build_log.md step 4). CO2 from research/impact.md at eGRID2023 regional rates. Cost shares from the 25-year dollar model in docs/weighting.md.</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A2</a:t>
            </a:r>
          </a:p>
        </p:txBody>
      </p:sp>
      <p:graphicFrame>
        <p:nvGraphicFramePr>
          <p:cNvPr id="7" name="Chart 6"/>
          <p:cNvGraphicFramePr>
            <a:graphicFrameLocks noGrp="1"/>
          </p:cNvGraphicFramePr>
          <p:nvPr/>
        </p:nvGraphicFramePr>
        <p:xfrm>
          <a:off x="548640" y="1828799"/>
          <a:ext cx="5318607" cy="2926080"/>
        </p:xfrm>
        <a:graphic>
          <a:graphicData uri="http://schemas.openxmlformats.org/drawingml/2006/chart">
            <c:chart xmlns:c="http://schemas.openxmlformats.org/drawingml/2006/chart" r:id="rId3"/>
          </a:graphicData>
        </a:graphic>
      </p:graphicFrame>
      <p:sp>
        <p:nvSpPr>
          <p:cNvPr id="8" name="TextBox 7"/>
          <p:cNvSpPr txBox="1"/>
          <p:nvPr/>
        </p:nvSpPr>
        <p:spPr>
          <a:xfrm>
            <a:off x="548640" y="4892039"/>
            <a:ext cx="5318607" cy="1097280"/>
          </a:xfrm>
          <a:prstGeom prst="rect">
            <a:avLst/>
          </a:prstGeom>
          <a:noFill/>
        </p:spPr>
        <p:txBody>
          <a:bodyPr wrap="square" anchor="t" lIns="36576" rIns="36576" tIns="18288" bIns="18288">
            <a:spAutoFit/>
          </a:bodyPr>
          <a:lstStyle/>
          <a:p>
            <a:pPr algn="l"/>
            <a:r>
              <a:rPr sz="1900" b="0" i="0">
                <a:solidFill>
                  <a:srgbClr val="111518"/>
                </a:solidFill>
                <a:latin typeface="Arial"/>
              </a:rPr>
              <a:t>Their carbon scores are 80 and 70, only 10 points apart.</a:t>
            </a:r>
          </a:p>
        </p:txBody>
      </p:sp>
      <p:graphicFrame>
        <p:nvGraphicFramePr>
          <p:cNvPr id="9" name="Chart 8"/>
          <p:cNvGraphicFramePr>
            <a:graphicFrameLocks noGrp="1"/>
          </p:cNvGraphicFramePr>
          <p:nvPr/>
        </p:nvGraphicFramePr>
        <p:xfrm>
          <a:off x="6324447" y="1828799"/>
          <a:ext cx="5318607" cy="2926080"/>
        </p:xfrm>
        <a:graphic>
          <a:graphicData uri="http://schemas.openxmlformats.org/drawingml/2006/chart">
            <c:chart xmlns:c="http://schemas.openxmlformats.org/drawingml/2006/chart" r:id="rId4"/>
          </a:graphicData>
        </a:graphic>
      </p:graphicFrame>
      <p:sp>
        <p:nvSpPr>
          <p:cNvPr id="10" name="TextBox 9"/>
          <p:cNvSpPr txBox="1"/>
          <p:nvPr/>
        </p:nvSpPr>
        <p:spPr>
          <a:xfrm>
            <a:off x="6324447" y="4892039"/>
            <a:ext cx="5318607" cy="1097280"/>
          </a:xfrm>
          <a:prstGeom prst="rect">
            <a:avLst/>
          </a:prstGeom>
          <a:noFill/>
        </p:spPr>
        <p:txBody>
          <a:bodyPr wrap="square" anchor="t" lIns="36576" rIns="36576" tIns="18288" bIns="18288">
            <a:spAutoFit/>
          </a:bodyPr>
          <a:lstStyle/>
          <a:p>
            <a:pPr algn="l"/>
            <a:r>
              <a:rPr sz="1900" b="0" i="0">
                <a:solidFill>
                  <a:srgbClr val="111518"/>
                </a:solidFill>
                <a:latin typeface="Arial"/>
              </a:rPr>
              <a:t>Energy and carbon drive most cost differences between counties.</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In 25-year dollars, four leading counties land within 3% of each other</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25-year costs at $190 per ton CO2 with sales tax, at today's average prices (docs/weighting.md and scratch/weighting/out/monetized_costs.csv). Land checks from research/sensitive_land.md.</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A3</a:t>
            </a:r>
          </a:p>
        </p:txBody>
      </p:sp>
      <p:graphicFrame>
        <p:nvGraphicFramePr>
          <p:cNvPr id="7" name="Table 6"/>
          <p:cNvGraphicFramePr>
            <a:graphicFrameLocks noGrp="1"/>
          </p:cNvGraphicFramePr>
          <p:nvPr/>
        </p:nvGraphicFramePr>
        <p:xfrm>
          <a:off x="548640" y="1828799"/>
          <a:ext cx="11094415" cy="3291840"/>
        </p:xfrm>
        <a:graphic>
          <a:graphicData uri="http://schemas.openxmlformats.org/drawingml/2006/table">
            <a:tbl>
              <a:tblPr firstRow="1" bandRow="1">
                <a:tableStyleId>{5C22544A-7EE6-4342-B048-85BDC9FD1C3A}</a:tableStyleId>
              </a:tblPr>
              <a:tblGrid>
                <a:gridCol w="1828800"/>
                <a:gridCol w="1737360"/>
                <a:gridCol w="3840480"/>
                <a:gridCol w="3687775"/>
              </a:tblGrid>
              <a:tr h="658368">
                <a:tc>
                  <a:txBody>
                    <a:bodyPr wrap="square"/>
                    <a:lstStyle/>
                    <a:p>
                      <a:r>
                        <a:rPr sz="1600" b="1" i="0">
                          <a:solidFill>
                            <a:srgbClr val="FFFFFF"/>
                          </a:solidFill>
                          <a:latin typeface="Arial"/>
                        </a:rPr>
                        <a:t>County</a:t>
                      </a:r>
                    </a:p>
                  </a:txBody>
                  <a:tcPr marL="91440" marR="91440" anchor="ctr">
                    <a:solidFill>
                      <a:srgbClr val="0B3C6F"/>
                    </a:solidFill>
                  </a:tcPr>
                </a:tc>
                <a:tc>
                  <a:txBody>
                    <a:bodyPr wrap="square"/>
                    <a:lstStyle/>
                    <a:p>
                      <a:r>
                        <a:rPr sz="1600" b="1" i="0">
                          <a:solidFill>
                            <a:srgbClr val="FFFFFF"/>
                          </a:solidFill>
                          <a:latin typeface="Arial"/>
                        </a:rPr>
                        <a:t>25-year cost</a:t>
                      </a:r>
                    </a:p>
                  </a:txBody>
                  <a:tcPr marL="91440" marR="91440" anchor="ctr">
                    <a:solidFill>
                      <a:srgbClr val="0B3C6F"/>
                    </a:solidFill>
                  </a:tcPr>
                </a:tc>
                <a:tc>
                  <a:txBody>
                    <a:bodyPr wrap="square"/>
                    <a:lstStyle/>
                    <a:p>
                      <a:r>
                        <a:rPr sz="1600" b="1" i="0">
                          <a:solidFill>
                            <a:srgbClr val="FFFFFF"/>
                          </a:solidFill>
                          <a:latin typeface="Arial"/>
                        </a:rPr>
                        <a:t>Main condition</a:t>
                      </a:r>
                    </a:p>
                  </a:txBody>
                  <a:tcPr marL="91440" marR="91440" anchor="ctr">
                    <a:solidFill>
                      <a:srgbClr val="0B3C6F"/>
                    </a:solidFill>
                  </a:tcPr>
                </a:tc>
                <a:tc>
                  <a:txBody>
                    <a:bodyPr wrap="square"/>
                    <a:lstStyle/>
                    <a:p>
                      <a:r>
                        <a:rPr sz="1600" b="1" i="0">
                          <a:solidFill>
                            <a:srgbClr val="FFFFFF"/>
                          </a:solidFill>
                          <a:latin typeface="Arial"/>
                        </a:rPr>
                        <a:t>Land check</a:t>
                      </a:r>
                    </a:p>
                  </a:txBody>
                  <a:tcPr marL="91440" marR="91440" anchor="ctr">
                    <a:solidFill>
                      <a:srgbClr val="0B3C6F"/>
                    </a:solidFill>
                  </a:tcPr>
                </a:tc>
              </a:tr>
              <a:tr h="658368">
                <a:tc>
                  <a:txBody>
                    <a:bodyPr wrap="square"/>
                    <a:lstStyle/>
                    <a:p>
                      <a:r>
                        <a:rPr sz="1600" b="1" i="0">
                          <a:solidFill>
                            <a:srgbClr val="111518"/>
                          </a:solidFill>
                          <a:latin typeface="Arial"/>
                        </a:rPr>
                        <a:t>Whitman, WA</a:t>
                      </a:r>
                    </a:p>
                  </a:txBody>
                  <a:tcPr marL="91440" marR="91440" anchor="ctr">
                    <a:solidFill>
                      <a:srgbClr val="FFFFFF"/>
                    </a:solidFill>
                  </a:tcPr>
                </a:tc>
                <a:tc>
                  <a:txBody>
                    <a:bodyPr wrap="square"/>
                    <a:lstStyle/>
                    <a:p>
                      <a:r>
                        <a:rPr sz="1600" b="0" i="0">
                          <a:solidFill>
                            <a:srgbClr val="111518"/>
                          </a:solidFill>
                          <a:latin typeface="Arial"/>
                        </a:rPr>
                        <a:t>$4.330B</a:t>
                      </a:r>
                    </a:p>
                  </a:txBody>
                  <a:tcPr marL="91440" marR="91440" anchor="ctr">
                    <a:solidFill>
                      <a:srgbClr val="FFFFFF"/>
                    </a:solidFill>
                  </a:tcPr>
                </a:tc>
                <a:tc>
                  <a:txBody>
                    <a:bodyPr wrap="square"/>
                    <a:lstStyle/>
                    <a:p>
                      <a:r>
                        <a:rPr sz="1600" b="0" i="0">
                          <a:solidFill>
                            <a:srgbClr val="111518"/>
                          </a:solidFill>
                          <a:latin typeface="Arial"/>
                        </a:rPr>
                        <a:t>Power on an assumed timeline that we haven't researched</a:t>
                      </a:r>
                    </a:p>
                  </a:txBody>
                  <a:tcPr marL="91440" marR="91440" anchor="ctr">
                    <a:solidFill>
                      <a:srgbClr val="FFFFFF"/>
                    </a:solidFill>
                  </a:tcPr>
                </a:tc>
                <a:tc>
                  <a:txBody>
                    <a:bodyPr wrap="square"/>
                    <a:lstStyle/>
                    <a:p>
                      <a:r>
                        <a:rPr sz="1600" b="0" i="0">
                          <a:solidFill>
                            <a:srgbClr val="111518"/>
                          </a:solidFill>
                          <a:latin typeface="Arial"/>
                        </a:rPr>
                        <a:t>0.2% of the county is protected, not checked by hand</a:t>
                      </a:r>
                    </a:p>
                  </a:txBody>
                  <a:tcPr marL="91440" marR="91440" anchor="ctr">
                    <a:solidFill>
                      <a:srgbClr val="FFFFFF"/>
                    </a:solidFill>
                  </a:tcPr>
                </a:tc>
              </a:tr>
              <a:tr h="658368">
                <a:tc>
                  <a:txBody>
                    <a:bodyPr wrap="square"/>
                    <a:lstStyle/>
                    <a:p>
                      <a:r>
                        <a:rPr sz="1600" b="1" i="0">
                          <a:solidFill>
                            <a:srgbClr val="111518"/>
                          </a:solidFill>
                          <a:latin typeface="Arial"/>
                        </a:rPr>
                        <a:t>Clark, WA</a:t>
                      </a:r>
                    </a:p>
                  </a:txBody>
                  <a:tcPr marL="91440" marR="91440" anchor="ctr">
                    <a:solidFill>
                      <a:srgbClr val="F3F5F4"/>
                    </a:solidFill>
                  </a:tcPr>
                </a:tc>
                <a:tc>
                  <a:txBody>
                    <a:bodyPr wrap="square"/>
                    <a:lstStyle/>
                    <a:p>
                      <a:r>
                        <a:rPr sz="1600" b="0" i="0">
                          <a:solidFill>
                            <a:srgbClr val="111518"/>
                          </a:solidFill>
                          <a:latin typeface="Arial"/>
                        </a:rPr>
                        <a:t>$4.405B</a:t>
                      </a:r>
                    </a:p>
                  </a:txBody>
                  <a:tcPr marL="91440" marR="91440" anchor="ctr">
                    <a:solidFill>
                      <a:srgbClr val="F3F5F4"/>
                    </a:solidFill>
                  </a:tcPr>
                </a:tc>
                <a:tc>
                  <a:txBody>
                    <a:bodyPr wrap="square"/>
                    <a:lstStyle/>
                    <a:p>
                      <a:r>
                        <a:rPr sz="1600" b="0" i="0">
                          <a:solidFill>
                            <a:srgbClr val="111518"/>
                          </a:solidFill>
                          <a:latin typeface="Arial"/>
                        </a:rPr>
                        <a:t>Its parcel avoids the transit tax and power comes in 2.25 years</a:t>
                      </a:r>
                    </a:p>
                  </a:txBody>
                  <a:tcPr marL="91440" marR="91440" anchor="ctr">
                    <a:solidFill>
                      <a:srgbClr val="F3F5F4"/>
                    </a:solidFill>
                  </a:tcPr>
                </a:tc>
                <a:tc>
                  <a:txBody>
                    <a:bodyPr wrap="square"/>
                    <a:lstStyle/>
                    <a:p>
                      <a:r>
                        <a:rPr sz="1600" b="0" i="0">
                          <a:solidFill>
                            <a:srgbClr val="111518"/>
                          </a:solidFill>
                          <a:latin typeface="Arial"/>
                        </a:rPr>
                        <a:t>Avoid the Gorge Scenic Area and the Ridgefield lowlands</a:t>
                      </a:r>
                    </a:p>
                  </a:txBody>
                  <a:tcPr marL="91440" marR="91440" anchor="ctr">
                    <a:solidFill>
                      <a:srgbClr val="F3F5F4"/>
                    </a:solidFill>
                  </a:tcPr>
                </a:tc>
              </a:tr>
              <a:tr h="658368">
                <a:tc>
                  <a:txBody>
                    <a:bodyPr wrap="square"/>
                    <a:lstStyle/>
                    <a:p>
                      <a:r>
                        <a:rPr sz="1600" b="1" i="0">
                          <a:solidFill>
                            <a:srgbClr val="111518"/>
                          </a:solidFill>
                          <a:latin typeface="Arial"/>
                        </a:rPr>
                        <a:t>Grant, WA</a:t>
                      </a:r>
                    </a:p>
                  </a:txBody>
                  <a:tcPr marL="91440" marR="91440" anchor="ctr">
                    <a:solidFill>
                      <a:srgbClr val="FFFFFF"/>
                    </a:solidFill>
                  </a:tcPr>
                </a:tc>
                <a:tc>
                  <a:txBody>
                    <a:bodyPr wrap="square"/>
                    <a:lstStyle/>
                    <a:p>
                      <a:r>
                        <a:rPr sz="1600" b="0" i="0">
                          <a:solidFill>
                            <a:srgbClr val="111518"/>
                          </a:solidFill>
                          <a:latin typeface="Arial"/>
                        </a:rPr>
                        <a:t>$4.452B</a:t>
                      </a:r>
                    </a:p>
                  </a:txBody>
                  <a:tcPr marL="91440" marR="91440" anchor="ctr">
                    <a:solidFill>
                      <a:srgbClr val="FFFFFF"/>
                    </a:solidFill>
                  </a:tcPr>
                </a:tc>
                <a:tc>
                  <a:txBody>
                    <a:bodyPr wrap="square"/>
                    <a:lstStyle/>
                    <a:p>
                      <a:r>
                        <a:rPr sz="1600" b="0" i="0">
                          <a:solidFill>
                            <a:srgbClr val="111518"/>
                          </a:solidFill>
                          <a:latin typeface="Arial"/>
                        </a:rPr>
                        <a:t>Full power arrives within about a year of baseline</a:t>
                      </a:r>
                    </a:p>
                  </a:txBody>
                  <a:tcPr marL="91440" marR="91440" anchor="ctr">
                    <a:solidFill>
                      <a:srgbClr val="FFFFFF"/>
                    </a:solidFill>
                  </a:tcPr>
                </a:tc>
                <a:tc>
                  <a:txBody>
                    <a:bodyPr wrap="square"/>
                    <a:lstStyle/>
                    <a:p>
                      <a:r>
                        <a:rPr sz="1600" b="0" i="0">
                          <a:solidFill>
                            <a:srgbClr val="111518"/>
                          </a:solidFill>
                          <a:latin typeface="Arial"/>
                        </a:rPr>
                        <a:t>Nearest protected land is 5.8 km from Quincy</a:t>
                      </a:r>
                    </a:p>
                  </a:txBody>
                  <a:tcPr marL="91440" marR="91440" anchor="ctr">
                    <a:solidFill>
                      <a:srgbClr val="FFFFFF"/>
                    </a:solidFill>
                  </a:tcPr>
                </a:tc>
              </a:tr>
              <a:tr h="658368">
                <a:tc>
                  <a:txBody>
                    <a:bodyPr wrap="square"/>
                    <a:lstStyle/>
                    <a:p>
                      <a:r>
                        <a:rPr sz="1600" b="1" i="0">
                          <a:solidFill>
                            <a:srgbClr val="111518"/>
                          </a:solidFill>
                          <a:latin typeface="Arial"/>
                        </a:rPr>
                        <a:t>Franklin, NY</a:t>
                      </a:r>
                    </a:p>
                  </a:txBody>
                  <a:tcPr marL="91440" marR="91440" anchor="ctr">
                    <a:solidFill>
                      <a:srgbClr val="F3F5F4"/>
                    </a:solidFill>
                  </a:tcPr>
                </a:tc>
                <a:tc>
                  <a:txBody>
                    <a:bodyPr wrap="square"/>
                    <a:lstStyle/>
                    <a:p>
                      <a:r>
                        <a:rPr sz="1600" b="0" i="0">
                          <a:solidFill>
                            <a:srgbClr val="111518"/>
                          </a:solidFill>
                          <a:latin typeface="Arial"/>
                        </a:rPr>
                        <a:t>$4.454B</a:t>
                      </a:r>
                    </a:p>
                  </a:txBody>
                  <a:tcPr marL="91440" marR="91440" anchor="ctr">
                    <a:solidFill>
                      <a:srgbClr val="F3F5F4"/>
                    </a:solidFill>
                  </a:tcPr>
                </a:tc>
                <a:tc>
                  <a:txBody>
                    <a:bodyPr wrap="square"/>
                    <a:lstStyle/>
                    <a:p>
                      <a:r>
                        <a:rPr sz="1600" b="0" i="0">
                          <a:solidFill>
                            <a:srgbClr val="111518"/>
                          </a:solidFill>
                          <a:latin typeface="Arial"/>
                        </a:rPr>
                        <a:t>New York's data center tax exemption applies</a:t>
                      </a:r>
                    </a:p>
                  </a:txBody>
                  <a:tcPr marL="91440" marR="91440" anchor="ctr">
                    <a:solidFill>
                      <a:srgbClr val="F3F5F4"/>
                    </a:solidFill>
                  </a:tcPr>
                </a:tc>
                <a:tc>
                  <a:txBody>
                    <a:bodyPr wrap="square"/>
                    <a:lstStyle/>
                    <a:p>
                      <a:r>
                        <a:rPr sz="1600" b="0" i="0">
                          <a:solidFill>
                            <a:srgbClr val="111518"/>
                          </a:solidFill>
                          <a:latin typeface="Arial"/>
                        </a:rPr>
                        <a:t>Malone sits 6.1 km outside the Adirondack Park</a:t>
                      </a:r>
                    </a:p>
                  </a:txBody>
                  <a:tcPr marL="91440" marR="91440" anchor="ctr">
                    <a:solidFill>
                      <a:srgbClr val="F3F5F4"/>
                    </a:solidFill>
                  </a:tcPr>
                </a:tc>
              </a:tr>
            </a:tbl>
          </a:graphicData>
        </a:graphic>
      </p:graphicFrame>
      <p:sp>
        <p:nvSpPr>
          <p:cNvPr id="8" name="Bullets"/>
          <p:cNvSpPr txBox="1"/>
          <p:nvPr/>
        </p:nvSpPr>
        <p:spPr>
          <a:xfrm>
            <a:off x="548640" y="5303519"/>
            <a:ext cx="11094415" cy="822960"/>
          </a:xfrm>
          <a:prstGeom prst="rect">
            <a:avLst/>
          </a:prstGeom>
          <a:noFill/>
        </p:spPr>
        <p:txBody>
          <a:bodyPr wrap="square" lIns="36576" rIns="36576">
            <a:spAutoFit/>
          </a:bodyPr>
          <a:lstStyle/>
          <a:p>
            <a:pPr marL="292608" indent="-292608">
              <a:lnSpc>
                <a:spcPct val="105000"/>
              </a:lnSpc>
              <a:spcAft>
                <a:spcPts val="1400"/>
              </a:spcAft>
              <a:buClr>
                <a:srgbClr val="0B3C6F"/>
              </a:buClr>
              <a:buSzPct val="100000"/>
              <a:buFont typeface="Arial"/>
              <a:buChar char="■"/>
            </a:pPr>
            <a:r>
              <a:rPr sz="1900" b="0" i="0">
                <a:solidFill>
                  <a:srgbClr val="111518"/>
                </a:solidFill>
                <a:latin typeface="Arial"/>
              </a:rPr>
              <a:t>States that exempt all equipment look cheaper, but that is unverified.</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Every county is scored from public data, and proxies are labeled</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Sources and versions in data/processed/county_features.manifest.json. Column definitions in docs/schema.md and engine/pillars.yaml.</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A4</a:t>
            </a:r>
          </a:p>
        </p:txBody>
      </p:sp>
      <p:graphicFrame>
        <p:nvGraphicFramePr>
          <p:cNvPr id="7" name="Table 6"/>
          <p:cNvGraphicFramePr>
            <a:graphicFrameLocks noGrp="1"/>
          </p:cNvGraphicFramePr>
          <p:nvPr/>
        </p:nvGraphicFramePr>
        <p:xfrm>
          <a:off x="548640" y="1783079"/>
          <a:ext cx="11094415" cy="4023360"/>
        </p:xfrm>
        <a:graphic>
          <a:graphicData uri="http://schemas.openxmlformats.org/drawingml/2006/table">
            <a:tbl>
              <a:tblPr firstRow="1" bandRow="1">
                <a:tableStyleId>{5C22544A-7EE6-4342-B048-85BDC9FD1C3A}</a:tableStyleId>
              </a:tblPr>
              <a:tblGrid>
                <a:gridCol w="3017520"/>
                <a:gridCol w="8076895"/>
              </a:tblGrid>
              <a:tr h="402336">
                <a:tc>
                  <a:txBody>
                    <a:bodyPr wrap="square"/>
                    <a:lstStyle/>
                    <a:p>
                      <a:r>
                        <a:rPr sz="1500" b="1" i="0">
                          <a:solidFill>
                            <a:srgbClr val="FFFFFF"/>
                          </a:solidFill>
                          <a:latin typeface="Arial"/>
                        </a:rPr>
                        <a:t>Factor</a:t>
                      </a:r>
                    </a:p>
                  </a:txBody>
                  <a:tcPr marL="91440" marR="91440" anchor="ctr">
                    <a:solidFill>
                      <a:srgbClr val="0B3C6F"/>
                    </a:solidFill>
                  </a:tcPr>
                </a:tc>
                <a:tc>
                  <a:txBody>
                    <a:bodyPr wrap="square"/>
                    <a:lstStyle/>
                    <a:p>
                      <a:r>
                        <a:rPr sz="1500" b="1" i="0">
                          <a:solidFill>
                            <a:srgbClr val="FFFFFF"/>
                          </a:solidFill>
                          <a:latin typeface="Arial"/>
                        </a:rPr>
                        <a:t>Sources</a:t>
                      </a:r>
                    </a:p>
                  </a:txBody>
                  <a:tcPr marL="91440" marR="91440" anchor="ctr">
                    <a:solidFill>
                      <a:srgbClr val="0B3C6F"/>
                    </a:solidFill>
                  </a:tcPr>
                </a:tc>
              </a:tr>
              <a:tr h="402336">
                <a:tc>
                  <a:txBody>
                    <a:bodyPr wrap="square"/>
                    <a:lstStyle/>
                    <a:p>
                      <a:r>
                        <a:rPr sz="1500" b="1" i="0">
                          <a:solidFill>
                            <a:srgbClr val="111518"/>
                          </a:solidFill>
                          <a:latin typeface="Arial"/>
                        </a:rPr>
                        <a:t>Energy and carbon</a:t>
                      </a:r>
                    </a:p>
                  </a:txBody>
                  <a:tcPr marL="91440" marR="91440" anchor="ctr">
                    <a:solidFill>
                      <a:srgbClr val="FFFFFF"/>
                    </a:solidFill>
                  </a:tcPr>
                </a:tc>
                <a:tc>
                  <a:txBody>
                    <a:bodyPr wrap="square"/>
                    <a:lstStyle/>
                    <a:p>
                      <a:r>
                        <a:rPr sz="1500" b="0" i="0">
                          <a:solidFill>
                            <a:srgbClr val="111518"/>
                          </a:solidFill>
                          <a:latin typeface="Arial"/>
                        </a:rPr>
                        <a:t>eGRID2023 subregions, LBNL interconnection queue, NREL WIND Toolkit, eGRID plants within 100 km</a:t>
                      </a:r>
                    </a:p>
                  </a:txBody>
                  <a:tcPr marL="91440" marR="91440" anchor="ctr">
                    <a:solidFill>
                      <a:srgbClr val="FFFFFF"/>
                    </a:solidFill>
                  </a:tcPr>
                </a:tc>
              </a:tr>
              <a:tr h="402336">
                <a:tc>
                  <a:txBody>
                    <a:bodyPr wrap="square"/>
                    <a:lstStyle/>
                    <a:p>
                      <a:r>
                        <a:rPr sz="1500" b="1" i="0">
                          <a:solidFill>
                            <a:srgbClr val="111518"/>
                          </a:solidFill>
                          <a:latin typeface="Arial"/>
                        </a:rPr>
                        <a:t>Water</a:t>
                      </a:r>
                    </a:p>
                  </a:txBody>
                  <a:tcPr marL="91440" marR="91440" anchor="ctr">
                    <a:solidFill>
                      <a:srgbClr val="F3F5F4"/>
                    </a:solidFill>
                  </a:tcPr>
                </a:tc>
                <a:tc>
                  <a:txBody>
                    <a:bodyPr wrap="square"/>
                    <a:lstStyle/>
                    <a:p>
                      <a:r>
                        <a:rPr sz="1500" b="0" i="0">
                          <a:solidFill>
                            <a:srgbClr val="111518"/>
                          </a:solidFill>
                          <a:latin typeface="Arial"/>
                        </a:rPr>
                        <a:t>US Drought Monitor, FEMA NRI, WRI Aqueduct 4.0, CMRA</a:t>
                      </a:r>
                    </a:p>
                  </a:txBody>
                  <a:tcPr marL="91440" marR="91440" anchor="ctr">
                    <a:solidFill>
                      <a:srgbClr val="F3F5F4"/>
                    </a:solidFill>
                  </a:tcPr>
                </a:tc>
              </a:tr>
              <a:tr h="402336">
                <a:tc>
                  <a:txBody>
                    <a:bodyPr wrap="square"/>
                    <a:lstStyle/>
                    <a:p>
                      <a:r>
                        <a:rPr sz="1500" b="1" i="0">
                          <a:solidFill>
                            <a:srgbClr val="111518"/>
                          </a:solidFill>
                          <a:latin typeface="Arial"/>
                        </a:rPr>
                        <a:t>Climate resilience</a:t>
                      </a:r>
                    </a:p>
                  </a:txBody>
                  <a:tcPr marL="91440" marR="91440" anchor="ctr">
                    <a:solidFill>
                      <a:srgbClr val="FFFFFF"/>
                    </a:solidFill>
                  </a:tcPr>
                </a:tc>
                <a:tc>
                  <a:txBody>
                    <a:bodyPr wrap="square"/>
                    <a:lstStyle/>
                    <a:p>
                      <a:r>
                        <a:rPr sz="1500" b="0" i="0">
                          <a:solidFill>
                            <a:srgbClr val="111518"/>
                          </a:solidFill>
                          <a:latin typeface="Arial"/>
                        </a:rPr>
                        <a:t>FEMA NRI loss rates, CMRA projections (LOCA-downscaled CMIP5)</a:t>
                      </a:r>
                    </a:p>
                  </a:txBody>
                  <a:tcPr marL="91440" marR="91440" anchor="ctr">
                    <a:solidFill>
                      <a:srgbClr val="FFFFFF"/>
                    </a:solidFill>
                  </a:tcPr>
                </a:tc>
              </a:tr>
              <a:tr h="402336">
                <a:tc>
                  <a:txBody>
                    <a:bodyPr wrap="square"/>
                    <a:lstStyle/>
                    <a:p>
                      <a:r>
                        <a:rPr sz="1500" b="1" i="0">
                          <a:solidFill>
                            <a:srgbClr val="111518"/>
                          </a:solidFill>
                          <a:latin typeface="Arial"/>
                        </a:rPr>
                        <a:t>Grid and infrastructure</a:t>
                      </a:r>
                    </a:p>
                  </a:txBody>
                  <a:tcPr marL="91440" marR="91440" anchor="ctr">
                    <a:solidFill>
                      <a:srgbClr val="F3F5F4"/>
                    </a:solidFill>
                  </a:tcPr>
                </a:tc>
                <a:tc>
                  <a:txBody>
                    <a:bodyPr wrap="square"/>
                    <a:lstStyle/>
                    <a:p>
                      <a:r>
                        <a:rPr sz="1500" b="0" i="0">
                          <a:solidFill>
                            <a:srgbClr val="111518"/>
                          </a:solidFill>
                          <a:latin typeface="Arial"/>
                        </a:rPr>
                        <a:t>LBNL queue, FCC fiber, FracTracker, EIA-860</a:t>
                      </a:r>
                    </a:p>
                  </a:txBody>
                  <a:tcPr marL="91440" marR="91440" anchor="ctr">
                    <a:solidFill>
                      <a:srgbClr val="F3F5F4"/>
                    </a:solidFill>
                  </a:tcPr>
                </a:tc>
              </a:tr>
              <a:tr h="402336">
                <a:tc>
                  <a:txBody>
                    <a:bodyPr wrap="square"/>
                    <a:lstStyle/>
                    <a:p>
                      <a:r>
                        <a:rPr sz="1500" b="1" i="0">
                          <a:solidFill>
                            <a:srgbClr val="111518"/>
                          </a:solidFill>
                          <a:latin typeface="Arial"/>
                        </a:rPr>
                        <a:t>Cost of power</a:t>
                      </a:r>
                    </a:p>
                  </a:txBody>
                  <a:tcPr marL="91440" marR="91440" anchor="ctr">
                    <a:solidFill>
                      <a:srgbClr val="FFFFFF"/>
                    </a:solidFill>
                  </a:tcPr>
                </a:tc>
                <a:tc>
                  <a:txBody>
                    <a:bodyPr wrap="square"/>
                    <a:lstStyle/>
                    <a:p>
                      <a:r>
                        <a:rPr sz="1500" b="0" i="0">
                          <a:solidFill>
                            <a:srgbClr val="111518"/>
                          </a:solidFill>
                          <a:latin typeface="Arial"/>
                        </a:rPr>
                        <a:t>EIA-861 state industrial prices</a:t>
                      </a:r>
                    </a:p>
                  </a:txBody>
                  <a:tcPr marL="91440" marR="91440" anchor="ctr">
                    <a:solidFill>
                      <a:srgbClr val="FFFFFF"/>
                    </a:solidFill>
                  </a:tcPr>
                </a:tc>
              </a:tr>
              <a:tr h="402336">
                <a:tc>
                  <a:txBody>
                    <a:bodyPr wrap="square"/>
                    <a:lstStyle/>
                    <a:p>
                      <a:r>
                        <a:rPr sz="1500" b="1" i="0">
                          <a:solidFill>
                            <a:srgbClr val="111518"/>
                          </a:solidFill>
                          <a:latin typeface="Arial"/>
                        </a:rPr>
                        <a:t>Land</a:t>
                      </a:r>
                    </a:p>
                  </a:txBody>
                  <a:tcPr marL="91440" marR="91440" anchor="ctr">
                    <a:solidFill>
                      <a:srgbClr val="F3F5F4"/>
                    </a:solidFill>
                  </a:tcPr>
                </a:tc>
                <a:tc>
                  <a:txBody>
                    <a:bodyPr wrap="square"/>
                    <a:lstStyle/>
                    <a:p>
                      <a:r>
                        <a:rPr sz="1500" b="0" i="0">
                          <a:solidFill>
                            <a:srgbClr val="111518"/>
                          </a:solidFill>
                          <a:latin typeface="Arial"/>
                        </a:rPr>
                        <a:t>Census TIGER, USGS PAD-US 4.1 protected areas, NLCD 2021 land cover via IPUMS NHGIS</a:t>
                      </a:r>
                    </a:p>
                  </a:txBody>
                  <a:tcPr marL="91440" marR="91440" anchor="ctr">
                    <a:solidFill>
                      <a:srgbClr val="F3F5F4"/>
                    </a:solidFill>
                  </a:tcPr>
                </a:tc>
              </a:tr>
              <a:tr h="402336">
                <a:tc>
                  <a:txBody>
                    <a:bodyPr wrap="square"/>
                    <a:lstStyle/>
                    <a:p>
                      <a:r>
                        <a:rPr sz="1500" b="1" i="0">
                          <a:solidFill>
                            <a:srgbClr val="111518"/>
                          </a:solidFill>
                          <a:latin typeface="Arial"/>
                        </a:rPr>
                        <a:t>Community</a:t>
                      </a:r>
                    </a:p>
                  </a:txBody>
                  <a:tcPr marL="91440" marR="91440" anchor="ctr">
                    <a:solidFill>
                      <a:srgbClr val="FFFFFF"/>
                    </a:solidFill>
                  </a:tcPr>
                </a:tc>
                <a:tc>
                  <a:txBody>
                    <a:bodyPr wrap="square"/>
                    <a:lstStyle/>
                    <a:p>
                      <a:r>
                        <a:rPr sz="1500" b="0" i="0">
                          <a:solidFill>
                            <a:srgbClr val="111518"/>
                          </a:solidFill>
                          <a:latin typeface="Arial"/>
                        </a:rPr>
                        <a:t>ACS, BLS LAUS, BEA 1969 employment, Census history since 1950</a:t>
                      </a:r>
                    </a:p>
                  </a:txBody>
                  <a:tcPr marL="91440" marR="91440" anchor="ctr">
                    <a:solidFill>
                      <a:srgbClr val="FFFFFF"/>
                    </a:solidFill>
                  </a:tcPr>
                </a:tc>
              </a:tr>
              <a:tr h="402336">
                <a:tc>
                  <a:txBody>
                    <a:bodyPr wrap="square"/>
                    <a:lstStyle/>
                    <a:p>
                      <a:r>
                        <a:rPr sz="1500" b="1" i="0">
                          <a:solidFill>
                            <a:srgbClr val="111518"/>
                          </a:solidFill>
                          <a:latin typeface="Arial"/>
                        </a:rPr>
                        <a:t>Permitting</a:t>
                      </a:r>
                    </a:p>
                  </a:txBody>
                  <a:tcPr marL="91440" marR="91440" anchor="ctr">
                    <a:solidFill>
                      <a:srgbClr val="F3F5F4"/>
                    </a:solidFill>
                  </a:tcPr>
                </a:tc>
                <a:tc>
                  <a:txBody>
                    <a:bodyPr wrap="square"/>
                    <a:lstStyle/>
                    <a:p>
                      <a:r>
                        <a:rPr sz="1500" b="0" i="0">
                          <a:solidFill>
                            <a:srgbClr val="111518"/>
                          </a:solidFill>
                          <a:latin typeface="Arial"/>
                        </a:rPr>
                        <a:t>EPA Green Book, state policy tables, NLCD forest and wetland cover</a:t>
                      </a:r>
                    </a:p>
                  </a:txBody>
                  <a:tcPr marL="91440" marR="91440" anchor="ctr">
                    <a:solidFill>
                      <a:srgbClr val="F3F5F4"/>
                    </a:solidFill>
                  </a:tcPr>
                </a:tc>
              </a:tr>
              <a:tr h="402336">
                <a:tc>
                  <a:txBody>
                    <a:bodyPr wrap="square"/>
                    <a:lstStyle/>
                    <a:p>
                      <a:r>
                        <a:rPr sz="1500" b="1" i="0">
                          <a:solidFill>
                            <a:srgbClr val="111518"/>
                          </a:solidFill>
                          <a:latin typeface="Arial"/>
                        </a:rPr>
                        <a:t>Context and optional limits</a:t>
                      </a:r>
                    </a:p>
                  </a:txBody>
                  <a:tcPr marL="91440" marR="91440" anchor="ctr">
                    <a:solidFill>
                      <a:srgbClr val="FFFFFF"/>
                    </a:solidFill>
                  </a:tcPr>
                </a:tc>
                <a:tc>
                  <a:txBody>
                    <a:bodyPr wrap="square"/>
                    <a:lstStyle/>
                    <a:p>
                      <a:r>
                        <a:rPr sz="1500" b="0" i="0">
                          <a:solidFill>
                            <a:srgbClr val="111518"/>
                          </a:solidFill>
                          <a:latin typeface="Arial"/>
                        </a:rPr>
                        <a:t>Census TIGER 2024 tribal boundaries</a:t>
                      </a:r>
                    </a:p>
                  </a:txBody>
                  <a:tcPr marL="91440" marR="91440" anchor="ctr">
                    <a:solidFill>
                      <a:srgbClr val="FFFFFF"/>
                    </a:solidFill>
                  </a:tcPr>
                </a:tc>
              </a:tr>
            </a:tbl>
          </a:graphicData>
        </a:graphic>
      </p:graphicFrame>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The tool screens counties. Choosing a parcel still takes site work.</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From docs/deck.md (Limitations), docs/figures/facts.json, research/sensitive_land.md, research/risk.md, and docs/conditions.md.</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A5</a:t>
            </a:r>
          </a:p>
        </p:txBody>
      </p:sp>
      <p:sp>
        <p:nvSpPr>
          <p:cNvPr id="7" name="Bullets"/>
          <p:cNvSpPr txBox="1"/>
          <p:nvPr/>
        </p:nvSpPr>
        <p:spPr>
          <a:xfrm>
            <a:off x="548640" y="1920239"/>
            <a:ext cx="6309360" cy="4114800"/>
          </a:xfrm>
          <a:prstGeom prst="rect">
            <a:avLst/>
          </a:prstGeom>
          <a:noFill/>
        </p:spPr>
        <p:txBody>
          <a:bodyPr wrap="square" lIns="36576" rIns="36576">
            <a:spAutoFit/>
          </a:bodyPr>
          <a:lstStyle/>
          <a:p>
            <a:pPr marL="292608" indent="-292608">
              <a:lnSpc>
                <a:spcPct val="105000"/>
              </a:lnSpc>
              <a:spcAft>
                <a:spcPts val="1800"/>
              </a:spcAft>
              <a:buClr>
                <a:srgbClr val="0B3C6F"/>
              </a:buClr>
              <a:buSzPct val="100000"/>
              <a:buFont typeface="Arial"/>
              <a:buChar char="■"/>
            </a:pPr>
            <a:r>
              <a:rPr sz="2100" b="0" i="0">
                <a:solidFill>
                  <a:srgbClr val="111518"/>
                </a:solidFill>
                <a:latin typeface="Arial"/>
              </a:rPr>
              <a:t>Land shares are county screens, not parcel checks.</a:t>
            </a:r>
          </a:p>
          <a:p>
            <a:pPr marL="292608" indent="-292608">
              <a:lnSpc>
                <a:spcPct val="105000"/>
              </a:lnSpc>
              <a:spcAft>
                <a:spcPts val="1800"/>
              </a:spcAft>
              <a:buClr>
                <a:srgbClr val="0B3C6F"/>
              </a:buClr>
              <a:buSzPct val="100000"/>
              <a:buFont typeface="Arial"/>
              <a:buChar char="■"/>
            </a:pPr>
            <a:r>
              <a:rPr sz="2100" b="0" i="0">
                <a:solidFill>
                  <a:srgbClr val="111518"/>
                </a:solidFill>
                <a:latin typeface="Arial"/>
              </a:rPr>
              <a:t>National percentiles stretch gaps, like 0.2% against 12.8% protected.</a:t>
            </a:r>
          </a:p>
          <a:p>
            <a:pPr marL="292608" indent="-292608">
              <a:lnSpc>
                <a:spcPct val="105000"/>
              </a:lnSpc>
              <a:spcAft>
                <a:spcPts val="1800"/>
              </a:spcAft>
              <a:buClr>
                <a:srgbClr val="0B3C6F"/>
              </a:buClr>
              <a:buSzPct val="100000"/>
              <a:buFont typeface="Arial"/>
              <a:buChar char="■"/>
            </a:pPr>
            <a:r>
              <a:rPr sz="2100" b="0" i="0">
                <a:solidFill>
                  <a:srgbClr val="111518"/>
                </a:solidFill>
                <a:latin typeface="Arial"/>
              </a:rPr>
              <a:t>Grant leads Whitman by 0.01 points, which is a tie.</a:t>
            </a:r>
          </a:p>
        </p:txBody>
      </p:sp>
      <p:graphicFrame>
        <p:nvGraphicFramePr>
          <p:cNvPr id="8" name="Table 7"/>
          <p:cNvGraphicFramePr>
            <a:graphicFrameLocks noGrp="1"/>
          </p:cNvGraphicFramePr>
          <p:nvPr/>
        </p:nvGraphicFramePr>
        <p:xfrm>
          <a:off x="7223760" y="1920239"/>
          <a:ext cx="4419295" cy="4023360"/>
        </p:xfrm>
        <a:graphic>
          <a:graphicData uri="http://schemas.openxmlformats.org/drawingml/2006/table">
            <a:tbl>
              <a:tblPr firstRow="1" bandRow="1">
                <a:tableStyleId>{5C22544A-7EE6-4342-B048-85BDC9FD1C3A}</a:tableStyleId>
              </a:tblPr>
              <a:tblGrid>
                <a:gridCol w="2194560"/>
                <a:gridCol w="2224735"/>
              </a:tblGrid>
              <a:tr h="574765">
                <a:tc>
                  <a:txBody>
                    <a:bodyPr wrap="square"/>
                    <a:lstStyle/>
                    <a:p>
                      <a:r>
                        <a:rPr sz="1400" b="1" i="0">
                          <a:solidFill>
                            <a:srgbClr val="FFFFFF"/>
                          </a:solidFill>
                          <a:latin typeface="Arial"/>
                        </a:rPr>
                        <a:t>What the tool uses</a:t>
                      </a:r>
                    </a:p>
                  </a:txBody>
                  <a:tcPr marL="91440" marR="91440" anchor="ctr">
                    <a:solidFill>
                      <a:srgbClr val="0B3C6F"/>
                    </a:solidFill>
                  </a:tcPr>
                </a:tc>
                <a:tc>
                  <a:txBody>
                    <a:bodyPr wrap="square"/>
                    <a:lstStyle/>
                    <a:p>
                      <a:r>
                        <a:rPr sz="1400" b="1" i="0">
                          <a:solidFill>
                            <a:srgbClr val="FFFFFF"/>
                          </a:solidFill>
                          <a:latin typeface="Arial"/>
                        </a:rPr>
                        <a:t>What it stands in for</a:t>
                      </a:r>
                    </a:p>
                  </a:txBody>
                  <a:tcPr marL="91440" marR="91440" anchor="ctr">
                    <a:solidFill>
                      <a:srgbClr val="0B3C6F"/>
                    </a:solidFill>
                  </a:tcPr>
                </a:tc>
              </a:tr>
              <a:tr h="574765">
                <a:tc>
                  <a:txBody>
                    <a:bodyPr wrap="square"/>
                    <a:lstStyle/>
                    <a:p>
                      <a:r>
                        <a:rPr sz="1400" b="1" i="0">
                          <a:solidFill>
                            <a:srgbClr val="111518"/>
                          </a:solidFill>
                          <a:latin typeface="Arial"/>
                        </a:rPr>
                        <a:t>Home fiber coverage</a:t>
                      </a:r>
                    </a:p>
                  </a:txBody>
                  <a:tcPr marL="91440" marR="91440" anchor="ctr">
                    <a:solidFill>
                      <a:srgbClr val="FFFFFF"/>
                    </a:solidFill>
                  </a:tcPr>
                </a:tc>
                <a:tc>
                  <a:txBody>
                    <a:bodyPr wrap="square"/>
                    <a:lstStyle/>
                    <a:p>
                      <a:r>
                        <a:rPr sz="1400" b="0" i="0">
                          <a:solidFill>
                            <a:srgbClr val="111518"/>
                          </a:solidFill>
                          <a:latin typeface="Arial"/>
                        </a:rPr>
                        <a:t>Backbone fiber</a:t>
                      </a:r>
                    </a:p>
                  </a:txBody>
                  <a:tcPr marL="91440" marR="91440" anchor="ctr">
                    <a:solidFill>
                      <a:srgbClr val="FFFFFF"/>
                    </a:solidFill>
                  </a:tcPr>
                </a:tc>
              </a:tr>
              <a:tr h="574765">
                <a:tc>
                  <a:txBody>
                    <a:bodyPr wrap="square"/>
                    <a:lstStyle/>
                    <a:p>
                      <a:r>
                        <a:rPr sz="1400" b="1" i="0">
                          <a:solidFill>
                            <a:srgbClr val="111518"/>
                          </a:solidFill>
                          <a:latin typeface="Arial"/>
                        </a:rPr>
                        <a:t>Plants within 100 km</a:t>
                      </a:r>
                    </a:p>
                  </a:txBody>
                  <a:tcPr marL="91440" marR="91440" anchor="ctr">
                    <a:solidFill>
                      <a:srgbClr val="F3F5F4"/>
                    </a:solidFill>
                  </a:tcPr>
                </a:tc>
                <a:tc>
                  <a:txBody>
                    <a:bodyPr wrap="square"/>
                    <a:lstStyle/>
                    <a:p>
                      <a:r>
                        <a:rPr sz="1400" b="0" i="0">
                          <a:solidFill>
                            <a:srgbClr val="111518"/>
                          </a:solidFill>
                          <a:latin typeface="Arial"/>
                        </a:rPr>
                        <a:t>Power a new load can get</a:t>
                      </a:r>
                    </a:p>
                  </a:txBody>
                  <a:tcPr marL="91440" marR="91440" anchor="ctr">
                    <a:solidFill>
                      <a:srgbClr val="F3F5F4"/>
                    </a:solidFill>
                  </a:tcPr>
                </a:tc>
              </a:tr>
              <a:tr h="574765">
                <a:tc>
                  <a:txBody>
                    <a:bodyPr wrap="square"/>
                    <a:lstStyle/>
                    <a:p>
                      <a:r>
                        <a:rPr sz="1400" b="1" i="0">
                          <a:solidFill>
                            <a:srgbClr val="111518"/>
                          </a:solidFill>
                          <a:latin typeface="Arial"/>
                        </a:rPr>
                        <a:t>State average price</a:t>
                      </a:r>
                    </a:p>
                  </a:txBody>
                  <a:tcPr marL="91440" marR="91440" anchor="ctr">
                    <a:solidFill>
                      <a:srgbClr val="FFFFFF"/>
                    </a:solidFill>
                  </a:tcPr>
                </a:tc>
                <a:tc>
                  <a:txBody>
                    <a:bodyPr wrap="square"/>
                    <a:lstStyle/>
                    <a:p>
                      <a:r>
                        <a:rPr sz="1400" b="0" i="0">
                          <a:solidFill>
                            <a:srgbClr val="111518"/>
                          </a:solidFill>
                          <a:latin typeface="Arial"/>
                        </a:rPr>
                        <a:t>New-load rate</a:t>
                      </a:r>
                    </a:p>
                  </a:txBody>
                  <a:tcPr marL="91440" marR="91440" anchor="ctr">
                    <a:solidFill>
                      <a:srgbClr val="FFFFFF"/>
                    </a:solidFill>
                  </a:tcPr>
                </a:tc>
              </a:tr>
              <a:tr h="574765">
                <a:tc>
                  <a:txBody>
                    <a:bodyPr wrap="square"/>
                    <a:lstStyle/>
                    <a:p>
                      <a:r>
                        <a:rPr sz="1400" b="1" i="0">
                          <a:solidFill>
                            <a:srgbClr val="111518"/>
                          </a:solidFill>
                          <a:latin typeface="Arial"/>
                        </a:rPr>
                        <a:t>Heat-demand score</a:t>
                      </a:r>
                    </a:p>
                  </a:txBody>
                  <a:tcPr marL="91440" marR="91440" anchor="ctr">
                    <a:solidFill>
                      <a:srgbClr val="F3F5F4"/>
                    </a:solidFill>
                  </a:tcPr>
                </a:tc>
                <a:tc>
                  <a:txBody>
                    <a:bodyPr wrap="square"/>
                    <a:lstStyle/>
                    <a:p>
                      <a:r>
                        <a:rPr sz="1400" b="0" i="0">
                          <a:solidFill>
                            <a:srgbClr val="111518"/>
                          </a:solidFill>
                          <a:latin typeface="Arial"/>
                        </a:rPr>
                        <a:t>Heat reuse</a:t>
                      </a:r>
                    </a:p>
                  </a:txBody>
                  <a:tcPr marL="91440" marR="91440" anchor="ctr">
                    <a:solidFill>
                      <a:srgbClr val="F3F5F4"/>
                    </a:solidFill>
                  </a:tcPr>
                </a:tc>
              </a:tr>
              <a:tr h="574765">
                <a:tc>
                  <a:txBody>
                    <a:bodyPr wrap="square"/>
                    <a:lstStyle/>
                    <a:p>
                      <a:r>
                        <a:rPr sz="1400" b="1" i="0">
                          <a:solidFill>
                            <a:srgbClr val="111518"/>
                          </a:solidFill>
                          <a:latin typeface="Arial"/>
                        </a:rPr>
                        <a:t>County protected share</a:t>
                      </a:r>
                    </a:p>
                  </a:txBody>
                  <a:tcPr marL="91440" marR="91440" anchor="ctr">
                    <a:solidFill>
                      <a:srgbClr val="FFFFFF"/>
                    </a:solidFill>
                  </a:tcPr>
                </a:tc>
                <a:tc>
                  <a:txBody>
                    <a:bodyPr wrap="square"/>
                    <a:lstStyle/>
                    <a:p>
                      <a:r>
                        <a:rPr sz="1400" b="0" i="0">
                          <a:solidFill>
                            <a:srgbClr val="111518"/>
                          </a:solidFill>
                          <a:latin typeface="Arial"/>
                        </a:rPr>
                        <a:t>Protected land near a site</a:t>
                      </a:r>
                    </a:p>
                  </a:txBody>
                  <a:tcPr marL="91440" marR="91440" anchor="ctr">
                    <a:solidFill>
                      <a:srgbClr val="FFFFFF"/>
                    </a:solidFill>
                  </a:tcPr>
                </a:tc>
              </a:tr>
              <a:tr h="574770">
                <a:tc>
                  <a:txBody>
                    <a:bodyPr wrap="square"/>
                    <a:lstStyle/>
                    <a:p>
                      <a:r>
                        <a:rPr sz="1400" b="1" i="0">
                          <a:solidFill>
                            <a:srgbClr val="111518"/>
                          </a:solidFill>
                          <a:latin typeface="Arial"/>
                        </a:rPr>
                        <a:t>State permitting values</a:t>
                      </a:r>
                    </a:p>
                  </a:txBody>
                  <a:tcPr marL="91440" marR="91440" anchor="ctr">
                    <a:solidFill>
                      <a:srgbClr val="F3F5F4"/>
                    </a:solidFill>
                  </a:tcPr>
                </a:tc>
                <a:tc>
                  <a:txBody>
                    <a:bodyPr wrap="square"/>
                    <a:lstStyle/>
                    <a:p>
                      <a:r>
                        <a:rPr sz="1400" b="0" i="0">
                          <a:solidFill>
                            <a:srgbClr val="111518"/>
                          </a:solidFill>
                          <a:latin typeface="Arial"/>
                        </a:rPr>
                        <a:t>Local permitting risk</a:t>
                      </a:r>
                    </a:p>
                  </a:txBody>
                  <a:tcPr marL="91440" marR="91440" anchor="ctr">
                    <a:solidFill>
                      <a:srgbClr val="F3F5F4"/>
                    </a:solidFill>
                  </a:tcPr>
                </a:tc>
              </a:tr>
            </a:tbl>
          </a:graphicData>
        </a:graphic>
      </p:graphicFrame>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ccent"/>
          <p:cNvSpPr/>
          <p:nvPr/>
        </p:nvSpPr>
        <p:spPr>
          <a:xfrm>
            <a:off x="548640" y="384048"/>
            <a:ext cx="457200" cy="64008"/>
          </a:xfrm>
          <a:prstGeom prst="rect">
            <a:avLst/>
          </a:prstGeom>
          <a:solidFill>
            <a:srgbClr val="0B3C6F"/>
          </a:solidFill>
          <a:ln>
            <a:noFill/>
          </a:ln>
        </p:spPr>
        <p:txBody>
          <a:bodyPr rtlCol="0" anchor="ctr"/>
          <a:lstStyle/>
          <a:p>
            <a:pPr algn="ctr"/>
          </a:p>
        </p:txBody>
      </p:sp>
      <p:sp>
        <p:nvSpPr>
          <p:cNvPr id="3" name="Headline"/>
          <p:cNvSpPr txBox="1"/>
          <p:nvPr/>
        </p:nvSpPr>
        <p:spPr>
          <a:xfrm>
            <a:off x="548640" y="548640"/>
            <a:ext cx="11094415" cy="1143000"/>
          </a:xfrm>
          <a:prstGeom prst="rect">
            <a:avLst/>
          </a:prstGeom>
          <a:noFill/>
        </p:spPr>
        <p:txBody>
          <a:bodyPr wrap="square" anchor="t" lIns="36576" rIns="36576" tIns="18288" bIns="18288">
            <a:spAutoFit/>
          </a:bodyPr>
          <a:lstStyle/>
          <a:p>
            <a:pPr algn="l"/>
            <a:r>
              <a:rPr sz="3000" b="1" i="0">
                <a:solidFill>
                  <a:srgbClr val="111518"/>
                </a:solidFill>
                <a:latin typeface="Arial"/>
              </a:rPr>
              <a:t>The same engine works for other regions and other questions</a:t>
            </a:r>
          </a:p>
        </p:txBody>
      </p:sp>
      <p:sp>
        <p:nvSpPr>
          <p:cNvPr id="4" name="Rule"/>
          <p:cNvSpPr/>
          <p:nvPr/>
        </p:nvSpPr>
        <p:spPr>
          <a:xfrm>
            <a:off x="548640" y="6272784"/>
            <a:ext cx="11094415" cy="9525"/>
          </a:xfrm>
          <a:prstGeom prst="rect">
            <a:avLst/>
          </a:prstGeom>
          <a:solidFill>
            <a:srgbClr val="D3D8D6"/>
          </a:solidFill>
          <a:ln>
            <a:noFill/>
          </a:ln>
        </p:spPr>
        <p:txBody>
          <a:bodyPr rtlCol="0" anchor="ctr"/>
          <a:lstStyle/>
          <a:p>
            <a:pPr algn="ctr"/>
          </a:p>
        </p:txBody>
      </p:sp>
      <p:sp>
        <p:nvSpPr>
          <p:cNvPr id="5" name="Source line"/>
          <p:cNvSpPr txBox="1"/>
          <p:nvPr/>
        </p:nvSpPr>
        <p:spPr>
          <a:xfrm>
            <a:off x="548640" y="6327648"/>
            <a:ext cx="10362895" cy="457200"/>
          </a:xfrm>
          <a:prstGeom prst="rect">
            <a:avLst/>
          </a:prstGeom>
          <a:noFill/>
        </p:spPr>
        <p:txBody>
          <a:bodyPr wrap="square" anchor="t" lIns="36576" rIns="36576" tIns="18288" bIns="18288">
            <a:spAutoFit/>
          </a:bodyPr>
          <a:lstStyle/>
          <a:p>
            <a:pPr algn="l"/>
            <a:r>
              <a:rPr sz="1100" b="0" i="0">
                <a:solidFill>
                  <a:srgbClr val="5F6A74"/>
                </a:solidFill>
                <a:latin typeface="Arial"/>
              </a:rPr>
              <a:t>Global run from docs/global.md and results/global_balanced.csv. Boone County jobs from docs/demo_script.md (BLS QCEW private manufacturing). Stage 2 described in docs/industrial_reuse.md.</a:t>
            </a:r>
          </a:p>
        </p:txBody>
      </p:sp>
      <p:sp>
        <p:nvSpPr>
          <p:cNvPr id="6" name="Slide number"/>
          <p:cNvSpPr txBox="1"/>
          <p:nvPr/>
        </p:nvSpPr>
        <p:spPr>
          <a:xfrm>
            <a:off x="11002975" y="6327648"/>
            <a:ext cx="640080" cy="274320"/>
          </a:xfrm>
          <a:prstGeom prst="rect">
            <a:avLst/>
          </a:prstGeom>
          <a:noFill/>
        </p:spPr>
        <p:txBody>
          <a:bodyPr wrap="square" anchor="t" lIns="36576" rIns="36576" tIns="18288" bIns="18288">
            <a:spAutoFit/>
          </a:bodyPr>
          <a:lstStyle/>
          <a:p>
            <a:pPr algn="r"/>
            <a:r>
              <a:rPr sz="1100" b="0" i="0">
                <a:solidFill>
                  <a:srgbClr val="5F6A74"/>
                </a:solidFill>
                <a:latin typeface="Arial"/>
              </a:rPr>
              <a:t>A6</a:t>
            </a:r>
          </a:p>
        </p:txBody>
      </p:sp>
      <p:sp>
        <p:nvSpPr>
          <p:cNvPr id="7" name="TextBox 6"/>
          <p:cNvSpPr txBox="1"/>
          <p:nvPr/>
        </p:nvSpPr>
        <p:spPr>
          <a:xfrm>
            <a:off x="548640" y="1828799"/>
            <a:ext cx="5318607" cy="365760"/>
          </a:xfrm>
          <a:prstGeom prst="rect">
            <a:avLst/>
          </a:prstGeom>
          <a:noFill/>
        </p:spPr>
        <p:txBody>
          <a:bodyPr wrap="square" anchor="t" lIns="36576" rIns="36576" tIns="18288" bIns="18288">
            <a:spAutoFit/>
          </a:bodyPr>
          <a:lstStyle/>
          <a:p>
            <a:pPr algn="l"/>
            <a:r>
              <a:rPr sz="1800" b="1" i="0">
                <a:solidFill>
                  <a:srgbClr val="111518"/>
                </a:solidFill>
                <a:latin typeface="Arial"/>
              </a:rPr>
              <a:t>196 countries, 83 pass the limits</a:t>
            </a:r>
          </a:p>
        </p:txBody>
      </p:sp>
      <p:graphicFrame>
        <p:nvGraphicFramePr>
          <p:cNvPr id="8" name="Table 7"/>
          <p:cNvGraphicFramePr>
            <a:graphicFrameLocks noGrp="1"/>
          </p:cNvGraphicFramePr>
          <p:nvPr/>
        </p:nvGraphicFramePr>
        <p:xfrm>
          <a:off x="548640" y="2285999"/>
          <a:ext cx="5318607" cy="3017520"/>
        </p:xfrm>
        <a:graphic>
          <a:graphicData uri="http://schemas.openxmlformats.org/drawingml/2006/table">
            <a:tbl>
              <a:tblPr firstRow="1" bandRow="1">
                <a:tableStyleId>{5C22544A-7EE6-4342-B048-85BDC9FD1C3A}</a:tableStyleId>
              </a:tblPr>
              <a:tblGrid>
                <a:gridCol w="914400"/>
                <a:gridCol w="2026767"/>
                <a:gridCol w="1097280"/>
                <a:gridCol w="1280160"/>
              </a:tblGrid>
              <a:tr h="431074">
                <a:tc>
                  <a:txBody>
                    <a:bodyPr wrap="square"/>
                    <a:lstStyle/>
                    <a:p>
                      <a:r>
                        <a:rPr sz="1600" b="1" i="0">
                          <a:solidFill>
                            <a:srgbClr val="FFFFFF"/>
                          </a:solidFill>
                          <a:latin typeface="Arial"/>
                        </a:rPr>
                        <a:t>Rank</a:t>
                      </a:r>
                    </a:p>
                  </a:txBody>
                  <a:tcPr marL="91440" marR="91440" anchor="ctr">
                    <a:solidFill>
                      <a:srgbClr val="0B3C6F"/>
                    </a:solidFill>
                  </a:tcPr>
                </a:tc>
                <a:tc>
                  <a:txBody>
                    <a:bodyPr wrap="square"/>
                    <a:lstStyle/>
                    <a:p>
                      <a:r>
                        <a:rPr sz="1600" b="1" i="0">
                          <a:solidFill>
                            <a:srgbClr val="FFFFFF"/>
                          </a:solidFill>
                          <a:latin typeface="Arial"/>
                        </a:rPr>
                        <a:t>Country</a:t>
                      </a:r>
                    </a:p>
                  </a:txBody>
                  <a:tcPr marL="91440" marR="91440" anchor="ctr">
                    <a:solidFill>
                      <a:srgbClr val="0B3C6F"/>
                    </a:solidFill>
                  </a:tcPr>
                </a:tc>
                <a:tc>
                  <a:txBody>
                    <a:bodyPr wrap="square"/>
                    <a:lstStyle/>
                    <a:p>
                      <a:r>
                        <a:rPr sz="1600" b="1" i="0">
                          <a:solidFill>
                            <a:srgbClr val="FFFFFF"/>
                          </a:solidFill>
                          <a:latin typeface="Arial"/>
                        </a:rPr>
                        <a:t>Score</a:t>
                      </a:r>
                    </a:p>
                  </a:txBody>
                  <a:tcPr marL="91440" marR="91440" anchor="ctr">
                    <a:solidFill>
                      <a:srgbClr val="0B3C6F"/>
                    </a:solidFill>
                  </a:tcPr>
                </a:tc>
                <a:tc>
                  <a:txBody>
                    <a:bodyPr wrap="square"/>
                    <a:lstStyle/>
                    <a:p>
                      <a:r>
                        <a:rPr sz="1600" b="1" i="0">
                          <a:solidFill>
                            <a:srgbClr val="FFFFFF"/>
                          </a:solidFill>
                          <a:latin typeface="Arial"/>
                        </a:rPr>
                        <a:t>Weak spot</a:t>
                      </a:r>
                    </a:p>
                  </a:txBody>
                  <a:tcPr marL="91440" marR="91440" anchor="ctr">
                    <a:solidFill>
                      <a:srgbClr val="0B3C6F"/>
                    </a:solidFill>
                  </a:tcPr>
                </a:tc>
              </a:tr>
              <a:tr h="431074">
                <a:tc>
                  <a:txBody>
                    <a:bodyPr wrap="square"/>
                    <a:lstStyle/>
                    <a:p>
                      <a:r>
                        <a:rPr sz="1600" b="1" i="0">
                          <a:solidFill>
                            <a:srgbClr val="111518"/>
                          </a:solidFill>
                          <a:latin typeface="Arial"/>
                        </a:rPr>
                        <a:t>1</a:t>
                      </a:r>
                    </a:p>
                  </a:txBody>
                  <a:tcPr marL="91440" marR="91440" anchor="ctr">
                    <a:solidFill>
                      <a:srgbClr val="FFFFFF"/>
                    </a:solidFill>
                  </a:tcPr>
                </a:tc>
                <a:tc>
                  <a:txBody>
                    <a:bodyPr wrap="square"/>
                    <a:lstStyle/>
                    <a:p>
                      <a:r>
                        <a:rPr sz="1600" b="0" i="0">
                          <a:solidFill>
                            <a:srgbClr val="111518"/>
                          </a:solidFill>
                          <a:latin typeface="Arial"/>
                        </a:rPr>
                        <a:t>Sweden</a:t>
                      </a:r>
                    </a:p>
                  </a:txBody>
                  <a:tcPr marL="91440" marR="91440" anchor="ctr">
                    <a:solidFill>
                      <a:srgbClr val="FFFFFF"/>
                    </a:solidFill>
                  </a:tcPr>
                </a:tc>
                <a:tc>
                  <a:txBody>
                    <a:bodyPr wrap="square"/>
                    <a:lstStyle/>
                    <a:p>
                      <a:r>
                        <a:rPr sz="1600" b="0" i="0">
                          <a:solidFill>
                            <a:srgbClr val="111518"/>
                          </a:solidFill>
                          <a:latin typeface="Arial"/>
                        </a:rPr>
                        <a:t>81.6</a:t>
                      </a:r>
                    </a:p>
                  </a:txBody>
                  <a:tcPr marL="91440" marR="91440" anchor="ctr">
                    <a:solidFill>
                      <a:srgbClr val="FFFFFF"/>
                    </a:solidFill>
                  </a:tcPr>
                </a:tc>
                <a:tc>
                  <a:txBody>
                    <a:bodyPr wrap="square"/>
                    <a:lstStyle/>
                    <a:p>
                      <a:r>
                        <a:rPr sz="1600" b="0" i="0">
                          <a:solidFill>
                            <a:srgbClr val="111518"/>
                          </a:solidFill>
                          <a:latin typeface="Arial"/>
                        </a:rPr>
                        <a:t>none</a:t>
                      </a:r>
                    </a:p>
                  </a:txBody>
                  <a:tcPr marL="91440" marR="91440" anchor="ctr">
                    <a:solidFill>
                      <a:srgbClr val="FFFFFF"/>
                    </a:solidFill>
                  </a:tcPr>
                </a:tc>
              </a:tr>
              <a:tr h="431074">
                <a:tc>
                  <a:txBody>
                    <a:bodyPr wrap="square"/>
                    <a:lstStyle/>
                    <a:p>
                      <a:r>
                        <a:rPr sz="1600" b="1" i="0">
                          <a:solidFill>
                            <a:srgbClr val="111518"/>
                          </a:solidFill>
                          <a:latin typeface="Arial"/>
                        </a:rPr>
                        <a:t>2</a:t>
                      </a:r>
                    </a:p>
                  </a:txBody>
                  <a:tcPr marL="91440" marR="91440" anchor="ctr">
                    <a:solidFill>
                      <a:srgbClr val="F3F5F4"/>
                    </a:solidFill>
                  </a:tcPr>
                </a:tc>
                <a:tc>
                  <a:txBody>
                    <a:bodyPr wrap="square"/>
                    <a:lstStyle/>
                    <a:p>
                      <a:r>
                        <a:rPr sz="1600" b="0" i="0">
                          <a:solidFill>
                            <a:srgbClr val="111518"/>
                          </a:solidFill>
                          <a:latin typeface="Arial"/>
                        </a:rPr>
                        <a:t>Switzerland</a:t>
                      </a:r>
                    </a:p>
                  </a:txBody>
                  <a:tcPr marL="91440" marR="91440" anchor="ctr">
                    <a:solidFill>
                      <a:srgbClr val="F3F5F4"/>
                    </a:solidFill>
                  </a:tcPr>
                </a:tc>
                <a:tc>
                  <a:txBody>
                    <a:bodyPr wrap="square"/>
                    <a:lstStyle/>
                    <a:p>
                      <a:r>
                        <a:rPr sz="1600" b="0" i="0">
                          <a:solidFill>
                            <a:srgbClr val="111518"/>
                          </a:solidFill>
                          <a:latin typeface="Arial"/>
                        </a:rPr>
                        <a:t>81.1</a:t>
                      </a:r>
                    </a:p>
                  </a:txBody>
                  <a:tcPr marL="91440" marR="91440" anchor="ctr">
                    <a:solidFill>
                      <a:srgbClr val="F3F5F4"/>
                    </a:solidFill>
                  </a:tcPr>
                </a:tc>
                <a:tc>
                  <a:txBody>
                    <a:bodyPr wrap="square"/>
                    <a:lstStyle/>
                    <a:p>
                      <a:r>
                        <a:rPr sz="1600" b="0" i="0">
                          <a:solidFill>
                            <a:srgbClr val="111518"/>
                          </a:solidFill>
                          <a:latin typeface="Arial"/>
                        </a:rPr>
                        <a:t>none</a:t>
                      </a:r>
                    </a:p>
                  </a:txBody>
                  <a:tcPr marL="91440" marR="91440" anchor="ctr">
                    <a:solidFill>
                      <a:srgbClr val="F3F5F4"/>
                    </a:solidFill>
                  </a:tcPr>
                </a:tc>
              </a:tr>
              <a:tr h="431074">
                <a:tc>
                  <a:txBody>
                    <a:bodyPr wrap="square"/>
                    <a:lstStyle/>
                    <a:p>
                      <a:r>
                        <a:rPr sz="1600" b="1" i="0">
                          <a:solidFill>
                            <a:srgbClr val="111518"/>
                          </a:solidFill>
                          <a:latin typeface="Arial"/>
                        </a:rPr>
                        <a:t>3</a:t>
                      </a:r>
                    </a:p>
                  </a:txBody>
                  <a:tcPr marL="91440" marR="91440" anchor="ctr">
                    <a:solidFill>
                      <a:srgbClr val="FFFFFF"/>
                    </a:solidFill>
                  </a:tcPr>
                </a:tc>
                <a:tc>
                  <a:txBody>
                    <a:bodyPr wrap="square"/>
                    <a:lstStyle/>
                    <a:p>
                      <a:r>
                        <a:rPr sz="1600" b="0" i="0">
                          <a:solidFill>
                            <a:srgbClr val="111518"/>
                          </a:solidFill>
                          <a:latin typeface="Arial"/>
                        </a:rPr>
                        <a:t>Norway</a:t>
                      </a:r>
                    </a:p>
                  </a:txBody>
                  <a:tcPr marL="91440" marR="91440" anchor="ctr">
                    <a:solidFill>
                      <a:srgbClr val="FFFFFF"/>
                    </a:solidFill>
                  </a:tcPr>
                </a:tc>
                <a:tc>
                  <a:txBody>
                    <a:bodyPr wrap="square"/>
                    <a:lstStyle/>
                    <a:p>
                      <a:r>
                        <a:rPr sz="1600" b="0" i="0">
                          <a:solidFill>
                            <a:srgbClr val="111518"/>
                          </a:solidFill>
                          <a:latin typeface="Arial"/>
                        </a:rPr>
                        <a:t>80.8</a:t>
                      </a:r>
                    </a:p>
                  </a:txBody>
                  <a:tcPr marL="91440" marR="91440" anchor="ctr">
                    <a:solidFill>
                      <a:srgbClr val="FFFFFF"/>
                    </a:solidFill>
                  </a:tcPr>
                </a:tc>
                <a:tc>
                  <a:txBody>
                    <a:bodyPr wrap="square"/>
                    <a:lstStyle/>
                    <a:p>
                      <a:r>
                        <a:rPr sz="1600" b="0" i="0">
                          <a:solidFill>
                            <a:srgbClr val="111518"/>
                          </a:solidFill>
                          <a:latin typeface="Arial"/>
                        </a:rPr>
                        <a:t>none</a:t>
                      </a:r>
                    </a:p>
                  </a:txBody>
                  <a:tcPr marL="91440" marR="91440" anchor="ctr">
                    <a:solidFill>
                      <a:srgbClr val="FFFFFF"/>
                    </a:solidFill>
                  </a:tcPr>
                </a:tc>
              </a:tr>
              <a:tr h="431074">
                <a:tc>
                  <a:txBody>
                    <a:bodyPr wrap="square"/>
                    <a:lstStyle/>
                    <a:p>
                      <a:r>
                        <a:rPr sz="1600" b="1" i="0">
                          <a:solidFill>
                            <a:srgbClr val="111518"/>
                          </a:solidFill>
                          <a:latin typeface="Arial"/>
                        </a:rPr>
                        <a:t>4</a:t>
                      </a:r>
                    </a:p>
                  </a:txBody>
                  <a:tcPr marL="91440" marR="91440" anchor="ctr">
                    <a:solidFill>
                      <a:srgbClr val="F3F5F4"/>
                    </a:solidFill>
                  </a:tcPr>
                </a:tc>
                <a:tc>
                  <a:txBody>
                    <a:bodyPr wrap="square"/>
                    <a:lstStyle/>
                    <a:p>
                      <a:r>
                        <a:rPr sz="1600" b="0" i="0">
                          <a:solidFill>
                            <a:srgbClr val="111518"/>
                          </a:solidFill>
                          <a:latin typeface="Arial"/>
                        </a:rPr>
                        <a:t>Finland</a:t>
                      </a:r>
                    </a:p>
                  </a:txBody>
                  <a:tcPr marL="91440" marR="91440" anchor="ctr">
                    <a:solidFill>
                      <a:srgbClr val="F3F5F4"/>
                    </a:solidFill>
                  </a:tcPr>
                </a:tc>
                <a:tc>
                  <a:txBody>
                    <a:bodyPr wrap="square"/>
                    <a:lstStyle/>
                    <a:p>
                      <a:r>
                        <a:rPr sz="1600" b="0" i="0">
                          <a:solidFill>
                            <a:srgbClr val="111518"/>
                          </a:solidFill>
                          <a:latin typeface="Arial"/>
                        </a:rPr>
                        <a:t>78.8</a:t>
                      </a:r>
                    </a:p>
                  </a:txBody>
                  <a:tcPr marL="91440" marR="91440" anchor="ctr">
                    <a:solidFill>
                      <a:srgbClr val="F3F5F4"/>
                    </a:solidFill>
                  </a:tcPr>
                </a:tc>
                <a:tc>
                  <a:txBody>
                    <a:bodyPr wrap="square"/>
                    <a:lstStyle/>
                    <a:p>
                      <a:r>
                        <a:rPr sz="1600" b="0" i="0">
                          <a:solidFill>
                            <a:srgbClr val="111518"/>
                          </a:solidFill>
                          <a:latin typeface="Arial"/>
                        </a:rPr>
                        <a:t>none</a:t>
                      </a:r>
                    </a:p>
                  </a:txBody>
                  <a:tcPr marL="91440" marR="91440" anchor="ctr">
                    <a:solidFill>
                      <a:srgbClr val="F3F5F4"/>
                    </a:solidFill>
                  </a:tcPr>
                </a:tc>
              </a:tr>
              <a:tr h="431074">
                <a:tc>
                  <a:txBody>
                    <a:bodyPr wrap="square"/>
                    <a:lstStyle/>
                    <a:p>
                      <a:r>
                        <a:rPr sz="1600" b="1" i="0">
                          <a:solidFill>
                            <a:srgbClr val="111518"/>
                          </a:solidFill>
                          <a:latin typeface="Arial"/>
                        </a:rPr>
                        <a:t>5</a:t>
                      </a:r>
                    </a:p>
                  </a:txBody>
                  <a:tcPr marL="91440" marR="91440" anchor="ctr">
                    <a:solidFill>
                      <a:srgbClr val="FFFFFF"/>
                    </a:solidFill>
                  </a:tcPr>
                </a:tc>
                <a:tc>
                  <a:txBody>
                    <a:bodyPr wrap="square"/>
                    <a:lstStyle/>
                    <a:p>
                      <a:r>
                        <a:rPr sz="1600" b="0" i="0">
                          <a:solidFill>
                            <a:srgbClr val="111518"/>
                          </a:solidFill>
                          <a:latin typeface="Arial"/>
                        </a:rPr>
                        <a:t>Denmark</a:t>
                      </a:r>
                    </a:p>
                  </a:txBody>
                  <a:tcPr marL="91440" marR="91440" anchor="ctr">
                    <a:solidFill>
                      <a:srgbClr val="FFFFFF"/>
                    </a:solidFill>
                  </a:tcPr>
                </a:tc>
                <a:tc>
                  <a:txBody>
                    <a:bodyPr wrap="square"/>
                    <a:lstStyle/>
                    <a:p>
                      <a:r>
                        <a:rPr sz="1600" b="0" i="0">
                          <a:solidFill>
                            <a:srgbClr val="111518"/>
                          </a:solidFill>
                          <a:latin typeface="Arial"/>
                        </a:rPr>
                        <a:t>77.8</a:t>
                      </a:r>
                    </a:p>
                  </a:txBody>
                  <a:tcPr marL="91440" marR="91440" anchor="ctr">
                    <a:solidFill>
                      <a:srgbClr val="FFFFFF"/>
                    </a:solidFill>
                  </a:tcPr>
                </a:tc>
                <a:tc>
                  <a:txBody>
                    <a:bodyPr wrap="square"/>
                    <a:lstStyle/>
                    <a:p>
                      <a:r>
                        <a:rPr sz="1600" b="0" i="0">
                          <a:solidFill>
                            <a:srgbClr val="111518"/>
                          </a:solidFill>
                          <a:latin typeface="Arial"/>
                        </a:rPr>
                        <a:t>none</a:t>
                      </a:r>
                    </a:p>
                  </a:txBody>
                  <a:tcPr marL="91440" marR="91440" anchor="ctr">
                    <a:solidFill>
                      <a:srgbClr val="FFFFFF"/>
                    </a:solidFill>
                  </a:tcPr>
                </a:tc>
              </a:tr>
              <a:tr h="431076">
                <a:tc>
                  <a:txBody>
                    <a:bodyPr wrap="square"/>
                    <a:lstStyle/>
                    <a:p>
                      <a:r>
                        <a:rPr sz="1600" b="1" i="0">
                          <a:solidFill>
                            <a:srgbClr val="111518"/>
                          </a:solidFill>
                          <a:latin typeface="Arial"/>
                        </a:rPr>
                        <a:t>58</a:t>
                      </a:r>
                    </a:p>
                  </a:txBody>
                  <a:tcPr marL="91440" marR="91440" anchor="ctr">
                    <a:solidFill>
                      <a:srgbClr val="F3F5F4"/>
                    </a:solidFill>
                  </a:tcPr>
                </a:tc>
                <a:tc>
                  <a:txBody>
                    <a:bodyPr wrap="square"/>
                    <a:lstStyle/>
                    <a:p>
                      <a:r>
                        <a:rPr sz="1600" b="0" i="0">
                          <a:solidFill>
                            <a:srgbClr val="111518"/>
                          </a:solidFill>
                          <a:latin typeface="Arial"/>
                        </a:rPr>
                        <a:t>United States</a:t>
                      </a:r>
                    </a:p>
                  </a:txBody>
                  <a:tcPr marL="91440" marR="91440" anchor="ctr">
                    <a:solidFill>
                      <a:srgbClr val="F3F5F4"/>
                    </a:solidFill>
                  </a:tcPr>
                </a:tc>
                <a:tc>
                  <a:txBody>
                    <a:bodyPr wrap="square"/>
                    <a:lstStyle/>
                    <a:p>
                      <a:r>
                        <a:rPr sz="1600" b="0" i="0">
                          <a:solidFill>
                            <a:srgbClr val="111518"/>
                          </a:solidFill>
                          <a:latin typeface="Arial"/>
                        </a:rPr>
                        <a:t>59.5</a:t>
                      </a:r>
                    </a:p>
                  </a:txBody>
                  <a:tcPr marL="91440" marR="91440" anchor="ctr">
                    <a:solidFill>
                      <a:srgbClr val="F3F5F4"/>
                    </a:solidFill>
                  </a:tcPr>
                </a:tc>
                <a:tc>
                  <a:txBody>
                    <a:bodyPr wrap="square"/>
                    <a:lstStyle/>
                    <a:p>
                      <a:r>
                        <a:rPr sz="1600" b="0" i="0">
                          <a:solidFill>
                            <a:srgbClr val="111518"/>
                          </a:solidFill>
                          <a:latin typeface="Arial"/>
                        </a:rPr>
                        <a:t>climate</a:t>
                      </a:r>
                    </a:p>
                  </a:txBody>
                  <a:tcPr marL="91440" marR="91440" anchor="ctr">
                    <a:solidFill>
                      <a:srgbClr val="F3F5F4"/>
                    </a:solidFill>
                  </a:tcPr>
                </a:tc>
              </a:tr>
            </a:tbl>
          </a:graphicData>
        </a:graphic>
      </p:graphicFrame>
      <p:graphicFrame>
        <p:nvGraphicFramePr>
          <p:cNvPr id="9" name="Chart 8"/>
          <p:cNvGraphicFramePr>
            <a:graphicFrameLocks noGrp="1"/>
          </p:cNvGraphicFramePr>
          <p:nvPr/>
        </p:nvGraphicFramePr>
        <p:xfrm>
          <a:off x="6324447" y="1828799"/>
          <a:ext cx="5318607" cy="3108960"/>
        </p:xfrm>
        <a:graphic>
          <a:graphicData uri="http://schemas.openxmlformats.org/drawingml/2006/chart">
            <c:chart xmlns:c="http://schemas.openxmlformats.org/drawingml/2006/chart" r:id="rId3"/>
          </a:graphicData>
        </a:graphic>
      </p:graphicFrame>
      <p:sp>
        <p:nvSpPr>
          <p:cNvPr id="10" name="TextBox 9"/>
          <p:cNvSpPr txBox="1"/>
          <p:nvPr/>
        </p:nvSpPr>
        <p:spPr>
          <a:xfrm>
            <a:off x="6324447" y="5074919"/>
            <a:ext cx="5318607" cy="914400"/>
          </a:xfrm>
          <a:prstGeom prst="rect">
            <a:avLst/>
          </a:prstGeom>
          <a:noFill/>
        </p:spPr>
        <p:txBody>
          <a:bodyPr wrap="square" anchor="t" lIns="36576" rIns="36576" tIns="18288" bIns="18288">
            <a:spAutoFit/>
          </a:bodyPr>
          <a:lstStyle/>
          <a:p>
            <a:pPr algn="l"/>
            <a:r>
              <a:rPr sz="1800" b="1" i="0">
                <a:solidFill>
                  <a:srgbClr val="111518"/>
                </a:solidFill>
                <a:latin typeface="Arial"/>
              </a:rPr>
              <a:t>Economic need isn't evidence of community support.</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Site engine">
      <a:dk1>
        <a:srgbClr val="111518"/>
      </a:dk1>
      <a:lt1>
        <a:srgbClr val="FFFFFF"/>
      </a:lt1>
      <a:dk2>
        <a:srgbClr val="0B3C6F"/>
      </a:dk2>
      <a:lt2>
        <a:srgbClr val="F3F5F4"/>
      </a:lt2>
      <a:accent1>
        <a:srgbClr val="0B3C6F"/>
      </a:accent1>
      <a:accent2>
        <a:srgbClr val="4F82BD"/>
      </a:accent2>
      <a:accent3>
        <a:srgbClr val="D9532B"/>
      </a:accent3>
      <a:accent4>
        <a:srgbClr val="8E8F8A"/>
      </a:accent4>
      <a:accent5>
        <a:srgbClr val="14758F"/>
      </a:accent5>
      <a:accent6>
        <a:srgbClr val="23804F"/>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Sustainable AI data center site selection</dc:title>
  <dc:subject/>
  <dc:creator/>
  <cp:keywords/>
  <dc:description/>
  <cp:lastModifiedBy/>
  <cp:revision>1</cp:revision>
  <dcterms:created xsi:type="dcterms:W3CDTF">2013-01-27T09:14:16Z</dcterms:created>
  <dcterms:modified xsi:type="dcterms:W3CDTF">2013-01-27T09:15:58Z</dcterms:modified>
  <cp:category/>
</cp:coreProperties>
</file>