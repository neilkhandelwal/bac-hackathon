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Data centers' share of US power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B3C6F"/>
              </a:solidFill>
            </c:spPr>
          </c:dPt>
          <c:dPt>
            <c:idx val="1"/>
            <c:spPr>
              <a:solidFill>
                <a:srgbClr val="4F82BD"/>
              </a:solidFill>
            </c:spPr>
          </c:dPt>
          <c:dPt>
            <c:idx val="2"/>
            <c:spPr>
              <a:solidFill>
                <a:srgbClr val="4F82BD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2028, low case</c:v>
                </c:pt>
                <c:pt idx="2">
                  <c:v>2028, high case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</c:v>
                </c:pt>
                <c:pt idx="1">
                  <c:v>6.7</c:v>
                </c:pt>
                <c:pt idx="2">
                  <c:v>12.0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2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8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1" i="0">
                <a:solidFill>
                  <a:srgbClr val="111518"/>
                </a:solidFill>
                <a:latin typeface="Arial"/>
              </a:rPr>
              <a:t>Grant County's scores out of 100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land cover</c:v>
                </c:pt>
              </c:strCache>
            </c:strRef>
          </c:tx>
          <c:spPr>
            <a:solidFill>
              <a:srgbClr val="8E8F8A"/>
            </a:solidFill>
          </c:spPr>
          <c:cat>
            <c:strRef>
              <c:f>Sheet1!$A$2:$A$3</c:f>
              <c:strCache>
                <c:ptCount val="2"/>
                <c:pt idx="0">
                  <c:v>Land</c:v>
                </c:pt>
                <c:pt idx="1">
                  <c:v>Permitting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75.0</c:v>
                </c:pt>
                <c:pt idx="1">
                  <c:v>53.2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land cover</c:v>
                </c:pt>
              </c:strCache>
            </c:strRef>
          </c:tx>
          <c:spPr>
            <a:solidFill>
              <a:srgbClr val="0B3C6F"/>
            </a:solidFill>
          </c:spPr>
          <c:cat>
            <c:strRef>
              <c:f>Sheet1!$A$2:$A$3</c:f>
              <c:strCache>
                <c:ptCount val="2"/>
                <c:pt idx="0">
                  <c:v>Land</c:v>
                </c:pt>
                <c:pt idx="1">
                  <c:v>Permitting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52.8</c:v>
                </c:pt>
                <c:pt idx="1">
                  <c:v>63.2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7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/>
          </a:pPr>
        </a:p>
      </c:txPr>
    </c:legend>
    <c:dispBlanksAs val="gap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How often each county makes the top 10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2BD"/>
              </a:solidFill>
            </c:spPr>
          </c:dPt>
          <c:dPt>
            <c:idx val="1"/>
            <c:spPr>
              <a:solidFill>
                <a:srgbClr val="4F82BD"/>
              </a:solidFill>
            </c:spPr>
          </c:dPt>
          <c:dPt>
            <c:idx val="2"/>
            <c:spPr>
              <a:solidFill>
                <a:srgbClr val="4F82BD"/>
              </a:solidFill>
            </c:spPr>
          </c:dPt>
          <c:dPt>
            <c:idx val="3"/>
            <c:spPr>
              <a:solidFill>
                <a:srgbClr val="0B3C6F"/>
              </a:solidFill>
            </c:spPr>
          </c:dPt>
          <c:dPt>
            <c:idx val="4"/>
            <c:spPr>
              <a:solidFill>
                <a:srgbClr val="4F82BD"/>
              </a:solidFill>
            </c:spPr>
          </c:dPt>
          <c:cat>
            <c:strRef>
              <c:f>Sheet1!$A$2:$A$6</c:f>
              <c:strCache>
                <c:ptCount val="5"/>
                <c:pt idx="0">
                  <c:v>Whitman, WA</c:v>
                </c:pt>
                <c:pt idx="1">
                  <c:v>Cuyahoga, OH</c:v>
                </c:pt>
                <c:pt idx="2">
                  <c:v>Clark, WA</c:v>
                </c:pt>
                <c:pt idx="3">
                  <c:v>Grant, WA</c:v>
                </c:pt>
                <c:pt idx="4">
                  <c:v>Hutchinson, TX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43.9</c:v>
                </c:pt>
                <c:pt idx="1">
                  <c:v>36.9</c:v>
                </c:pt>
                <c:pt idx="2">
                  <c:v>35.9</c:v>
                </c:pt>
                <c:pt idx="3">
                  <c:v>35.8</c:v>
                </c:pt>
                <c:pt idx="4">
                  <c:v>35.199999999999996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7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On-site water, million gallons a year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8E8F8A"/>
              </a:solidFill>
            </c:spPr>
          </c:dPt>
          <c:dPt>
            <c:idx val="1"/>
            <c:spPr>
              <a:solidFill>
                <a:srgbClr val="4F82BD"/>
              </a:solidFill>
            </c:spPr>
          </c:dPt>
          <c:dPt>
            <c:idx val="2"/>
            <c:spPr>
              <a:solidFill>
                <a:srgbClr val="0B3C6F"/>
              </a:solidFill>
            </c:spPr>
          </c:dPt>
          <c:cat>
            <c:strRef>
              <c:f>Sheet1!$A$2:$A$4</c:f>
              <c:strCache>
                <c:ptCount val="3"/>
                <c:pt idx="0">
                  <c:v>Loudoun VA, evaporative</c:v>
                </c:pt>
                <c:pt idx="1">
                  <c:v>Grant, evaporative</c:v>
                </c:pt>
                <c:pt idx="2">
                  <c:v>Grant, dry (+2% energy)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322.8</c:v>
                </c:pt>
                <c:pt idx="1">
                  <c:v>210.2</c:v>
                </c:pt>
                <c:pt idx="2">
                  <c:v>27.8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5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CO2, thousand metric tons a year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8E8F8A"/>
              </a:solidFill>
            </c:spPr>
          </c:dPt>
          <c:dPt>
            <c:idx val="1"/>
            <c:spPr>
              <a:solidFill>
                <a:srgbClr val="4F82BD"/>
              </a:solidFill>
            </c:spPr>
          </c:dPt>
          <c:dPt>
            <c:idx val="2"/>
            <c:spPr>
              <a:solidFill>
                <a:srgbClr val="0B3C6F"/>
              </a:solidFill>
            </c:spPr>
          </c:dPt>
          <c:cat>
            <c:strRef>
              <c:f>Sheet1!$A$2:$A$4</c:f>
              <c:strCache>
                <c:ptCount val="3"/>
                <c:pt idx="0">
                  <c:v>Loudoun VA</c:v>
                </c:pt>
                <c:pt idx="1">
                  <c:v>Grant at the regional average</c:v>
                </c:pt>
                <c:pt idx="2">
                  <c:v>Grant at BPA's mix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675.455</c:v>
                </c:pt>
                <c:pt idx="1">
                  <c:v>700.39</c:v>
                </c:pt>
                <c:pt idx="2">
                  <c:v>235.547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5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Grant PUD, average megawatts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2BD"/>
              </a:solidFill>
            </c:spPr>
          </c:dPt>
          <c:dPt>
            <c:idx val="1"/>
            <c:spPr>
              <a:solidFill>
                <a:srgbClr val="8E8F8A"/>
              </a:solidFill>
            </c:spPr>
          </c:dPt>
          <c:dPt>
            <c:idx val="2"/>
            <c:spPr>
              <a:solidFill>
                <a:srgbClr val="D9532B"/>
              </a:solidFill>
            </c:spPr>
          </c:dPt>
          <c:cat>
            <c:strRef>
              <c:f>Sheet1!$A$2:$A$4</c:f>
              <c:strCache>
                <c:ptCount val="3"/>
                <c:pt idx="0">
                  <c:v>Utility's share of its dams</c:v>
                </c:pt>
                <c:pt idx="1">
                  <c:v>Utility load in 2025</c:v>
                </c:pt>
                <c:pt idx="2">
                  <c:v>Load plus the campus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633</c:v>
                </c:pt>
                <c:pt idx="1">
                  <c:v>757</c:v>
                </c:pt>
                <c:pt idx="2">
                  <c:v>1036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6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Counties that pass the hard limits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B3C6F"/>
              </a:solidFill>
            </c:spPr>
          </c:dPt>
          <c:dPt>
            <c:idx val="1"/>
            <c:spPr>
              <a:solidFill>
                <a:srgbClr val="4F82BD"/>
              </a:solidFill>
            </c:spPr>
          </c:dPt>
          <c:cat>
            <c:strRef>
              <c:f>Sheet1!$A$2:$A$3</c:f>
              <c:strCache>
                <c:ptCount val="2"/>
                <c:pt idx="0">
                  <c:v>Dry cooling</c:v>
                </c:pt>
                <c:pt idx="1">
                  <c:v>Evaporative cooling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1565</c:v>
                </c:pt>
                <c:pt idx="1">
                  <c:v>826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6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Berkshire, MA</c:v>
                </c:pt>
              </c:strCache>
            </c:strRef>
          </c:tx>
          <c:spPr>
            <a:ln w="50800">
              <a:solidFill>
                <a:srgbClr val="D9532B"/>
              </a:solidFill>
            </a:ln>
          </c:spPr>
          <c:marker>
            <c:symbol val="circle"/>
            <c:size val="13"/>
            <c:spPr>
              <a:solidFill>
                <a:srgbClr val="D9532B"/>
              </a:solidFill>
              <a:ln>
                <a:solidFill>
                  <a:srgbClr val="D9532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700" b="1" i="0">
                        <a:solidFill>
                          <a:srgbClr val="D9532B"/>
                        </a:solidFill>
                        <a:latin typeface="Arial"/>
                      </a:rPr>
                      <a:t>Berkshire #1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700" b="1" i="0">
                        <a:solidFill>
                          <a:srgbClr val="D9532B"/>
                        </a:solidFill>
                        <a:latin typeface="Arial"/>
                      </a:rPr>
                      <a:t>#27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700" b="1" i="0">
                        <a:solidFill>
                          <a:srgbClr val="D9532B"/>
                        </a:solidFill>
                        <a:latin typeface="Arial"/>
                      </a:rPr>
                      <a:t>#1,164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Seven factors</c:v>
                </c:pt>
                <c:pt idx="1">
                  <c:v>Massachusetts tax fix</c:v>
                </c:pt>
                <c:pt idx="2">
                  <c:v>Power cost added</c:v>
                </c:pt>
                <c:pt idx="3">
                  <c:v>If Washington pays $80/MWh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27</c:v>
                </c:pt>
                <c:pt idx="2">
                  <c:v>1164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Grant, WA</c:v>
                </c:pt>
              </c:strCache>
            </c:strRef>
          </c:tx>
          <c:spPr>
            <a:ln w="50800">
              <a:solidFill>
                <a:srgbClr val="0B3C6F"/>
              </a:solidFill>
            </a:ln>
          </c:spPr>
          <c:marker>
            <c:symbol val="circle"/>
            <c:size val="13"/>
            <c:spPr>
              <a:solidFill>
                <a:srgbClr val="0B3C6F"/>
              </a:solidFill>
              <a:ln>
                <a:solidFill>
                  <a:srgbClr val="0B3C6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700" b="1" i="0">
                        <a:solidFill>
                          <a:srgbClr val="0B3C6F"/>
                        </a:solidFill>
                        <a:latin typeface="Arial"/>
                      </a:rPr>
                      <a:t>Grant #7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700" b="1" i="0">
                        <a:solidFill>
                          <a:srgbClr val="0B3C6F"/>
                        </a:solidFill>
                        <a:latin typeface="Arial"/>
                      </a:rPr>
                      <a:t>#7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700" b="1" i="0">
                        <a:solidFill>
                          <a:srgbClr val="0B3C6F"/>
                        </a:solidFill>
                        <a:latin typeface="Arial"/>
                      </a:rPr>
                      <a:t>Grant #1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700" b="1" i="0">
                        <a:solidFill>
                          <a:srgbClr val="0B3C6F"/>
                        </a:solidFill>
                        <a:latin typeface="Arial"/>
                      </a:rPr>
                      <a:t>#77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Seven factors</c:v>
                </c:pt>
                <c:pt idx="1">
                  <c:v>Massachusetts tax fix</c:v>
                </c:pt>
                <c:pt idx="2">
                  <c:v>Power cost added</c:v>
                </c:pt>
                <c:pt idx="3">
                  <c:v>If Washington pays $80/MWh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</c:v>
                </c:pt>
                <c:pt idx="2">
                  <c:v>1</c:v>
                </c:pt>
                <c:pt idx="3">
                  <c:v>77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500">
                <a:solidFill>
                  <a:srgbClr val="111518"/>
                </a:solidFill>
              </a:defRPr>
            </a:pPr>
          </a:p>
        </c:txPr>
        <c:crossAx val="2140495176"/>
        <c:crosses val="max"/>
        <c:auto val="1"/>
        <c:lblAlgn val="ctr"/>
        <c:lblOffset val="100"/>
        <c:noMultiLvlLbl val="0"/>
      </c:catAx>
      <c:valAx>
        <c:axId val="2140495176"/>
        <c:scaling>
          <c:logBase val="10"/>
          <c:orientation val="maxMin"/>
          <c:max val="2500.0"/>
          <c:min val="0.6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CO2, thousand metric tons a year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2BD"/>
              </a:solidFill>
            </c:spPr>
          </c:dPt>
          <c:dPt>
            <c:idx val="1"/>
            <c:spPr>
              <a:solidFill>
                <a:srgbClr val="0B3C6F"/>
              </a:solidFill>
            </c:spPr>
          </c:dPt>
          <c:cat>
            <c:strRef>
              <c:f>Sheet1!$A$2:$A$3</c:f>
              <c:strCache>
                <c:ptCount val="2"/>
                <c:pt idx="0">
                  <c:v>Franklin, NY</c:v>
                </c:pt>
                <c:pt idx="1">
                  <c:v>Grant, WA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262.168</c:v>
                </c:pt>
                <c:pt idx="1">
                  <c:v>700.39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7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Energy and carbon share of cost gaps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B3C6F"/>
              </a:solidFill>
            </c:spPr>
          </c:dPt>
          <c:dPt>
            <c:idx val="1"/>
            <c:spPr>
              <a:solidFill>
                <a:srgbClr val="0B3C6F"/>
              </a:solidFill>
            </c:spPr>
          </c:dPt>
          <c:dPt>
            <c:idx val="2"/>
            <c:spPr>
              <a:solidFill>
                <a:srgbClr val="0B3C6F"/>
              </a:solidFill>
            </c:spPr>
          </c:dPt>
          <c:dPt>
            <c:idx val="3"/>
            <c:spPr>
              <a:solidFill>
                <a:srgbClr val="8E8F8A"/>
              </a:solidFill>
            </c:spPr>
          </c:dPt>
          <c:cat>
            <c:strRef>
              <c:f>Sheet1!$A$2:$A$5</c:f>
              <c:strCache>
                <c:ptCount val="4"/>
                <c:pt idx="0">
                  <c:v>$0 per ton</c:v>
                </c:pt>
                <c:pt idx="1">
                  <c:v>$190 per ton</c:v>
                </c:pt>
                <c:pt idx="2">
                  <c:v>$300 per ton</c:v>
                </c:pt>
                <c:pt idx="3">
                  <c:v>Balanced weights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78</c:v>
                </c:pt>
                <c:pt idx="2">
                  <c:v>88</c:v>
                </c:pt>
                <c:pt idx="3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5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Manufacturing jobs, Boone County, IL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8E8F8A"/>
              </a:solidFill>
            </c:spPr>
          </c:dPt>
          <c:dPt>
            <c:idx val="1"/>
            <c:spPr>
              <a:solidFill>
                <a:srgbClr val="D9532B"/>
              </a:solidFill>
            </c:spPr>
          </c:dPt>
          <c:cat>
            <c:strRef>
              <c:f>Sheet1!$A$2:$A$3</c:f>
              <c:strCache>
                <c:ptCount val="2"/>
                <c:pt idx="0">
                  <c:v>2015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7761</c:v>
                </c:pt>
                <c:pt idx="1">
                  <c:v>2070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 b="1">
                  <a:solidFill>
                    <a:srgbClr val="1115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3D8D6"/>
            </a:solidFill>
          </a:ln>
        </c:spPr>
        <c:txPr>
          <a:bodyPr/>
          <a:lstStyle/>
          <a:p>
            <a:pPr>
              <a:defRPr sz="1700">
                <a:solidFill>
                  <a:srgbClr val="1115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4650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driving a boom in data center construction. Lawrence Berkeley National Lab found that data</a:t>
            </a:r>
          </a:p>
          <a:p>
            <a:r>
              <a:t>centers used 4.4 percent of US electricity in 2023, and it expects 6.7 to 12 percent by 2028.</a:t>
            </a:r>
          </a:p>
          <a:p>
            <a:r>
              <a:t>Communities are pushing back on where these go. This summer New York paused state permits for</a:t>
            </a:r>
          </a:p>
          <a:p>
            <a:r>
              <a:t>large data centers over energy and water. A campus built today runs for 20 to 30 years, so the</a:t>
            </a:r>
          </a:p>
          <a:p>
            <a:r>
              <a:t>county you choose sets its carbon, its water, and its power bill for decades.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US data center share of electricity in 2023, 4.4% (176 TWh), published source (LBNL 2024 report, Executive Summary p. 5)</a:t>
            </a:r>
          </a:p>
          <a:p>
            <a:r>
              <a:t>- Projected share in 2028, 6.7% to 12.0%, published source (LBNL 2024 report, Executive Summary p. 6)</a:t>
            </a:r>
          </a:p>
          <a:p>
            <a:r>
              <a:t>- Grid carbon varies about fourfold across candidate counties, 242 to 911 lb/MWh [[CHECK]] (research/impact.md, dry cooling table)</a:t>
            </a:r>
          </a:p>
          <a:p/>
          <a:p>
            <a:r>
              <a:t>Outside sources</a:t>
            </a:r>
          </a:p>
          <a:p>
            <a:r>
              <a:t>- LBNL 2024 United States Data Center Energy Usage Report (Shehabi et al.), https://eta-publications.lbl.gov/sites/default/files/2024-12/lbnl-2024-united-states-data-center-energy-usage-report_1.pdf</a:t>
            </a:r>
          </a:p>
          <a:p>
            <a:r>
              <a:t>- New York Executive Order No. 62, https://www.governor.ny.gov/executive-order/no-62-establishing-temporary-moratorium-data-centers-new-york-while-state-develops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built a tool for that choice. You describe the project, meaning its size, how it's cooled,</a:t>
            </a:r>
          </a:p>
          <a:p>
            <a:r>
              <a:t>the limits you won't cross, and how much each factor matters to you. The tool screens all 3,109</a:t>
            </a:r>
          </a:p>
          <a:p>
            <a:r>
              <a:t>counties in the lower 48. Hard limits like flood risk, wildfire, fiber, and the wait for a grid</a:t>
            </a:r>
          </a:p>
          <a:p>
            <a:r>
              <a:t>connection rule out about half. Eight factors then score the rest against the nation, and a</a:t>
            </a:r>
          </a:p>
          <a:p>
            <a:r>
              <a:t>county that's weak on any one of them drops below the others. You get a ranked shortlist, and</a:t>
            </a:r>
          </a:p>
          <a:p>
            <a:r>
              <a:t>every rank comes with its reasons.</a:t>
            </a:r>
          </a:p>
          <a:p/>
          <a:p>
            <a:r>
              <a:t>If someone asks whether this is machine learning, it isn't. The weights are stated and anyone</a:t>
            </a:r>
          </a:p>
          <a:p>
            <a:r>
              <a:t>can change them. The only model we built was for permitting, and we dropped it because it failed</a:t>
            </a:r>
          </a:p>
          <a:p>
            <a:r>
              <a:t>out of sample.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Counties, 3,109 [[CHECK]] (docs/figures/facts.json, balanced.counties)</a:t>
            </a:r>
          </a:p>
          <a:p>
            <a:r>
              <a:t>- Counties that pass the hard limits, 1,565 [[CHECK]] (docs/figures/facts.json, balanced.passed)</a:t>
            </a:r>
          </a:p>
          <a:p>
            <a:r>
              <a:t>- Counties with no weak factor (pillar floor), 883 [[CHECK]] (docs/figures/facts.json, balanced.floor_ok)</a:t>
            </a:r>
          </a:p>
          <a:p>
            <a:r>
              <a:t>- Balanced weights, energy_carbon 0.153, water 0.119, climate_resilience 0.119, grid_infrastructure 0.153, land 0.068, community 0.085, permitting 0.153, cost 0.150 [[CHECK]] (docs/figures/facts.json, weights.balanced)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challenge asks about proximity to sensitive areas and ecosystems, so we added it. The tool now</a:t>
            </a:r>
          </a:p>
          <a:p>
            <a:r>
              <a:t>reads how much of each county is protected for wildlife, how much is farmed, how much is built up,</a:t>
            </a:r>
          </a:p>
          <a:p>
            <a:r>
              <a:t>and how much is forest or wetland, and each one now counts in the score. Grant shows the trade.</a:t>
            </a:r>
          </a:p>
          <a:p>
            <a:r>
              <a:t>It's 43 percent cropland and 13 percent protected, so its land score fell from 75 to 53. It has</a:t>
            </a:r>
          </a:p>
          <a:p>
            <a:r>
              <a:t>almost no forest or wetland, so permitting rose from 53 to 63.</a:t>
            </a:r>
          </a:p>
          <a:p/>
          <a:p>
            <a:r>
              <a:t>If someone asks about farmland, large campuses often land on it because developers want flat,</a:t>
            </a:r>
          </a:p>
          <a:p>
            <a:r>
              <a:t>big parcels near roads and transmission. That's a habit, not a need. Soil quality does nothing</a:t>
            </a:r>
          </a:p>
          <a:p>
            <a:r>
              <a:t>for a data center, and old power plant sites or industrial parks can work as well. The tool</a:t>
            </a:r>
          </a:p>
          <a:p>
            <a:r>
              <a:t>measures land cover, not prime soil. Building on farmland usually harms habitat less than wild</a:t>
            </a:r>
          </a:p>
          <a:p>
            <a:r>
              <a:t>land does, but it uses up farmland, so we leave the balance to the user. In our opposition</a:t>
            </a:r>
          </a:p>
          <a:p>
            <a:r>
              <a:t>dataset farmland comes up in 7 of 100 cases with stated reasons, mostly inferred from text. The</a:t>
            </a:r>
          </a:p>
          <a:p>
            <a:r>
              <a:t>top reasons are zoning process, water, and grid strain.</a:t>
            </a:r>
          </a:p>
          <a:p/>
          <a:p>
            <a:r>
              <a:t>If someone asks whether one input drives Grant's rank, scored alone protected land would drop</a:t>
            </a:r>
          </a:p>
          <a:p>
            <a:r>
              <a:t>Grant to 4th and cropland alone to 2nd. Together, as designed, they offset. The protected and</a:t>
            </a:r>
          </a:p>
          <a:p>
            <a:r>
              <a:t>tribal land limits are off in every preset.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Grant land score before and after, 75.0 to 52.8 [[CHECK]] (docs/figures/facts.json and research/sensitive_land.md, featured.pillars.land)</a:t>
            </a:r>
          </a:p>
          <a:p>
            <a:r>
              <a:t>- Grant permitting score before and after, 53.2 to 63.2 [[CHECK]] (docs/figures/facts.json and research/sensitive_land.md, featured.pillars.permitting)</a:t>
            </a:r>
          </a:p>
          <a:p>
            <a:r>
              <a:t>- Grant cropland share, 42.9% [[CHECK]] (research/sensitive_land.md, County shares table)</a:t>
            </a:r>
          </a:p>
          <a:p>
            <a:r>
              <a:t>- Grant protected share (GAP 1-2), 12.8% [[CHECK]] (research/sensitive_land.md, County shares table)</a:t>
            </a:r>
          </a:p>
          <a:p>
            <a:r>
              <a:t>- Grant rank with protected land alone or cropland alone, 4th or 2nd [[CHECK]] (research/sensitive_land.md, Effect on the balanced ranking)</a:t>
            </a:r>
          </a:p>
          <a:p>
            <a:r>
              <a:t>- Farmland in opposition cases with stated reasons, 7 of 100 [[CHECK]] (data/processed/opposition_seed_labels.csv, reasons column)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balanced weights, Grant and Whitman counties in eastern Washington come out level, 63.70 to 63.69. Under equal weights Whitman</a:t>
            </a:r>
          </a:p>
          <a:p>
            <a:r>
              <a:t>comes first and Grant second. We use Grant as our worked example because it already hosts the</a:t>
            </a:r>
          </a:p>
          <a:p>
            <a:r>
              <a:t>Quincy data center cluster, and its power timeline and tax status are documented. It comes with a</a:t>
            </a:r>
          </a:p>
          <a:p>
            <a:r>
              <a:t>condition. The campus has to be sited next to hydro, powered by new clean supply the project</a:t>
            </a:r>
          </a:p>
          <a:p>
            <a:r>
              <a:t>funds, because none of the utility's existing hydro is spare.</a:t>
            </a:r>
          </a:p>
          <a:p/>
          <a:p>
            <a:r>
              <a:t>If someone asks why not Whitman, it's a fair alternative with almost no protected land and no</a:t>
            </a:r>
          </a:p>
          <a:p>
            <a:r>
              <a:t>water stress. We don't have the same site research for it yet.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Counties that pass the hard limits, 1,565 [[CHECK]] (docs/figures/facts.json, balanced.passed)</a:t>
            </a:r>
          </a:p>
          <a:p>
            <a:r>
              <a:t>- Grant composite, 63.70 [[CHECK]] (results/balanced.csv, composite)</a:t>
            </a:r>
          </a:p>
          <a:p>
            <a:r>
              <a:t>- Whitman composite, 63.69 [[CHECK]] (results/balanced.csv, composite)</a:t>
            </a:r>
          </a:p>
          <a:p>
            <a:r>
              <a:t>- Rank under equal weights, Grant 2nd, Whitman 1st [[CHECK]] (docs/figures/facts.json, weights.equal_weights_featured_rank)</a:t>
            </a:r>
          </a:p>
          <a:p/>
          <a:p>
            <a:r>
              <a:t>Outside sources</a:t>
            </a:r>
          </a:p>
          <a:p>
            <a:r>
              <a:t>- Grant PUD data center FAQ, 2026-08-28, https://www.grantpud.org/blog/data-center-faqs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question is whether we picked weights that make our example win. So we stopped</a:t>
            </a:r>
          </a:p>
          <a:p>
            <a:r>
              <a:t>choosing. We drew 5,000 random weightings and counted how often each county makes the top 10.</a:t>
            </a:r>
          </a:p>
          <a:p>
            <a:r>
              <a:t>Whitman does most often, at 43.9 percent, and Grant sits in a close group</a:t>
            </a:r>
          </a:p>
          <a:p>
            <a:r>
              <a:t>around 36 percent. Near our own weights Grant stays in the top 10 almost every time. When we priced</a:t>
            </a:r>
          </a:p>
          <a:p>
            <a:r>
              <a:t>every county in dollars, energy and carbon drove most of the differences. We didn't tune the weights to get an answer. We tested</a:t>
            </a:r>
          </a:p>
          <a:p>
            <a:r>
              <a:t>how much the answer depends on them.</a:t>
            </a:r>
          </a:p>
          <a:p/>
          <a:p>
            <a:r>
              <a:t>If someone asks why these weights, we compared five methods. A 25-year dollar model, random</a:t>
            </a:r>
          </a:p>
          <a:p>
            <a:r>
              <a:t>weightings, two data-driven methods, and where industry has already built. Energy and carbon carry</a:t>
            </a:r>
          </a:p>
          <a:p>
            <a:r>
              <a:t>67 to 88 percent of the dollar differences, depending on the carbon price. Our balanced weights give</a:t>
            </a:r>
          </a:p>
          <a:p>
            <a:r>
              <a:t>them about 30 percent.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Top 10 share, Whitman, WA, 43.9% [[CHECK]] (docs/figures/facts.json, weights.uniform_weightings_top10_share)</a:t>
            </a:r>
          </a:p>
          <a:p>
            <a:r>
              <a:t>- Top 10 share, Cuyahoga, OH, 36.9% [[CHECK]] (docs/figures/facts.json, weights.uniform_weightings_top10_share)</a:t>
            </a:r>
          </a:p>
          <a:p>
            <a:r>
              <a:t>- Top 10 share, Clark, WA, 35.9% [[CHECK]] (docs/figures/facts.json, weights.uniform_weightings_top10_share)</a:t>
            </a:r>
          </a:p>
          <a:p>
            <a:r>
              <a:t>- Top 10 share, Grant, WA, 35.8% [[CHECK]] (docs/figures/facts.json, weights.uniform_weightings_top10_share)</a:t>
            </a:r>
          </a:p>
          <a:p>
            <a:r>
              <a:t>- Top 10 share, Hutchinson, TX, 35.2% [[CHECK]] (docs/figures/facts.json, weights.uniform_weightings_top10_share)</a:t>
            </a:r>
          </a:p>
          <a:p>
            <a:r>
              <a:t>- Grant in the top 10 near balanced weights, 99.95% [[CHECK]] (docs/figures/facts.json, featured.robustness (2,000 small perturbations))</a:t>
            </a:r>
          </a:p>
          <a:p>
            <a:r>
              <a:t>- Energy and carbon share of 25-year cost differences, 67% to 88%, published source (docs/weighting.md, Variance shares, with sales tax)</a:t>
            </a:r>
          </a:p>
          <a:p>
            <a:r>
              <a:t>- Energy and carbon weight in the balanced preset, about 30% [[CHECK]] (docs/weighting.md, Variance shares)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Against Loudoun County, Virginia, where much of the industry builds today, the example holds up</a:t>
            </a:r>
          </a:p>
          <a:p>
            <a:r>
              <a:t>well on water. An evaporatively cooled campus in Grant would use about</a:t>
            </a:r>
          </a:p>
          <a:p>
            <a:r>
              <a:t>210 million gallons of water a year. Dry cooling brings that to about</a:t>
            </a:r>
          </a:p>
          <a:p>
            <a:r>
              <a:t>28 million, an 87 percent cut, for about 2 percent more</a:t>
            </a:r>
          </a:p>
          <a:p>
            <a:r>
              <a:t>energy. Carbon depends on the power that serves the campus. Before its own clean supply comes</a:t>
            </a:r>
          </a:p>
          <a:p>
            <a:r>
              <a:t>online, it's 236 to 700 thousand tons a year, against Loudoun's</a:t>
            </a:r>
          </a:p>
          <a:p>
            <a:r>
              <a:t>675 thousand. Washington law then requires fully clean retail power by 2045.</a:t>
            </a:r>
          </a:p>
          <a:p/>
          <a:p>
            <a:r>
              <a:t>If someone asks why not zero carbon, the utility's hydro rate of zero describes its existing</a:t>
            </a:r>
          </a:p>
          <a:p>
            <a:r>
              <a:t>customers. None of that hydro is spare for a new load, so we don't claim it. If someone asks</a:t>
            </a:r>
          </a:p>
          <a:p>
            <a:r>
              <a:t>whether 2045 is an edge over Virginia, it isn't. Virginia's Clean Economy Act also sets 2045 for</a:t>
            </a:r>
          </a:p>
          <a:p>
            <a:r>
              <a:t>Dominion (not verified for this deck). The difference is the new supply the project funds.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Grant water, evaporative, 210.2 million gallons a year [[CHECK]] (docs/figures/facts.json, impact['Grant, WA'].water_million_gal_evap)</a:t>
            </a:r>
          </a:p>
          <a:p>
            <a:r>
              <a:t>- Grant water, dry, 27.8 million gallons a year [[CHECK]] (docs/figures/facts.json, impact['Grant, WA'].water_million_gal_dry)</a:t>
            </a:r>
          </a:p>
          <a:p>
            <a:r>
              <a:t>- Loudoun water, evaporative, 322.8 million gallons a year [[CHECK]] (docs/figures/facts.json, impact['Loudoun, VA'].water_million_gal_evap)</a:t>
            </a:r>
          </a:p>
          <a:p>
            <a:r>
              <a:t>- Water cut, dry against evaporative, 87% [[CHECK]] (computed from the two Grant values)</a:t>
            </a:r>
          </a:p>
          <a:p>
            <a:r>
              <a:t>- Grant CO2 at BPA's mix, 235,547 t a year [[CHECK]] (docs/figures/facts.json, grant_ranges.co2_tonnes.bpa)</a:t>
            </a:r>
          </a:p>
          <a:p>
            <a:r>
              <a:t>- Grant CO2 at the regional average, 700,390 t a year [[CHECK]] (docs/figures/facts.json, grant_ranges.co2_tonnes.nwpp_table)</a:t>
            </a:r>
          </a:p>
          <a:p>
            <a:r>
              <a:t>- Loudoun CO2, dry, 675,455 t a year [[CHECK]] (docs/figures/facts.json, impact['Loudoun, VA'].co2_tonnes_dry)</a:t>
            </a:r>
          </a:p>
          <a:p>
            <a:r>
              <a:t>- Dry cooling energy penalty, about 2% [[CHECK]] (research/risk.md, Water stress row)</a:t>
            </a:r>
          </a:p>
          <a:p>
            <a:r>
              <a:t>- Washington clean power dates, 2030 neutral, 2045 fully clean, published source (research/implementation.md, Carbon over 30 years)</a:t>
            </a:r>
          </a:p>
          <a:p/>
          <a:p>
            <a:r>
              <a:t>Outside sources</a:t>
            </a:r>
          </a:p>
          <a:p>
            <a:r>
              <a:t>- Washington Clean Energy Transformation Act, RCW 19.405.040 and 19.405.050, https://app.leg.wa.gov/RCW/default.aspx?cite=19.405</a:t>
            </a:r>
          </a:p>
          <a:p>
            <a:r>
              <a:t>- Washington Data Center Workgroup, Preliminary Report, Finding 19, p. 13, https://dor.wa.gov/sites/default/files/2025-12/2025DataCntrWrkgrpPrelimReport.pdf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our example, one risk stands out, and it's power. Grant PUD's share of its dams averages about</a:t>
            </a:r>
          </a:p>
          <a:p>
            <a:r>
              <a:t>633 average megawatts, already below its 757 megawatt load. The</a:t>
            </a:r>
          </a:p>
          <a:p>
            <a:r>
              <a:t>campus would add 279, and about 800 megawatts of requests are ahead of it. So the</a:t>
            </a:r>
          </a:p>
          <a:p>
            <a:r>
              <a:t>project funds new supply and phases in behind the 2027 and 2029 transmission lines. Heat is a medium</a:t>
            </a:r>
          </a:p>
          <a:p>
            <a:r>
              <a:t>risk. Land is low, with no protected land within 5 kilometers of Quincy, and tribal consultation</a:t>
            </a:r>
          </a:p>
          <a:p>
            <a:r>
              <a:t>starts early. The example holds only if full power arrives by about late 2029, near today's price.</a:t>
            </a:r>
          </a:p>
          <a:p/>
          <a:p>
            <a:r>
              <a:t>If someone asks about price, a new load this size doesn't get today's average rate. If we reprice</a:t>
            </a:r>
          </a:p>
          <a:p>
            <a:r>
              <a:t>only Washington at BPA's new-load rate of $80 a megawatt-hour, Grant falls to 77th, and</a:t>
            </a:r>
          </a:p>
          <a:p>
            <a:r>
              <a:t>Whitman falls with it. No other state's new-load rate is sourced, so that comparison is lopsided.</a:t>
            </a:r>
          </a:p>
          <a:p/>
          <a:p>
            <a:r>
              <a:t>If someone asks about timing, each month of delay is priced at $25 million in the dollar model, which</a:t>
            </a:r>
          </a:p>
          <a:p>
            <a:r>
              <a:t>is an assumption. Grant breaks even with Clark at about 10 months past a two-year baseline and with</a:t>
            </a:r>
          </a:p>
          <a:p>
            <a:r>
              <a:t>Franklin at about 12.</a:t>
            </a:r>
          </a:p>
          <a:p/>
          <a:p>
            <a:r>
              <a:t>If someone asks about tribal land, there's none in Grant County and the nearest is about 75 km away.</a:t>
            </a:r>
          </a:p>
          <a:p>
            <a:r>
              <a:t>Quincy appears to sit in the Yakama Nation's 1855 ceded area, but that's our reading of the treaty</a:t>
            </a:r>
          </a:p>
          <a:p>
            <a:r>
              <a:t>text, not an official map. A federal connection, like a federal permit or a BPA interconnection,</a:t>
            </a:r>
          </a:p>
          <a:p>
            <a:r>
              <a:t>triggers Section 106 consultation, and state funding triggers Washington Executive Order 21-02 review.</a:t>
            </a:r>
          </a:p>
          <a:p>
            <a:r>
              <a:t>Washington's data center workgroup also notes that new load on hydropower competes with tribal and</a:t>
            </a:r>
          </a:p>
          <a:p>
            <a:r>
              <a:t>state fisheries efforts, which is one more reason we don't claim existing hydro.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Grant PUD share of its dams, about 633 aMW, published source (research/risk.md (Grant PUD FAQ), Power availability row)</a:t>
            </a:r>
          </a:p>
          <a:p>
            <a:r>
              <a:t>- Grant PUD 2025 load, 757 aMW, published source (research/risk.md (Grant PUD FAQ), Power availability row)</a:t>
            </a:r>
          </a:p>
          <a:p>
            <a:r>
              <a:t>- Campus average load, 279 aMW [[CHECK]] (research/risk.md and etl/impact.py, Power availability row)</a:t>
            </a:r>
          </a:p>
          <a:p>
            <a:r>
              <a:t>- Large-load requests queued, about 800 MW, published source (research/risk.md (Grant PUD FAQ), Power availability row)</a:t>
            </a:r>
          </a:p>
          <a:p>
            <a:r>
              <a:t>- Days above 95°F, 14.5 today, 35.9 by 2050 [[CHECK]] (docs/figures/facts.json, featured.horizon_2050_raw.days_above_95f_hist)</a:t>
            </a:r>
          </a:p>
          <a:p>
            <a:r>
              <a:t>- Nearest protected land to Quincy, 5.8 km [[CHECK]] (research/sensitive_land.md, Grant County table)</a:t>
            </a:r>
          </a:p>
          <a:p>
            <a:r>
              <a:t>- Nearest tribal land to Quincy, 74.7 km [[CHECK]] (research/sensitive_land.md, Grant County table)</a:t>
            </a:r>
          </a:p>
          <a:p>
            <a:r>
              <a:t>- Grant rank with only WA at BPA's $80 and $132 per MWh, 77 and 1,151 [[CHECK]] (docs/deck_build_log.md, step 4 price rerun)</a:t>
            </a:r>
          </a:p>
          <a:p>
            <a:r>
              <a:t>- Delay cost, $25M a month (assumption) [[CHECK]] (docs/weighting.md, Time to power)</a:t>
            </a:r>
          </a:p>
          <a:p>
            <a:r>
              <a:t>- Grant break-even with Clark and Franklin, 10.2 and 12.1 months past a 2-year baseline [[CHECK]] (docs/weighting.md, Grant's row)</a:t>
            </a:r>
          </a:p>
          <a:p/>
          <a:p>
            <a:r>
              <a:t>Outside sources</a:t>
            </a:r>
          </a:p>
          <a:p>
            <a:r>
              <a:t>- Grant PUD data center FAQ, 2026-08-28, https://www.grantpud.org/blog/data-center-faqs</a:t>
            </a:r>
          </a:p>
          <a:p>
            <a:r>
              <a:t>- Washington Data Center Workgroup, Preliminary Report, Findings 6 and 19c, https://dor.wa.gov/sites/default/files/2025-12/2025DataCntrWrkgrpPrelimReport.pdf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the build starts small, behind the utility's queue. A first phase</a:t>
            </a:r>
          </a:p>
          <a:p>
            <a:r>
              <a:t>comes online after Quincy's 2027 transmission upgrade, and the campus grows toward 300 megawatts</a:t>
            </a:r>
          </a:p>
          <a:p>
            <a:r>
              <a:t>after the 2029 line, only as new supply it pays for comes online. About a gigawatt of new solar</a:t>
            </a:r>
          </a:p>
          <a:p>
            <a:r>
              <a:t>matches its yearly use, though not every hour, so firm clean power like pumped storage follows in</a:t>
            </a:r>
          </a:p>
          <a:p>
            <a:r>
              <a:t>the 2030s. Liquid cooling with dry coolers handles hotter 2050 summers, and the warm return water</a:t>
            </a:r>
          </a:p>
          <a:p>
            <a:r>
              <a:t>heats a food processor next door.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Transmission milestones, 2027 Quincy upgrade, 2029 Wanapum to Quincy line, published source (research/implementation.md, The queue and the caps)</a:t>
            </a:r>
          </a:p>
          <a:p>
            <a:r>
              <a:t>- New solar to match yearly use, about 1 GW (1,030 MW at 27% capacity factor) [[CHECK]] (research/implementation.md, Where new clean supply comes from)</a:t>
            </a:r>
          </a:p>
          <a:p>
            <a:r>
              <a:t>- Goldendale pumped storage, 1.2 GW, 2031 to 2032, published source (research/implementation.md, Where new clean supply comes from)</a:t>
            </a:r>
          </a:p>
          <a:p>
            <a:r>
              <a:t>- Dry cooling water, 27.8 million gallons a year [[CHECK]] (docs/figures/facts.json, impact['Grant, WA'].water_million_gal_dry)</a:t>
            </a:r>
          </a:p>
          <a:p>
            <a:r>
              <a:t>- Liquid cooling return water, 45 to 65°C, published source (research/implementation.md, Cooling and water, Heat reuse)</a:t>
            </a:r>
          </a:p>
          <a:p/>
          <a:p>
            <a:r>
              <a:t>Outside sources</a:t>
            </a:r>
          </a:p>
          <a:p>
            <a:r>
              <a:t>- Grant PUD Data Center FAQs, Q5, https://www.grantpud.org/blog/data-center-faqs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brings us back to the tool. Watch what one change does. Switch the cooling from dry to</a:t>
            </a:r>
          </a:p>
          <a:p>
            <a:r>
              <a:t>evaporative, and the tool adds a limit on water stress. The counties that pass drop from</a:t>
            </a:r>
          </a:p>
          <a:p>
            <a:r>
              <a:t>1,565 to 826. Grant scores 3.6 out of 5 for water stress, so it drops out,</a:t>
            </a:r>
          </a:p>
          <a:p>
            <a:r>
              <a:t>and the app tells you exactly which limit it failed. Whitman, with almost no water stress, moves to</a:t>
            </a:r>
          </a:p>
          <a:p>
            <a:r>
              <a:t>first. Same data, a new answer, with its reasons. Let us show you. [Hand over to the live demo.]</a:t>
            </a:r>
          </a:p>
          <a:p/>
          <a:p>
            <a:r>
              <a:t>If someone asks about the other presets, speed to power puts Mayes, Oklahoma first, and</a:t>
            </a:r>
          </a:p>
          <a:p>
            <a:r>
              <a:t>sustainability first keeps Whitman first with Grant fourth.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Counties that pass, dry cooling, 1,565 [[CHECK]] (docs/figures/facts.json, balanced.passed)</a:t>
            </a:r>
          </a:p>
          <a:p>
            <a:r>
              <a:t>- Counties that pass, evaporative cooling, 826 [[CHECK]] (docs/deck_build_log.md step 4 and docs/demo_script.md, evaporative cooling step)</a:t>
            </a:r>
          </a:p>
          <a:p>
            <a:r>
              <a:t>- Counties with no weak factor, evaporative, 502 [[CHECK]] (docs/deck_build_log.md step 4 and docs/demo_script.md, evaporative cooling step)</a:t>
            </a:r>
          </a:p>
          <a:p>
            <a:r>
              <a:t>- Grant water stress, 3.6 of 5 [[CHECK]] (docs/figures/facts.json, featured.horizon_2050_raw.water_stress_bws.today)</a:t>
            </a:r>
          </a:p>
          <a:p>
            <a:r>
              <a:t>- First place under evaporative cooling, Whitman, WA [[CHECK]] (docs/deck_build_log.md step 4)</a:t>
            </a:r>
          </a:p>
          <a:p>
            <a:r>
              <a:t>- Preset leaders, speed_to_power Mayes OK, sustainability_first Whitman WA with Grant 4th [[CHECK]] (docs/figures/facts.json and docs/deck.md, presets)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seven factors, Berkshire County, Massachusetts ranked first and Grant seventh. Massachusetts closed the tax break Berkshire relied on, and it fell to</a:t>
            </a:r>
          </a:p>
          <a:p>
            <a:r>
              <a:t>27th. When we added the cost of power as its own factor, Grant rose to first and Berkshire fell</a:t>
            </a:r>
          </a:p>
          <a:p>
            <a:r>
              <a:t>to 1,164th. Then the price check cut against us. A new load this size won't get today's</a:t>
            </a:r>
          </a:p>
          <a:p>
            <a:r>
              <a:t>average price, and if only Washington pays BPA's new-load rate, Grant falls to 77th.</a:t>
            </a:r>
          </a:p>
          <a:p>
            <a:r>
              <a:t>We also tested a machine-learning model of permitting outcomes and dropped it, because out of</a:t>
            </a:r>
          </a:p>
          <a:p>
            <a:r>
              <a:t>sample it did no better than chance.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Berkshire ranks by step, 1 / 27 / 1164 [[CHECK]] (docs/figures/facts.json, pick_story.ranks['Berkshire, MA'])</a:t>
            </a:r>
          </a:p>
          <a:p>
            <a:r>
              <a:t>- Grant ranks by step, 7 / 7 / 1 [[CHECK]] (docs/figures/facts.json, pick_story.ranks['Grant, WA'])</a:t>
            </a:r>
          </a:p>
          <a:p>
            <a:r>
              <a:t>- Grant rank with only WA at BPA's $80 per MWh, 77 [[CHECK]] (docs/deck_build_log.md, step 4 price rerun)</a:t>
            </a:r>
          </a:p>
          <a:p>
            <a:r>
              <a:t>- Grant energy cost at BPA's new-load rate, $196M to $323M a year [[CHECK]] (docs/figures/facts.json, grant_ranges.energy_cost_musd)</a:t>
            </a:r>
          </a:p>
          <a:p>
            <a:r>
              <a:t>- Permitting model AUC without facility counts, 0.48 to 0.585, below a 0.60 bar [[CHECK]] (research/permitting_model.md)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Scores out of 100 can hide physical differences. At regional grid rates, Franklin County, New York</a:t>
            </a:r>
          </a:p>
          <a:p>
            <a:r>
              <a:t>emits 2.7 times less CO2 than Grant, yet their carbon scores are 80.4 and 70.4, the</a:t>
            </a:r>
          </a:p>
          <a:p>
            <a:r>
              <a:t>99th and 94th percentiles. So for the leaders we also price everything in dollars and</a:t>
            </a:r>
          </a:p>
          <a:p>
            <a:r>
              <a:t>tonnes over 25 years. In that model energy and carbon carry 67 to 88 percent of the cost differences</a:t>
            </a:r>
          </a:p>
          <a:p>
            <a:r>
              <a:t>between counties, depending on the carbon price. Our balanced weights give them about 30 percent.</a:t>
            </a:r>
          </a:p>
          <a:p/>
          <a:p>
            <a:r>
              <a:t>If someone asks, with BPA-like supply Grant drops to about 236 thousand</a:t>
            </a:r>
          </a:p>
          <a:p>
            <a:r>
              <a:t>tons, below Franklin.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Carbon score, Grant, 70.4 (93.6th percentile) [[CHECK]] (docs/deck_build_log.md, step 4)</a:t>
            </a:r>
          </a:p>
          <a:p>
            <a:r>
              <a:t>- Carbon score, Franklin, 80.4 (98.7th percentile) [[CHECK]] (docs/deck_build_log.md, step 4)</a:t>
            </a:r>
          </a:p>
          <a:p>
            <a:r>
              <a:t>- CO2, Grant at the regional average, 700,390 t a year [[CHECK]] (docs/figures/facts.json, grant_ranges.co2_tonnes.nwpp_table)</a:t>
            </a:r>
          </a:p>
          <a:p>
            <a:r>
              <a:t>- CO2, Franklin, 262,168 t a year [[CHECK]] (research/impact.md, dry cooling table)</a:t>
            </a:r>
          </a:p>
          <a:p>
            <a:r>
              <a:t>- Energy and carbon share of cost differences, 67%, 78%, 88% at $0, $190, $300 per ton, published source (docs/weighting.md, Variance shares)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25-year dollar model, Clark, Grant, and Franklin land within 1.1 percent of each other at</a:t>
            </a:r>
          </a:p>
          <a:p>
            <a:r>
              <a:t>today's prices, so the model can't separate them. Grant wins if its power arrives within about a year</a:t>
            </a:r>
          </a:p>
          <a:p>
            <a:r>
              <a:t>of a two-year baseline. Clark wins if its parcel avoids the transit district's higher sales tax and it</a:t>
            </a:r>
          </a:p>
          <a:p>
            <a:r>
              <a:t>gets power in about two and a quarter years. Franklin wins if New York's data center tax exemption</a:t>
            </a:r>
          </a:p>
          <a:p>
            <a:r>
              <a:t>applies, which probably doesn't cover an AI training campus. None of the three has a land conflict</a:t>
            </a:r>
          </a:p>
          <a:p>
            <a:r>
              <a:t>at its reference site.</a:t>
            </a:r>
          </a:p>
          <a:p/>
          <a:p>
            <a:r>
              <a:t>If someone asks about cheaper states, with sales tax the states that exempt all equipment price</a:t>
            </a:r>
          </a:p>
          <a:p>
            <a:r>
              <a:t>cheaper, but those flags in our state table aren't verified.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- 25-year cost, Clark, WA, $4.405B [[CHECK]] (docs/weighting.md, Recommendation table)</a:t>
            </a:r>
          </a:p>
          <a:p>
            <a:r>
              <a:t>- 25-year cost, Grant, WA, $4.452B [[CHECK]] (docs/weighting.md, Recommendation table)</a:t>
            </a:r>
          </a:p>
          <a:p>
            <a:r>
              <a:t>- 25-year cost, Franklin, NY, $4.454B [[CHECK]] (docs/weighting.md, Recommendation table)</a:t>
            </a:r>
          </a:p>
          <a:p>
            <a:r>
              <a:t>- Grant break-even with Clark and Franklin, 10.2 and 12.1 months [[CHECK]] (docs/weighting.md, Grant's row)</a:t>
            </a:r>
          </a:p>
          <a:p>
            <a:r>
              <a:t>- Franklin share inside the Adirondack Park, 68% [[CHECK]] (research/sensitive_land.md, Franklin County)</a:t>
            </a:r>
          </a:p>
          <a:p>
            <a:r>
              <a:t>- Malone distance to the Blue Line, 6.1 km [[CHECK]] (research/sensitive_land.md, Franklin County)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3,109 counties are scored from public sources joined into one county table. This round</a:t>
            </a:r>
          </a:p>
          <a:p>
            <a:r>
              <a:t>added USGS protected areas, NLCD land cover, and Census tribal boundaries. Four inputs are proxies,</a:t>
            </a:r>
          </a:p>
          <a:p>
            <a:r>
              <a:t>and we say so. Home fiber stands in for backbone fiber, plants within 100 kilometers stand in for</a:t>
            </a:r>
          </a:p>
          <a:p>
            <a:r>
              <a:t>power a new load can actually get, a state average price stands in for what a new load pays, and a</a:t>
            </a:r>
          </a:p>
          <a:p>
            <a:r>
              <a:t>heat-demand score stands in for heat reuse. 39 of</a:t>
            </a:r>
          </a:p>
          <a:p>
            <a:r>
              <a:t>45 planned columns have data, so coverage across the top 10 is</a:t>
            </a:r>
          </a:p>
          <a:p>
            <a:r>
              <a:t>84 to 87 percent.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Counties, 3,109 [[CHECK]] (docs/figures/facts.json, balanced.counties)</a:t>
            </a:r>
          </a:p>
          <a:p>
            <a:r>
              <a:t>- Columns with data, of those planned, 39 of 45 [[CHECK]] (docs/figures/facts.json, limitations.scored_columns_present and scored_columns_mapped)</a:t>
            </a:r>
          </a:p>
          <a:p>
            <a:r>
              <a:t>- Coverage across the top 10, 0.84 to 0.87 [[CHECK]] (docs/figures/facts.json, limitations.coverage_top10)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limits matter most. First, protected land, tribal land, and land cover are county shares. They're</a:t>
            </a:r>
          </a:p>
          <a:p>
            <a:r>
              <a:t>a screen, not a siting check. A 150-acre campus can avoid protected land inside a county, so parcel</a:t>
            </a:r>
          </a:p>
          <a:p>
            <a:r>
              <a:t>checks belong in feasibility. Second, scoring against the nation stretches small gaps. Whitman is 0.2</a:t>
            </a:r>
          </a:p>
          <a:p>
            <a:r>
              <a:t>percent protected and Grant 12.8 percent, and that ends up about 89 percentile points apart. Third,</a:t>
            </a:r>
          </a:p>
          <a:p>
            <a:r>
              <a:t>Grant leads Whitman by 0.01 points, which is a tie. The engine also sees installed</a:t>
            </a:r>
          </a:p>
          <a:p>
            <a:r>
              <a:t>generation and average prices, which a new 300 megawatt load won't get.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Grant lead over Whitman, 0.01 points [[CHECK]] (results/balanced.csv, composite)</a:t>
            </a:r>
          </a:p>
          <a:p>
            <a:r>
              <a:t>- Protected share, Whitman and Grant, 0.2% and 12.8%, about 89 percentile points apart [[CHECK]] (research/sensitive_land.md, County shares in the engine)</a:t>
            </a:r>
          </a:p>
          <a:p>
            <a:r>
              <a:t>- Plant capacity within 100 km of Grant, 16,193 MW [[CHECK]] (docs/figures/facts.json, limitations.featured_plant_capacity_mw_100km)</a:t>
            </a:r>
          </a:p>
          <a:p>
            <a:r>
              <a:t>- Loudoun VA, fails the queue age limit (max_queue_median_age_years) [[CHECK]] (docs/figures/facts.json, limitations.loudoun_va)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extensions. The same engine ranked 196 countries after about 40 lines of change, and</a:t>
            </a:r>
          </a:p>
          <a:p>
            <a:r>
              <a:t>83 pass the limits, led by Sweden, Switzerland, and Norway. That shows the method carries to</a:t>
            </a:r>
          </a:p>
          <a:p>
            <a:r>
              <a:t>another region. It isn't a country recommendation, because there's no open global power price. The</a:t>
            </a:r>
          </a:p>
          <a:p>
            <a:r>
              <a:t>second extension adds unscored context after the ranking. Boone County, Illinois lost almost three</a:t>
            </a:r>
          </a:p>
          <a:p>
            <a:r>
              <a:t>quarters of its manufacturing jobs after the Belvidere plant went idle. Economic need isn't evidence</a:t>
            </a:r>
          </a:p>
          <a:p>
            <a:r>
              <a:t>of community support, so local engagement is still required.</a:t>
            </a:r>
          </a:p>
          <a:p/>
          <a:p>
            <a:r>
              <a:t>Where the numbers come from. [[CHECK]] marks a number that could change tonight.</a:t>
            </a:r>
          </a:p>
          <a:p>
            <a:r>
              <a:t>- Countries, passing, and with no weak factor, 196, 83, 55 [[CHECK]] (docs/figures/facts.json, global)</a:t>
            </a:r>
          </a:p>
          <a:p>
            <a:r>
              <a:t>- US global rank, 58 of 83 [[CHECK]] (docs/figures/facts.json, global.us)</a:t>
            </a:r>
          </a:p>
          <a:p>
            <a:r>
              <a:t>- Boone IL manufacturing jobs, 7,761 in 2015 to 2,070 in 2024 [[CHECK]] (docs/demo_script.md, Stage 2 table)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Where AI data centers get built locks in their carbon, water, and costs for decades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Data from Lawrence Berkeley National Laboratory, 2024 United States Data Center Energy Usage Report, and New York Executive Order 62 (July 2026). Grid carbon range from research/impact.md. Links in docs/deck/sources.md.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1</a:t>
            </a:r>
          </a:p>
        </p:txBody>
      </p:sp>
      <p:sp>
        <p:nvSpPr>
          <p:cNvPr id="7" name="Quote"/>
          <p:cNvSpPr/>
          <p:nvPr/>
        </p:nvSpPr>
        <p:spPr>
          <a:xfrm>
            <a:off x="548640" y="1874519"/>
            <a:ext cx="5212080" cy="224028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Quote bar"/>
          <p:cNvSpPr/>
          <p:nvPr/>
        </p:nvSpPr>
        <p:spPr>
          <a:xfrm>
            <a:off x="548640" y="1874519"/>
            <a:ext cx="73152" cy="2240280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Quote text"/>
          <p:cNvSpPr txBox="1"/>
          <p:nvPr/>
        </p:nvSpPr>
        <p:spPr>
          <a:xfrm>
            <a:off x="822960" y="1965959"/>
            <a:ext cx="4754880" cy="2057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100" b="0" i="0">
                <a:solidFill>
                  <a:srgbClr val="111518"/>
                </a:solidFill>
                <a:latin typeface="Arial"/>
              </a:rPr>
              <a:t>“New Yorkers have expressed legitimate concerns regarding the potential impacts of the siting and operation of data centers on energy use, water use, water quality…”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46505A"/>
                </a:solidFill>
                <a:latin typeface="Arial"/>
              </a:rPr>
              <a:t>New York Executive Order 62, July 2026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48640" y="4343399"/>
            <a:ext cx="5212080" cy="1645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0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100" b="0" i="0">
                <a:solidFill>
                  <a:srgbClr val="111518"/>
                </a:solidFill>
                <a:latin typeface="Arial"/>
              </a:rPr>
              <a:t>A campus built today will run for 20 to 30 years.</a:t>
            </a:r>
          </a:p>
          <a:p>
            <a:pPr marL="292608" indent="-292608">
              <a:lnSpc>
                <a:spcPct val="105000"/>
              </a:lnSpc>
              <a:spcAft>
                <a:spcPts val="10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100" b="0" i="0">
                <a:solidFill>
                  <a:srgbClr val="111518"/>
                </a:solidFill>
                <a:latin typeface="Arial"/>
              </a:rPr>
              <a:t>Grid carbon varies about fourfold between the counties we scored.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26480" y="1874519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Our tool ranks all 3,109 counties for the project you describe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Screenshot from the team's Streamlit app (app/app.py) with the balanced preset. Counts from docs/figures/facts.json. Weights from engine/conditions/balanced.yaml.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2</a:t>
            </a:r>
          </a:p>
        </p:txBody>
      </p:sp>
      <p:pic>
        <p:nvPicPr>
          <p:cNvPr id="7" name="Picture 6" descr="app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799"/>
            <a:ext cx="4755873" cy="3017520"/>
          </a:xfrm>
          <a:prstGeom prst="rect">
            <a:avLst/>
          </a:prstGeom>
          <a:ln w="12700">
            <a:solidFill>
              <a:srgbClr val="D3D8D6"/>
            </a:solidFill>
          </a:ln>
        </p:spPr>
      </p:pic>
      <p:sp>
        <p:nvSpPr>
          <p:cNvPr id="8" name="Step 1"/>
          <p:cNvSpPr/>
          <p:nvPr/>
        </p:nvSpPr>
        <p:spPr>
          <a:xfrm>
            <a:off x="5624553" y="1828799"/>
            <a:ext cx="6018502" cy="672084"/>
          </a:xfrm>
          <a:prstGeom prst="roundRect">
            <a:avLst>
              <a:gd name="adj" fmla="val 12000"/>
            </a:avLst>
          </a:prstGeom>
          <a:solidFill>
            <a:srgbClr val="0B3C6F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3,109 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counties in the lower 48</a:t>
            </a:r>
          </a:p>
        </p:txBody>
      </p:sp>
      <p:sp>
        <p:nvSpPr>
          <p:cNvPr id="9" name="Step 2"/>
          <p:cNvSpPr/>
          <p:nvPr/>
        </p:nvSpPr>
        <p:spPr>
          <a:xfrm>
            <a:off x="5624553" y="2610611"/>
            <a:ext cx="6018502" cy="672084"/>
          </a:xfrm>
          <a:prstGeom prst="roundRect">
            <a:avLst>
              <a:gd name="adj" fmla="val 12000"/>
            </a:avLst>
          </a:prstGeom>
          <a:solidFill>
            <a:srgbClr val="0B3C6F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1,565 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pass hard limits like flood risk and fiber</a:t>
            </a:r>
          </a:p>
        </p:txBody>
      </p:sp>
      <p:sp>
        <p:nvSpPr>
          <p:cNvPr id="10" name="Step 3"/>
          <p:cNvSpPr/>
          <p:nvPr/>
        </p:nvSpPr>
        <p:spPr>
          <a:xfrm>
            <a:off x="5624553" y="3392423"/>
            <a:ext cx="6018502" cy="672084"/>
          </a:xfrm>
          <a:prstGeom prst="roundRect">
            <a:avLst>
              <a:gd name="adj" fmla="val 12000"/>
            </a:avLst>
          </a:prstGeom>
          <a:solidFill>
            <a:srgbClr val="0B3C6F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883 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have no weak spot across eight factors</a:t>
            </a:r>
          </a:p>
        </p:txBody>
      </p:sp>
      <p:sp>
        <p:nvSpPr>
          <p:cNvPr id="11" name="Step 4"/>
          <p:cNvSpPr/>
          <p:nvPr/>
        </p:nvSpPr>
        <p:spPr>
          <a:xfrm>
            <a:off x="5624553" y="4174235"/>
            <a:ext cx="6018502" cy="672084"/>
          </a:xfrm>
          <a:prstGeom prst="roundRect">
            <a:avLst>
              <a:gd name="adj" fmla="val 12000"/>
            </a:avLst>
          </a:prstGeom>
          <a:solidFill>
            <a:srgbClr val="4F82BD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Shortlist 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ranked, with the reasons behind each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79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46505A"/>
                </a:solidFill>
                <a:latin typeface="Arial"/>
              </a:rPr>
              <a:t>Eight factors, weighted however you choose. These are our balanced weights.</a:t>
            </a:r>
          </a:p>
        </p:txBody>
      </p:sp>
      <p:sp>
        <p:nvSpPr>
          <p:cNvPr id="13" name="Factor Energy &amp; carbon"/>
          <p:cNvSpPr/>
          <p:nvPr/>
        </p:nvSpPr>
        <p:spPr>
          <a:xfrm>
            <a:off x="548640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B86200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Energy and carbon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14" name="Factor Water"/>
          <p:cNvSpPr/>
          <p:nvPr/>
        </p:nvSpPr>
        <p:spPr>
          <a:xfrm>
            <a:off x="1946871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14758F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Water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12%</a:t>
            </a:r>
          </a:p>
        </p:txBody>
      </p:sp>
      <p:sp>
        <p:nvSpPr>
          <p:cNvPr id="15" name="Factor Climate"/>
          <p:cNvSpPr/>
          <p:nvPr/>
        </p:nvSpPr>
        <p:spPr>
          <a:xfrm>
            <a:off x="3345102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B0303F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Climate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12%</a:t>
            </a:r>
          </a:p>
        </p:txBody>
      </p:sp>
      <p:sp>
        <p:nvSpPr>
          <p:cNvPr id="16" name="Factor Grid"/>
          <p:cNvSpPr/>
          <p:nvPr/>
        </p:nvSpPr>
        <p:spPr>
          <a:xfrm>
            <a:off x="4743333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5B4BA0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Grid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17" name="Factor Land"/>
          <p:cNvSpPr/>
          <p:nvPr/>
        </p:nvSpPr>
        <p:spPr>
          <a:xfrm>
            <a:off x="6141564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5E6E12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Land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7%</a:t>
            </a:r>
          </a:p>
        </p:txBody>
      </p:sp>
      <p:sp>
        <p:nvSpPr>
          <p:cNvPr id="18" name="Factor Community"/>
          <p:cNvSpPr/>
          <p:nvPr/>
        </p:nvSpPr>
        <p:spPr>
          <a:xfrm>
            <a:off x="7539795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23804F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Community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9%</a:t>
            </a:r>
          </a:p>
        </p:txBody>
      </p:sp>
      <p:sp>
        <p:nvSpPr>
          <p:cNvPr id="19" name="Factor Permitting"/>
          <p:cNvSpPr/>
          <p:nvPr/>
        </p:nvSpPr>
        <p:spPr>
          <a:xfrm>
            <a:off x="8938026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86523A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Permitting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20" name="Factor Cost of power"/>
          <p:cNvSpPr/>
          <p:nvPr/>
        </p:nvSpPr>
        <p:spPr>
          <a:xfrm>
            <a:off x="10336257" y="5394959"/>
            <a:ext cx="1306791" cy="731520"/>
          </a:xfrm>
          <a:prstGeom prst="roundRect">
            <a:avLst>
              <a:gd name="adj" fmla="val 12000"/>
            </a:avLst>
          </a:prstGeom>
          <a:solidFill>
            <a:srgbClr val="9A3A8C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Cost of power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4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It now accounts for protected land, farmland, and wetlands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Protected land from USGS PAD-US 4.1, land cover from NLCD 2021 through IPUMS NHGIS, tribal land from Census TIGER 2024. Grant's scores from docs/figures/facts.json and research/sensitive_land.md.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799"/>
          <a:ext cx="58521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Bullets"/>
          <p:cNvSpPr txBox="1"/>
          <p:nvPr/>
        </p:nvSpPr>
        <p:spPr>
          <a:xfrm>
            <a:off x="6766560" y="1920239"/>
            <a:ext cx="4876495" cy="3200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Protected land, farmland, and built-up land lower the land score.</a:t>
            </a:r>
          </a:p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Forests and wetlands mean more permits, which lowers permitting.</a:t>
            </a:r>
          </a:p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Users can also rule out protected or tribal land entirely.</a:t>
            </a:r>
          </a:p>
        </p:txBody>
      </p:sp>
      <p:sp>
        <p:nvSpPr>
          <p:cNvPr id="9" name="Band"/>
          <p:cNvSpPr/>
          <p:nvPr/>
        </p:nvSpPr>
        <p:spPr>
          <a:xfrm>
            <a:off x="548640" y="5577839"/>
            <a:ext cx="11094415" cy="566928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ctr"/>
            <a:r>
              <a:rPr sz="1700" b="1" i="0">
                <a:solidFill>
                  <a:srgbClr val="0B3C6F"/>
                </a:solidFill>
                <a:latin typeface="Arial"/>
              </a:rPr>
              <a:t>Building on farmland spares wild habitat but uses up cropland. The tool lets you weigh both.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With balanced weights, two counties in eastern Washington tie for first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Team engine, balanced preset (results/balanced.csv, docs/figures/facts.json). Map from docs/figures/map_composite.png. Grant PUD data center FAQ, August 2026.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map_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12" y="1828799"/>
            <a:ext cx="5340415" cy="4206240"/>
          </a:xfrm>
          <a:prstGeom prst="rect">
            <a:avLst/>
          </a:prstGeom>
        </p:spPr>
      </p:pic>
      <p:sp>
        <p:nvSpPr>
          <p:cNvPr id="8" name="Map title"/>
          <p:cNvSpPr/>
          <p:nvPr/>
        </p:nvSpPr>
        <p:spPr>
          <a:xfrm>
            <a:off x="804512" y="1828799"/>
            <a:ext cx="5340415" cy="269264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l"/>
            <a:r>
              <a:rPr sz="1600" b="1" i="0">
                <a:solidFill>
                  <a:srgbClr val="111518"/>
                </a:solidFill>
                <a:latin typeface="Arial"/>
              </a:rPr>
              <a:t>Grant and Whitman circled</a:t>
            </a:r>
          </a:p>
        </p:txBody>
      </p:sp>
      <p:sp>
        <p:nvSpPr>
          <p:cNvPr id="9" name="Leaders ring"/>
          <p:cNvSpPr/>
          <p:nvPr/>
        </p:nvSpPr>
        <p:spPr>
          <a:xfrm>
            <a:off x="1492032" y="2440489"/>
            <a:ext cx="566928" cy="384048"/>
          </a:xfrm>
          <a:prstGeom prst="ellipse">
            <a:avLst/>
          </a:prstGeom>
          <a:noFill/>
          <a:ln w="38100">
            <a:solidFill>
              <a:srgbClr val="D953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p legend"/>
          <p:cNvSpPr/>
          <p:nvPr/>
        </p:nvSpPr>
        <p:spPr>
          <a:xfrm>
            <a:off x="877947" y="5263962"/>
            <a:ext cx="3427004" cy="252945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l"/>
            <a:r>
              <a:rPr sz="1400" b="0" i="0">
                <a:solidFill>
                  <a:srgbClr val="46505A"/>
                </a:solidFill>
                <a:latin typeface="Arial"/>
              </a:rPr>
              <a:t>Grey counties fail a hard limit</a:t>
            </a:r>
          </a:p>
        </p:txBody>
      </p:sp>
      <p:sp>
        <p:nvSpPr>
          <p:cNvPr id="11" name="Condition"/>
          <p:cNvSpPr/>
          <p:nvPr/>
        </p:nvSpPr>
        <p:spPr>
          <a:xfrm>
            <a:off x="6720840" y="1874519"/>
            <a:ext cx="4922215" cy="1371600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 wrap="square" lIns="201168" rIns="201168" tIns="36576" bIns="36576"/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Our example is Grant. It works only if the campus is sited next to hydro, powered by new clean supply the project funds.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6720840" y="3520439"/>
            <a:ext cx="4922215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2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Grant scores 63.70 and Whitman 63.69 out of 100.</a:t>
            </a:r>
          </a:p>
          <a:p>
            <a:pPr marL="292608" indent="-292608">
              <a:lnSpc>
                <a:spcPct val="105000"/>
              </a:lnSpc>
              <a:spcAft>
                <a:spcPts val="12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Under equal weights Whitman comes first and Grant second.</a:t>
            </a:r>
          </a:p>
          <a:p>
            <a:pPr marL="292608" indent="-292608">
              <a:lnSpc>
                <a:spcPct val="105000"/>
              </a:lnSpc>
              <a:spcAft>
                <a:spcPts val="12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Grant already hosts the Quincy data center cluster.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Different weights favor different counties, so the tool shows the spread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Top 10 shares from 5,000 random weightings of the eight factors (docs/figures/facts.json, computed by docs/figures/make_figures.py). Cost shares from the 25-year dollar model in docs/weighting.md.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799"/>
          <a:ext cx="603504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Bullets"/>
          <p:cNvSpPr txBox="1"/>
          <p:nvPr/>
        </p:nvSpPr>
        <p:spPr>
          <a:xfrm>
            <a:off x="6903720" y="1920239"/>
            <a:ext cx="4739335" cy="3108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No county makes the top 10 under most weightings.</a:t>
            </a:r>
          </a:p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Near our chosen weights, Grant stays in the top 10 (99.95%).</a:t>
            </a:r>
          </a:p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Energy and carbon drive most cost differences between counties.</a:t>
            </a:r>
          </a:p>
        </p:txBody>
      </p:sp>
      <p:sp>
        <p:nvSpPr>
          <p:cNvPr id="9" name="Band"/>
          <p:cNvSpPr/>
          <p:nvPr/>
        </p:nvSpPr>
        <p:spPr>
          <a:xfrm>
            <a:off x="548640" y="5440679"/>
            <a:ext cx="11094415" cy="566928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ctr"/>
            <a:r>
              <a:rPr sz="1800" b="1" i="0">
                <a:solidFill>
                  <a:srgbClr val="0B3C6F"/>
                </a:solidFill>
                <a:latin typeface="Arial"/>
              </a:rPr>
              <a:t>We didn't tune weights to get an answer. We tested how much it depends on them.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A dry-cooled campus in Grant would use 87% less water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Modeled with etl/impact.py (300 MW IT, load factor 0.8, PUE and WUE after Lei and Masanet) using eGRID2023. Quote from the Washington Data Center Workgroup preliminary report, December 2025.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799"/>
          <a:ext cx="5318607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24447" y="1828799"/>
          <a:ext cx="5318607" cy="2880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Quote"/>
          <p:cNvSpPr/>
          <p:nvPr/>
        </p:nvSpPr>
        <p:spPr>
          <a:xfrm>
            <a:off x="548640" y="4818887"/>
            <a:ext cx="5318607" cy="1261872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Quote bar"/>
          <p:cNvSpPr/>
          <p:nvPr/>
        </p:nvSpPr>
        <p:spPr>
          <a:xfrm>
            <a:off x="548640" y="4818887"/>
            <a:ext cx="73152" cy="1261872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Quote text"/>
          <p:cNvSpPr txBox="1"/>
          <p:nvPr/>
        </p:nvSpPr>
        <p:spPr>
          <a:xfrm>
            <a:off x="822960" y="4910327"/>
            <a:ext cx="4861407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111518"/>
                </a:solidFill>
                <a:latin typeface="Arial"/>
              </a:rPr>
              <a:t>“The direct water requirements of data centers can be substantial, depending on the size and type of cooling system used.”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46505A"/>
                </a:solidFill>
                <a:latin typeface="Arial"/>
              </a:rPr>
              <a:t>Washington Data Center Workgroup, Dec. 2025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6324447" y="4937759"/>
            <a:ext cx="5318607" cy="1005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1900" b="0" i="0">
                <a:solidFill>
                  <a:srgbClr val="111518"/>
                </a:solidFill>
                <a:latin typeface="Arial"/>
              </a:rPr>
              <a:t>Carbon depends on the clean power the project brings online.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Power is the biggest risk, so the project has to bring its own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Grant PUD data center FAQ, August 2026. Risk ratings from research/risk.md. Land check from research/sensitive_land.md (PAD-US 4.1, Census TIGER 2024). Timing from docs/weighting.md.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799"/>
          <a:ext cx="512064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isk High"/>
          <p:cNvSpPr/>
          <p:nvPr/>
        </p:nvSpPr>
        <p:spPr>
          <a:xfrm>
            <a:off x="5989320" y="2057399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D9532B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874519"/>
            <a:ext cx="4373575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Power. The dams are spoken for, and 800 MW of requests wait in line.</a:t>
            </a:r>
          </a:p>
        </p:txBody>
      </p:sp>
      <p:sp>
        <p:nvSpPr>
          <p:cNvPr id="10" name="Risk Medium"/>
          <p:cNvSpPr/>
          <p:nvPr/>
        </p:nvSpPr>
        <p:spPr>
          <a:xfrm>
            <a:off x="5989320" y="3127247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B86200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944367"/>
            <a:ext cx="4373575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Heat. Days above 95°F rise from 14 to 36 by 2050.</a:t>
            </a:r>
          </a:p>
        </p:txBody>
      </p:sp>
      <p:sp>
        <p:nvSpPr>
          <p:cNvPr id="12" name="Risk Low"/>
          <p:cNvSpPr/>
          <p:nvPr/>
        </p:nvSpPr>
        <p:spPr>
          <a:xfrm>
            <a:off x="5989320" y="4197095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23804F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4014215"/>
            <a:ext cx="4373575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Land. No protected land within 5 km, and tribal consultation starts early.</a:t>
            </a:r>
          </a:p>
        </p:txBody>
      </p:sp>
      <p:sp>
        <p:nvSpPr>
          <p:cNvPr id="14" name="Band"/>
          <p:cNvSpPr/>
          <p:nvPr/>
        </p:nvSpPr>
        <p:spPr>
          <a:xfrm>
            <a:off x="548640" y="5212079"/>
            <a:ext cx="11094415" cy="822960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The example holds only if full power arrives by about late 2029, near today's price.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The campus would grow with new transmission and new clean power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Plan from research/implementation.md (Columbia Basin Herald, Rye Development, RCW 19.405, ASHRAE liquid cooling classes, Ramboll on Odense). Quote from Grant PUD's data center FAQ, August 2026.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8</a:t>
            </a:r>
          </a:p>
        </p:txBody>
      </p:sp>
      <p:sp>
        <p:nvSpPr>
          <p:cNvPr id="7" name="Timeline"/>
          <p:cNvSpPr/>
          <p:nvPr/>
        </p:nvSpPr>
        <p:spPr>
          <a:xfrm>
            <a:off x="822960" y="2404109"/>
            <a:ext cx="10545775" cy="38100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Milestone 2027"/>
          <p:cNvSpPr/>
          <p:nvPr/>
        </p:nvSpPr>
        <p:spPr>
          <a:xfrm>
            <a:off x="1530065" y="2295143"/>
            <a:ext cx="256032" cy="256032"/>
          </a:xfrm>
          <a:prstGeom prst="ellipse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Year 2027"/>
          <p:cNvSpPr txBox="1"/>
          <p:nvPr/>
        </p:nvSpPr>
        <p:spPr>
          <a:xfrm>
            <a:off x="548640" y="1737359"/>
            <a:ext cx="2218883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B3C6F"/>
                </a:solidFill>
                <a:latin typeface="Arial"/>
              </a:rPr>
              <a:t>2027</a:t>
            </a:r>
          </a:p>
        </p:txBody>
      </p:sp>
      <p:sp>
        <p:nvSpPr>
          <p:cNvPr id="10" name="Milestone text 2027"/>
          <p:cNvSpPr txBox="1"/>
          <p:nvPr/>
        </p:nvSpPr>
        <p:spPr>
          <a:xfrm>
            <a:off x="621792" y="2624327"/>
            <a:ext cx="207257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>
                <a:solidFill>
                  <a:srgbClr val="111518"/>
                </a:solidFill>
                <a:latin typeface="Arial"/>
              </a:rPr>
              <a:t>Quincy transmission upgrade, first phase online</a:t>
            </a:r>
          </a:p>
        </p:txBody>
      </p:sp>
      <p:sp>
        <p:nvSpPr>
          <p:cNvPr id="11" name="Milestone 2029"/>
          <p:cNvSpPr/>
          <p:nvPr/>
        </p:nvSpPr>
        <p:spPr>
          <a:xfrm>
            <a:off x="3748948" y="2295143"/>
            <a:ext cx="256032" cy="256032"/>
          </a:xfrm>
          <a:prstGeom prst="ellipse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Year 2029"/>
          <p:cNvSpPr txBox="1"/>
          <p:nvPr/>
        </p:nvSpPr>
        <p:spPr>
          <a:xfrm>
            <a:off x="2767523" y="1737359"/>
            <a:ext cx="2218883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B3C6F"/>
                </a:solidFill>
                <a:latin typeface="Arial"/>
              </a:rPr>
              <a:t>2029</a:t>
            </a:r>
          </a:p>
        </p:txBody>
      </p:sp>
      <p:sp>
        <p:nvSpPr>
          <p:cNvPr id="13" name="Milestone text 2029"/>
          <p:cNvSpPr txBox="1"/>
          <p:nvPr/>
        </p:nvSpPr>
        <p:spPr>
          <a:xfrm>
            <a:off x="2840675" y="2624327"/>
            <a:ext cx="207257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>
                <a:solidFill>
                  <a:srgbClr val="111518"/>
                </a:solidFill>
                <a:latin typeface="Arial"/>
              </a:rPr>
              <a:t>Wanapum to Quincy line, grow toward 300 MW</a:t>
            </a:r>
          </a:p>
        </p:txBody>
      </p:sp>
      <p:sp>
        <p:nvSpPr>
          <p:cNvPr id="14" name="Milestone 2030"/>
          <p:cNvSpPr/>
          <p:nvPr/>
        </p:nvSpPr>
        <p:spPr>
          <a:xfrm>
            <a:off x="5967831" y="2295143"/>
            <a:ext cx="256032" cy="256032"/>
          </a:xfrm>
          <a:prstGeom prst="ellipse">
            <a:avLst/>
          </a:prstGeom>
          <a:solidFill>
            <a:srgbClr val="4F8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Year 2030"/>
          <p:cNvSpPr txBox="1"/>
          <p:nvPr/>
        </p:nvSpPr>
        <p:spPr>
          <a:xfrm>
            <a:off x="4986406" y="1737359"/>
            <a:ext cx="2218883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B3C6F"/>
                </a:solidFill>
                <a:latin typeface="Arial"/>
              </a:rPr>
              <a:t>2030</a:t>
            </a:r>
          </a:p>
        </p:txBody>
      </p:sp>
      <p:sp>
        <p:nvSpPr>
          <p:cNvPr id="16" name="Milestone text 2030"/>
          <p:cNvSpPr txBox="1"/>
          <p:nvPr/>
        </p:nvSpPr>
        <p:spPr>
          <a:xfrm>
            <a:off x="5059558" y="2624327"/>
            <a:ext cx="207257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>
                <a:solidFill>
                  <a:srgbClr val="111518"/>
                </a:solidFill>
                <a:latin typeface="Arial"/>
              </a:rPr>
              <a:t>State law requires carbon-neutral utility sales</a:t>
            </a:r>
          </a:p>
        </p:txBody>
      </p:sp>
      <p:sp>
        <p:nvSpPr>
          <p:cNvPr id="17" name="Milestone 2030s"/>
          <p:cNvSpPr/>
          <p:nvPr/>
        </p:nvSpPr>
        <p:spPr>
          <a:xfrm>
            <a:off x="8186714" y="2295143"/>
            <a:ext cx="256032" cy="256032"/>
          </a:xfrm>
          <a:prstGeom prst="ellipse">
            <a:avLst/>
          </a:prstGeom>
          <a:solidFill>
            <a:srgbClr val="4F8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Year 2030s"/>
          <p:cNvSpPr txBox="1"/>
          <p:nvPr/>
        </p:nvSpPr>
        <p:spPr>
          <a:xfrm>
            <a:off x="7205289" y="1737359"/>
            <a:ext cx="2218883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B3C6F"/>
                </a:solidFill>
                <a:latin typeface="Arial"/>
              </a:rPr>
              <a:t>2030s</a:t>
            </a:r>
          </a:p>
        </p:txBody>
      </p:sp>
      <p:sp>
        <p:nvSpPr>
          <p:cNvPr id="19" name="Milestone text 2030s"/>
          <p:cNvSpPr txBox="1"/>
          <p:nvPr/>
        </p:nvSpPr>
        <p:spPr>
          <a:xfrm>
            <a:off x="7278441" y="2624327"/>
            <a:ext cx="207257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>
                <a:solidFill>
                  <a:srgbClr val="111518"/>
                </a:solidFill>
                <a:latin typeface="Arial"/>
              </a:rPr>
              <a:t>Firm clean power such as pumped storage</a:t>
            </a:r>
          </a:p>
        </p:txBody>
      </p:sp>
      <p:sp>
        <p:nvSpPr>
          <p:cNvPr id="20" name="Milestone 2045"/>
          <p:cNvSpPr/>
          <p:nvPr/>
        </p:nvSpPr>
        <p:spPr>
          <a:xfrm>
            <a:off x="10405597" y="2295143"/>
            <a:ext cx="256032" cy="256032"/>
          </a:xfrm>
          <a:prstGeom prst="ellipse">
            <a:avLst/>
          </a:prstGeom>
          <a:solidFill>
            <a:srgbClr val="4F8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Year 2045"/>
          <p:cNvSpPr txBox="1"/>
          <p:nvPr/>
        </p:nvSpPr>
        <p:spPr>
          <a:xfrm>
            <a:off x="9424172" y="1737359"/>
            <a:ext cx="2218883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0B3C6F"/>
                </a:solidFill>
                <a:latin typeface="Arial"/>
              </a:rPr>
              <a:t>2045</a:t>
            </a:r>
          </a:p>
        </p:txBody>
      </p:sp>
      <p:sp>
        <p:nvSpPr>
          <p:cNvPr id="22" name="Milestone text 2045"/>
          <p:cNvSpPr txBox="1"/>
          <p:nvPr/>
        </p:nvSpPr>
        <p:spPr>
          <a:xfrm>
            <a:off x="9497324" y="2624327"/>
            <a:ext cx="2072579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>
                <a:solidFill>
                  <a:srgbClr val="111518"/>
                </a:solidFill>
                <a:latin typeface="Arial"/>
              </a:rPr>
              <a:t>State law requires 100% clean retail power</a:t>
            </a:r>
          </a:p>
        </p:txBody>
      </p:sp>
      <p:sp>
        <p:nvSpPr>
          <p:cNvPr id="23" name="Card Power"/>
          <p:cNvSpPr/>
          <p:nvPr/>
        </p:nvSpPr>
        <p:spPr>
          <a:xfrm>
            <a:off x="548640" y="3566159"/>
            <a:ext cx="3515258" cy="132588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 wrap="square" lIns="201168" rIns="201168" tIns="36576" bIns="36576"/>
          <a:lstStyle/>
          <a:p>
            <a:pPr algn="l"/>
            <a:r>
              <a:rPr sz="1600" b="1" i="0">
                <a:solidFill>
                  <a:srgbClr val="0B3C6F"/>
                </a:solidFill>
                <a:latin typeface="Arial"/>
              </a:rPr>
              <a:t>Power</a:t>
            </a:r>
          </a:p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About 1 GW of new solar to match yearly use</a:t>
            </a:r>
          </a:p>
        </p:txBody>
      </p:sp>
      <p:sp>
        <p:nvSpPr>
          <p:cNvPr id="24" name="Card rule"/>
          <p:cNvSpPr/>
          <p:nvPr/>
        </p:nvSpPr>
        <p:spPr>
          <a:xfrm>
            <a:off x="548640" y="3566159"/>
            <a:ext cx="3515258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ard Cooling"/>
          <p:cNvSpPr/>
          <p:nvPr/>
        </p:nvSpPr>
        <p:spPr>
          <a:xfrm>
            <a:off x="4338218" y="3566159"/>
            <a:ext cx="3515258" cy="132588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 wrap="square" lIns="201168" rIns="201168" tIns="36576" bIns="36576"/>
          <a:lstStyle/>
          <a:p>
            <a:pPr algn="l"/>
            <a:r>
              <a:rPr sz="1600" b="1" i="0">
                <a:solidFill>
                  <a:srgbClr val="0B3C6F"/>
                </a:solidFill>
                <a:latin typeface="Arial"/>
              </a:rPr>
              <a:t>Cooling</a:t>
            </a:r>
          </a:p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Liquid cooling with dry coolers, about 28 million gallons a year</a:t>
            </a:r>
          </a:p>
        </p:txBody>
      </p:sp>
      <p:sp>
        <p:nvSpPr>
          <p:cNvPr id="26" name="Card rule"/>
          <p:cNvSpPr/>
          <p:nvPr/>
        </p:nvSpPr>
        <p:spPr>
          <a:xfrm>
            <a:off x="4338218" y="3566159"/>
            <a:ext cx="3515258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ard Heat"/>
          <p:cNvSpPr/>
          <p:nvPr/>
        </p:nvSpPr>
        <p:spPr>
          <a:xfrm>
            <a:off x="8127796" y="3566159"/>
            <a:ext cx="3515258" cy="132588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 wrap="square" lIns="201168" rIns="201168" tIns="36576" bIns="36576"/>
          <a:lstStyle/>
          <a:p>
            <a:pPr algn="l"/>
            <a:r>
              <a:rPr sz="1600" b="1" i="0">
                <a:solidFill>
                  <a:srgbClr val="0B3C6F"/>
                </a:solidFill>
                <a:latin typeface="Arial"/>
              </a:rPr>
              <a:t>Heat</a:t>
            </a:r>
          </a:p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Warm return water heats a neighboring food processor</a:t>
            </a:r>
          </a:p>
        </p:txBody>
      </p:sp>
      <p:sp>
        <p:nvSpPr>
          <p:cNvPr id="28" name="Card rule"/>
          <p:cNvSpPr/>
          <p:nvPr/>
        </p:nvSpPr>
        <p:spPr>
          <a:xfrm>
            <a:off x="8127796" y="3566159"/>
            <a:ext cx="3515258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Quote"/>
          <p:cNvSpPr/>
          <p:nvPr/>
        </p:nvSpPr>
        <p:spPr>
          <a:xfrm>
            <a:off x="548640" y="5029199"/>
            <a:ext cx="11094415" cy="105156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Quote bar"/>
          <p:cNvSpPr/>
          <p:nvPr/>
        </p:nvSpPr>
        <p:spPr>
          <a:xfrm>
            <a:off x="548640" y="5029199"/>
            <a:ext cx="73152" cy="1051560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Quote text"/>
          <p:cNvSpPr txBox="1"/>
          <p:nvPr/>
        </p:nvSpPr>
        <p:spPr>
          <a:xfrm>
            <a:off x="822960" y="5120639"/>
            <a:ext cx="10637215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111518"/>
                </a:solidFill>
                <a:latin typeface="Arial"/>
              </a:rPr>
              <a:t>“Large power users, including data centers, are responsible for paying the costs of additional generation, transmission, and distribution infrastructure needed specifically to serve their loads.”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46505A"/>
                </a:solidFill>
                <a:latin typeface="Arial"/>
              </a:rPr>
              <a:t>Grant County PUD, Aug.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1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Change one assumption and the tool gives a new answer with its reasons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Screenshot from the team's Streamlit app (app/app.py), balanced preset with evaporative cooling. Counts rerun with the engine (docs/deck_build_log.md step 4). Water stress from WRI Aqueduct 4.0.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app_cooling_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4999"/>
            <a:ext cx="5212080" cy="1447800"/>
          </a:xfrm>
          <a:prstGeom prst="rect">
            <a:avLst/>
          </a:prstGeom>
          <a:ln w="12700">
            <a:solidFill>
              <a:srgbClr val="D3D8D6"/>
            </a:solidFill>
          </a:ln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3566159"/>
          <a:ext cx="521208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Bullets"/>
          <p:cNvSpPr txBox="1"/>
          <p:nvPr/>
        </p:nvSpPr>
        <p:spPr>
          <a:xfrm>
            <a:off x="6126480" y="1920239"/>
            <a:ext cx="5516575" cy="3200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Evaporative cooling adds a limit on water stress.</a:t>
            </a:r>
          </a:p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Grant drops out, and the app shows which limit it failed.</a:t>
            </a:r>
          </a:p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000" b="0" i="0">
                <a:solidFill>
                  <a:srgbClr val="111518"/>
                </a:solidFill>
                <a:latin typeface="Arial"/>
              </a:rPr>
              <a:t>Whitman, with almost no water stress, moves to first.</a:t>
            </a:r>
          </a:p>
        </p:txBody>
      </p:sp>
      <p:sp>
        <p:nvSpPr>
          <p:cNvPr id="10" name="Band"/>
          <p:cNvSpPr/>
          <p:nvPr/>
        </p:nvSpPr>
        <p:spPr>
          <a:xfrm>
            <a:off x="548640" y="5486399"/>
            <a:ext cx="11094415" cy="685800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You set the conditions. The tool ranks every county and explains each result.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How our pick changed as we fixed the inputs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Ranks from docs/figures/facts.json (pick_story). Price rerun in docs/deck_build_log.md step 4. Permitting model results in research/permitting_model.md.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A1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194559"/>
          <a:ext cx="63093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1783079"/>
            <a:ext cx="6309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 i="0">
                <a:solidFill>
                  <a:srgbClr val="111518"/>
                </a:solidFill>
                <a:latin typeface="Arial"/>
              </a:rPr>
              <a:t>Rank at each step, log scale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7132320" y="1965959"/>
            <a:ext cx="4510735" cy="2926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2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1900" b="0" i="0">
                <a:solidFill>
                  <a:srgbClr val="111518"/>
                </a:solidFill>
                <a:latin typeface="Arial"/>
              </a:rPr>
              <a:t>Massachusetts closed a tax break, and Berkshire fell to 27th.</a:t>
            </a:r>
          </a:p>
          <a:p>
            <a:pPr marL="292608" indent="-292608">
              <a:lnSpc>
                <a:spcPct val="105000"/>
              </a:lnSpc>
              <a:spcAft>
                <a:spcPts val="12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1900" b="0" i="0">
                <a:solidFill>
                  <a:srgbClr val="111518"/>
                </a:solidFill>
                <a:latin typeface="Arial"/>
              </a:rPr>
              <a:t>Adding the cost of power moved Grant to first.</a:t>
            </a:r>
          </a:p>
          <a:p>
            <a:pPr marL="292608" indent="-292608">
              <a:lnSpc>
                <a:spcPct val="105000"/>
              </a:lnSpc>
              <a:spcAft>
                <a:spcPts val="12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1900" b="0" i="0">
                <a:solidFill>
                  <a:srgbClr val="111518"/>
                </a:solidFill>
                <a:latin typeface="Arial"/>
              </a:rPr>
              <a:t>Repricing only Washington at BPA's rate drops Grant to 77th.</a:t>
            </a:r>
          </a:p>
        </p:txBody>
      </p:sp>
      <p:sp>
        <p:nvSpPr>
          <p:cNvPr id="10" name="Dropped"/>
          <p:cNvSpPr/>
          <p:nvPr/>
        </p:nvSpPr>
        <p:spPr>
          <a:xfrm>
            <a:off x="7132320" y="4937759"/>
            <a:ext cx="4510735" cy="118872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/>
            <a:r>
              <a:rPr sz="1700" b="0" i="0">
                <a:solidFill>
                  <a:srgbClr val="111518"/>
                </a:solidFill>
                <a:latin typeface="Arial"/>
              </a:rPr>
              <a:t>We also tested a machine-learning model of permitting and dropped it. Out of sample it did no better than chance.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Why we also check the leaders in dollars and tons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Pillar scores from the engine on main c239868 (docs/deck_build_log.md step 4). CO2 from research/impact.md at eGRID2023 regional rates. Cost shares from the 25-year dollar model in docs/weighting.md.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A2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799"/>
          <a:ext cx="5318607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92039"/>
            <a:ext cx="5318607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Their carbon scores are 80 and 70, only 10 points apart.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24447" y="1828799"/>
          <a:ext cx="5318607" cy="2926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4447" y="4892039"/>
            <a:ext cx="5318607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0" i="0">
                <a:solidFill>
                  <a:srgbClr val="111518"/>
                </a:solidFill>
                <a:latin typeface="Arial"/>
              </a:rPr>
              <a:t>Dollars show what the scores flatten, so the two views check each other.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Clark WA and Franklin NY are the alternatives, each with a condition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25-year costs at $190 per ton CO2 with sales tax, at today's average prices (docs/weighting.md). Land checks from research/sensitive_land.md.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A3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799"/>
          <a:ext cx="1109441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737360"/>
                <a:gridCol w="3840480"/>
                <a:gridCol w="3687775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County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25-year cost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Wins if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Land check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Grant, WA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$4.452B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Full power arrives within about a year of baseline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Nearest protected land is 5.8 km from Quincy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Clark, WA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$4.405B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Its parcel avoids the transit tax and power comes in 2.25 years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Avoid the Gorge Scenic Area and the Ridgefield lowlands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Franklin, NY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$4.454B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New York's data center tax exemption applies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Malone sits 6.1 km outside the Adirondack Park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Bullets"/>
          <p:cNvSpPr txBox="1"/>
          <p:nvPr/>
        </p:nvSpPr>
        <p:spPr>
          <a:xfrm>
            <a:off x="548640" y="5074919"/>
            <a:ext cx="11094415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4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1900" b="0" i="0">
                <a:solidFill>
                  <a:srgbClr val="111518"/>
                </a:solidFill>
                <a:latin typeface="Arial"/>
              </a:rPr>
              <a:t>States that exempt all equipment look cheaper, but that is unverified.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Every county is scored from public data, and proxies are labeled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Sources and versions in data/processed/county_features.manifest.json. Column definitions in docs/schema.md and engine/pillars.yaml.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A4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79"/>
          <a:ext cx="1109441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76895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Sources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Energy and carbon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eGRID2023 subregions, LBNL interconnection queue, NREL WIND Toolkit, eGRID plants within 100 km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Water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US Drought Monitor, FEMA NRI, WRI Aqueduct 4.0, CMRA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Climate resilience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FEMA NRI loss rates, CMRA projections (LOCA-downscaled CMIP5)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Grid and infrastructure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LBNL queue, FCC fiber, FracTracker, EIA-860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Cost of power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EIA-861 state industrial prices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Land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Census TIGER, USGS PAD-US 4.1 protected areas, NLCD 2021 land cover via IPUMS NHGIS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Community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ACS, BLS LAUS, BEA 1969 employment, Census history since 1950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Permitting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EPA Green Book, state policy tables, NLCD forest and wetland cover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518"/>
                          </a:solidFill>
                          <a:latin typeface="Arial"/>
                        </a:rPr>
                        <a:t>Context and optional limits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518"/>
                          </a:solidFill>
                          <a:latin typeface="Arial"/>
                        </a:rPr>
                        <a:t>Census TIGER 2024 tribal boundaries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The tool screens counties. Choosing a parcel still takes site work.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From docs/deck.md (Limitations), docs/figures/facts.json, research/sensitive_land.md, research/risk.md, and docs/conditions.md.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A5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548640" y="1920239"/>
            <a:ext cx="6309360" cy="4114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92608" indent="-292608">
              <a:lnSpc>
                <a:spcPct val="105000"/>
              </a:lnSpc>
              <a:spcAft>
                <a:spcPts val="18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100" b="0" i="0">
                <a:solidFill>
                  <a:srgbClr val="111518"/>
                </a:solidFill>
                <a:latin typeface="Arial"/>
              </a:rPr>
              <a:t>Land shares are county screens, not parcel checks.</a:t>
            </a:r>
          </a:p>
          <a:p>
            <a:pPr marL="292608" indent="-292608">
              <a:lnSpc>
                <a:spcPct val="105000"/>
              </a:lnSpc>
              <a:spcAft>
                <a:spcPts val="18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100" b="0" i="0">
                <a:solidFill>
                  <a:srgbClr val="111518"/>
                </a:solidFill>
                <a:latin typeface="Arial"/>
              </a:rPr>
              <a:t>National percentiles stretch gaps, like 0.2% against 12.8% protected.</a:t>
            </a:r>
          </a:p>
          <a:p>
            <a:pPr marL="292608" indent="-292608">
              <a:lnSpc>
                <a:spcPct val="105000"/>
              </a:lnSpc>
              <a:spcAft>
                <a:spcPts val="1800"/>
              </a:spcAft>
              <a:buClr>
                <a:srgbClr val="0B3C6F"/>
              </a:buClr>
              <a:buSzPct val="100000"/>
              <a:buFont typeface="Arial"/>
              <a:buChar char="■"/>
            </a:pPr>
            <a:r>
              <a:rPr sz="2100" b="0" i="0">
                <a:solidFill>
                  <a:srgbClr val="111518"/>
                </a:solidFill>
                <a:latin typeface="Arial"/>
              </a:rPr>
              <a:t>Grant leads Whitman by 0.01 points, which is a tie.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0" y="1920239"/>
          <a:ext cx="441929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24735"/>
              </a:tblGrid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What the tool uses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What it stands in for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518"/>
                          </a:solidFill>
                          <a:latin typeface="Arial"/>
                        </a:rPr>
                        <a:t>Home fiber coverage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518"/>
                          </a:solidFill>
                          <a:latin typeface="Arial"/>
                        </a:rPr>
                        <a:t>Backbone fiber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518"/>
                          </a:solidFill>
                          <a:latin typeface="Arial"/>
                        </a:rPr>
                        <a:t>Plants within 100 km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518"/>
                          </a:solidFill>
                          <a:latin typeface="Arial"/>
                        </a:rPr>
                        <a:t>Power a new load can get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518"/>
                          </a:solidFill>
                          <a:latin typeface="Arial"/>
                        </a:rPr>
                        <a:t>State average price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518"/>
                          </a:solidFill>
                          <a:latin typeface="Arial"/>
                        </a:rPr>
                        <a:t>New-load rate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518"/>
                          </a:solidFill>
                          <a:latin typeface="Arial"/>
                        </a:rPr>
                        <a:t>Heat-demand score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518"/>
                          </a:solidFill>
                          <a:latin typeface="Arial"/>
                        </a:rPr>
                        <a:t>Heat reuse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518"/>
                          </a:solidFill>
                          <a:latin typeface="Arial"/>
                        </a:rPr>
                        <a:t>County protected share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518"/>
                          </a:solidFill>
                          <a:latin typeface="Arial"/>
                        </a:rPr>
                        <a:t>Protected land near a site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518"/>
                          </a:solidFill>
                          <a:latin typeface="Arial"/>
                        </a:rPr>
                        <a:t>State permitting values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518"/>
                          </a:solidFill>
                          <a:latin typeface="Arial"/>
                        </a:rPr>
                        <a:t>Local permitting risk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548640" y="384048"/>
            <a:ext cx="457200" cy="64008"/>
          </a:xfrm>
          <a:prstGeom prst="rect">
            <a:avLst/>
          </a:prstGeom>
          <a:solidFill>
            <a:srgbClr val="0B3C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Headline"/>
          <p:cNvSpPr txBox="1"/>
          <p:nvPr/>
        </p:nvSpPr>
        <p:spPr>
          <a:xfrm>
            <a:off x="548640" y="548640"/>
            <a:ext cx="11094415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11518"/>
                </a:solidFill>
                <a:latin typeface="Arial"/>
              </a:rPr>
              <a:t>The same engine works for other regions and other questions</a:t>
            </a:r>
          </a:p>
        </p:txBody>
      </p:sp>
      <p:sp>
        <p:nvSpPr>
          <p:cNvPr id="4" name="Rule"/>
          <p:cNvSpPr/>
          <p:nvPr/>
        </p:nvSpPr>
        <p:spPr>
          <a:xfrm>
            <a:off x="548640" y="6272784"/>
            <a:ext cx="11094415" cy="9525"/>
          </a:xfrm>
          <a:prstGeom prst="rect">
            <a:avLst/>
          </a:prstGeom>
          <a:solidFill>
            <a:srgbClr val="D3D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ource line"/>
          <p:cNvSpPr txBox="1"/>
          <p:nvPr/>
        </p:nvSpPr>
        <p:spPr>
          <a:xfrm>
            <a:off x="548640" y="6327648"/>
            <a:ext cx="1036289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5F6A74"/>
                </a:solidFill>
                <a:latin typeface="Arial"/>
              </a:rPr>
              <a:t>Global run from docs/global.md and results/global_balanced.csv. Boone County jobs from docs/demo_script.md (BLS QCEW private manufacturing). Stage 2 described in docs/industrial_reuse.md.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002975" y="6327648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100" b="0" i="0">
                <a:solidFill>
                  <a:srgbClr val="5F6A74"/>
                </a:solidFill>
                <a:latin typeface="Arial"/>
              </a:rPr>
              <a:t>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799"/>
            <a:ext cx="5318607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196 countries, 83 pass the limits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85999"/>
          <a:ext cx="531860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26767"/>
                <a:gridCol w="1097280"/>
                <a:gridCol w="1280160"/>
              </a:tblGrid>
              <a:tr h="431074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Country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Weak spot</a:t>
                      </a:r>
                    </a:p>
                  </a:txBody>
                  <a:tcPr marL="91440" marR="91440" anchor="ctr">
                    <a:solidFill>
                      <a:srgbClr val="0B3C6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Sweden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81.6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Switzerland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81.1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Norway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80.8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Finland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78.8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Denmark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77.8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518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United States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59.5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518"/>
                          </a:solidFill>
                          <a:latin typeface="Arial"/>
                        </a:rPr>
                        <a:t>climate</a:t>
                      </a:r>
                    </a:p>
                  </a:txBody>
                  <a:tcPr marL="91440" marR="91440" anchor="ctr">
                    <a:solidFill>
                      <a:srgbClr val="F3F5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324447" y="1828799"/>
          <a:ext cx="5318607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4447" y="5074919"/>
            <a:ext cx="5318607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111518"/>
                </a:solidFill>
                <a:latin typeface="Arial"/>
              </a:rPr>
              <a:t>Economic need isn't evidence of community support.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Site engine">
      <a:dk1>
        <a:srgbClr val="111518"/>
      </a:dk1>
      <a:lt1>
        <a:srgbClr val="FFFFFF"/>
      </a:lt1>
      <a:dk2>
        <a:srgbClr val="0B3C6F"/>
      </a:dk2>
      <a:lt2>
        <a:srgbClr val="F3F5F4"/>
      </a:lt2>
      <a:accent1>
        <a:srgbClr val="0B3C6F"/>
      </a:accent1>
      <a:accent2>
        <a:srgbClr val="4F82BD"/>
      </a:accent2>
      <a:accent3>
        <a:srgbClr val="D9532B"/>
      </a:accent3>
      <a:accent4>
        <a:srgbClr val="8E8F8A"/>
      </a:accent4>
      <a:accent5>
        <a:srgbClr val="14758F"/>
      </a:accent5>
      <a:accent6>
        <a:srgbClr val="23804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Sustainable AI data center site selection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